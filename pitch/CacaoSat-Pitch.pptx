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Nous sommes l'équipe CacaoSat. En 5 minutes, comment le spatial peut sécuriser l'accès de milliers de coopératives ivoiriennes au marché européen.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L'Europe impose une preuve géospatiale. La Côte d'Ivoire est n°1 mondial, mais seulement 82 % du cacao était traçable à la parcelle, et près de 30 % des surfaces sont en zone protégée. L'enjeu est énorme, et l'échéance est déjà là.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les petites coopératives qui doivent produire cette preuve, à la main, sans moyens. Si elles échouent, leurs producteurs sont exclus du marché.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L'imagerie satellite nécessaire est déjà publique et gratuite. Le problème n'est pas la donnée globale : c'est le pipeline qui la connecte à chaque parcelle de chaque coopérative. C'est ce pipeline que nous avons construit.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étapes : du relevé terrain hors-ligne, à l'ingestion, au croisement satellite, au scoring, au certificat exportable, jusqu'à l'alerte précoce. Tout est automatisé de bout en bout.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brique : un agent de coopérative, sur le terrain, sans réseau. Il marche autour de la parcelle, la surface s'affiche en direct, et l'app l'alerte si la parcelle touche une aire protégée. Tout part ensuite en un seul lot, sans doublon.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brique : le socle. Les trois sources satellites arrivent dans une base PostGIS unique ; le moteur d'analyse et le scoring y tournent. Tout est open source, containerisé, et prêt à brancher les flux réels.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brique : le croisement satellite. Chaque parcelle reçoit un score sur 100, construit sur cinq facteurs pondérés et affichés avec leur calcul. Ce n'est pas une boîte noire : un exportateur ou un régulateur peut auditer chaque 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Quatrième brique : le tableau de bord. Sur fond satellite, on voit chaque parcelle, son statut, les KPIs de la coopérative et les alertes. C'est un outil digne d'un niveau national, mis entre les mains d'une coopérative.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Cinquième brique : la preuve. La coopérative génère son certificat de conformité : PDF signé par une empreinte cryptographique, export GeoJSON pour les acheteurs. Et le système continue de veiller après la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sur quatre plans : économique, social, environnemental et institutionnel — jusqu'à une base nationale consolidée pour le pilotage des politiques agricoles.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n'est pas un prototype sur papier : c'est un produit testé, containerisé, déployable. Les fournisseurs satellite sont simulés de façon déterministe pour la démo ; l'architecture est prête à brancher les flux réels sans changement de contrat.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Après le hackathon : un pilote réel avec une coopérative volontaire et le Conseil du Café-Cacao, puis un déploiement progressif jusqu'à une base nationale.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CacaoSat n'est pas un projet théorique : c'est une réponse concrète à un défi national. Merci.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6812280" y="502920"/>
            <a:ext cx="4892040" cy="489204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Oval 2"/>
          <p:cNvSpPr/>
          <p:nvPr/>
        </p:nvSpPr>
        <p:spPr>
          <a:xfrm>
            <a:off x="10744200" y="4526280"/>
            <a:ext cx="1554480" cy="155448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 name="Oval 3"/>
          <p:cNvSpPr/>
          <p:nvPr/>
        </p:nvSpPr>
        <p:spPr>
          <a:xfrm>
            <a:off x="6309360" y="5120640"/>
            <a:ext cx="502920" cy="502920"/>
          </a:xfrm>
          <a:prstGeom prst="ellipse">
            <a:avLst/>
          </a:prstGeom>
          <a:no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Oval 4"/>
          <p:cNvSpPr/>
          <p:nvPr/>
        </p:nvSpPr>
        <p:spPr>
          <a:xfrm>
            <a:off x="6812280" y="502920"/>
            <a:ext cx="4892040" cy="489204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Oval 5"/>
          <p:cNvSpPr/>
          <p:nvPr/>
        </p:nvSpPr>
        <p:spPr>
          <a:xfrm>
            <a:off x="10744200" y="4526280"/>
            <a:ext cx="1554480" cy="155448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Oval 6"/>
          <p:cNvSpPr/>
          <p:nvPr/>
        </p:nvSpPr>
        <p:spPr>
          <a:xfrm>
            <a:off x="6309360" y="5120640"/>
            <a:ext cx="502920" cy="502920"/>
          </a:xfrm>
          <a:prstGeom prst="ellipse">
            <a:avLst/>
          </a:prstGeom>
          <a:no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pic>
        <p:nvPicPr>
          <p:cNvPr id="8" name="Picture 7" descr="logo-cacaosat.png"/>
          <p:cNvPicPr>
            <a:picLocks noChangeAspect="1"/>
          </p:cNvPicPr>
          <p:nvPr/>
        </p:nvPicPr>
        <p:blipFill>
          <a:blip r:embed="rId2"/>
          <a:stretch>
            <a:fillRect/>
          </a:stretch>
        </p:blipFill>
        <p:spPr>
          <a:xfrm>
            <a:off x="7543800" y="868680"/>
            <a:ext cx="3429000" cy="3429000"/>
          </a:xfrm>
          <a:prstGeom prst="rect">
            <a:avLst/>
          </a:prstGeom>
        </p:spPr>
      </p:pic>
      <p:sp>
        <p:nvSpPr>
          <p:cNvPr id="9" name="Rounded Rectangle 8"/>
          <p:cNvSpPr/>
          <p:nvPr/>
        </p:nvSpPr>
        <p:spPr>
          <a:xfrm>
            <a:off x="566928" y="1417320"/>
            <a:ext cx="4224528" cy="402336"/>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007A3D"/>
                </a:solidFill>
                <a:latin typeface="Arial"/>
              </a:rPr>
              <a:t>IVOIRE SPACEHACK 2026 · ABIDJAN · AFRICA SPACE EXPO</a:t>
            </a:r>
          </a:p>
        </p:txBody>
      </p:sp>
      <p:sp>
        <p:nvSpPr>
          <p:cNvPr id="10" name="TextBox 9"/>
          <p:cNvSpPr txBox="1"/>
          <p:nvPr/>
        </p:nvSpPr>
        <p:spPr>
          <a:xfrm>
            <a:off x="530352" y="1847088"/>
            <a:ext cx="6583680" cy="1051560"/>
          </a:xfrm>
          <a:prstGeom prst="rect">
            <a:avLst/>
          </a:prstGeom>
          <a:noFill/>
        </p:spPr>
        <p:txBody>
          <a:bodyPr wrap="square" anchor="t" lIns="0" rIns="0" tIns="0" bIns="0">
            <a:spAutoFit/>
          </a:bodyPr>
          <a:lstStyle/>
          <a:p>
            <a:pPr algn="l">
              <a:lnSpc>
                <a:spcPct val="100000"/>
              </a:lnSpc>
            </a:pPr>
            <a:r>
              <a:rPr sz="5800" b="1" i="0">
                <a:solidFill>
                  <a:srgbClr val="FF7A00"/>
                </a:solidFill>
                <a:latin typeface="Arial"/>
              </a:rPr>
              <a:t>Cacao</a:t>
            </a:r>
            <a:r>
              <a:rPr sz="5800" b="1" i="0">
                <a:solidFill>
                  <a:srgbClr val="00A651"/>
                </a:solidFill>
                <a:latin typeface="Arial"/>
              </a:rPr>
              <a:t>Sat</a:t>
            </a:r>
          </a:p>
        </p:txBody>
      </p:sp>
      <p:sp>
        <p:nvSpPr>
          <p:cNvPr id="11" name="Rectangle 10"/>
          <p:cNvSpPr/>
          <p:nvPr/>
        </p:nvSpPr>
        <p:spPr>
          <a:xfrm>
            <a:off x="585216" y="2999232"/>
            <a:ext cx="1051560" cy="6400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Rectangle 11"/>
          <p:cNvSpPr/>
          <p:nvPr/>
        </p:nvSpPr>
        <p:spPr>
          <a:xfrm>
            <a:off x="1636776" y="2999232"/>
            <a:ext cx="1051560" cy="64008"/>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TextBox 12"/>
          <p:cNvSpPr txBox="1"/>
          <p:nvPr/>
        </p:nvSpPr>
        <p:spPr>
          <a:xfrm>
            <a:off x="566928" y="3218688"/>
            <a:ext cx="6309360" cy="868680"/>
          </a:xfrm>
          <a:prstGeom prst="rect">
            <a:avLst/>
          </a:prstGeom>
          <a:noFill/>
        </p:spPr>
        <p:txBody>
          <a:bodyPr wrap="square" anchor="t" lIns="0" rIns="0" tIns="0" bIns="0">
            <a:spAutoFit/>
          </a:bodyPr>
          <a:lstStyle/>
          <a:p>
            <a:pPr algn="l">
              <a:lnSpc>
                <a:spcPct val="112000"/>
              </a:lnSpc>
              <a:spcAft>
                <a:spcPts val="400"/>
              </a:spcAft>
            </a:pPr>
            <a:r>
              <a:rPr sz="1800" b="1" i="0">
                <a:solidFill>
                  <a:srgbClr val="13251C"/>
                </a:solidFill>
                <a:latin typeface="Arial"/>
              </a:rPr>
              <a:t>Traçabilité géospatiale du cacao ivoirien</a:t>
            </a:r>
          </a:p>
          <a:p>
            <a:pPr algn="l">
              <a:lnSpc>
                <a:spcPct val="112000"/>
              </a:lnSpc>
              <a:spcAft>
                <a:spcPts val="400"/>
              </a:spcAft>
            </a:pPr>
            <a:r>
              <a:rPr sz="1250" b="0" i="0">
                <a:solidFill>
                  <a:srgbClr val="3D4A43"/>
                </a:solidFill>
                <a:latin typeface="Arial"/>
              </a:rPr>
              <a:t>Mettre la donnée satellite libre au service des coopératives</a:t>
            </a:r>
          </a:p>
        </p:txBody>
      </p:sp>
      <p:sp>
        <p:nvSpPr>
          <p:cNvPr id="14" name="Rounded Rectangle 13"/>
          <p:cNvSpPr/>
          <p:nvPr/>
        </p:nvSpPr>
        <p:spPr>
          <a:xfrm>
            <a:off x="566928" y="4526280"/>
            <a:ext cx="5989320" cy="1143000"/>
          </a:xfrm>
          <a:prstGeom prst="roundRect">
            <a:avLst>
              <a:gd name="adj" fmla="val 8500"/>
            </a:avLst>
          </a:prstGeom>
          <a:solidFill>
            <a:srgbClr val="F7F9F7"/>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804672" y="4700016"/>
            <a:ext cx="5486400" cy="256032"/>
          </a:xfrm>
          <a:prstGeom prst="rect">
            <a:avLst/>
          </a:prstGeom>
          <a:noFill/>
        </p:spPr>
        <p:txBody>
          <a:bodyPr wrap="square" anchor="t" lIns="0" rIns="0" tIns="0" bIns="0">
            <a:spAutoFit/>
          </a:bodyPr>
          <a:lstStyle/>
          <a:p>
            <a:pPr algn="l">
              <a:lnSpc>
                <a:spcPct val="100000"/>
              </a:lnSpc>
            </a:pPr>
            <a:r>
              <a:rPr sz="900" b="1" i="0" spc="140">
                <a:solidFill>
                  <a:srgbClr val="007A3D"/>
                </a:solidFill>
                <a:latin typeface="Arial"/>
              </a:rPr>
              <a:t>ÉQUIPE CACAOSAT</a:t>
            </a:r>
          </a:p>
        </p:txBody>
      </p:sp>
      <p:sp>
        <p:nvSpPr>
          <p:cNvPr id="16" name="TextBox 15"/>
          <p:cNvSpPr txBox="1"/>
          <p:nvPr/>
        </p:nvSpPr>
        <p:spPr>
          <a:xfrm>
            <a:off x="804672" y="4974336"/>
            <a:ext cx="5486400" cy="320040"/>
          </a:xfrm>
          <a:prstGeom prst="rect">
            <a:avLst/>
          </a:prstGeom>
          <a:noFill/>
        </p:spPr>
        <p:txBody>
          <a:bodyPr wrap="square" anchor="t" lIns="0" rIns="0" tIns="0" bIns="0">
            <a:spAutoFit/>
          </a:bodyPr>
          <a:lstStyle/>
          <a:p>
            <a:pPr algn="l">
              <a:lnSpc>
                <a:spcPct val="100000"/>
              </a:lnSpc>
            </a:pPr>
            <a:r>
              <a:rPr sz="1300" b="1" i="0">
                <a:solidFill>
                  <a:srgbClr val="13251C"/>
                </a:solidFill>
                <a:latin typeface="Arial"/>
              </a:rPr>
              <a:t>Akandji Timothé · Elie Konan · Daniel Guedegbe</a:t>
            </a:r>
          </a:p>
        </p:txBody>
      </p:sp>
      <p:sp>
        <p:nvSpPr>
          <p:cNvPr id="17" name="TextBox 16"/>
          <p:cNvSpPr txBox="1"/>
          <p:nvPr/>
        </p:nvSpPr>
        <p:spPr>
          <a:xfrm>
            <a:off x="804672" y="5303520"/>
            <a:ext cx="548640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Data engineering · Traitement géospatial · Mobile &amp; terrain</a:t>
            </a:r>
          </a:p>
        </p:txBody>
      </p:sp>
      <p:sp>
        <p:nvSpPr>
          <p:cNvPr id="18" name="TextBox 17"/>
          <p:cNvSpPr txBox="1"/>
          <p:nvPr/>
        </p:nvSpPr>
        <p:spPr>
          <a:xfrm>
            <a:off x="566928" y="5989320"/>
            <a:ext cx="7315200" cy="274320"/>
          </a:xfrm>
          <a:prstGeom prst="rect">
            <a:avLst/>
          </a:prstGeom>
          <a:noFill/>
        </p:spPr>
        <p:txBody>
          <a:bodyPr wrap="square" anchor="t" lIns="0" rIns="0" tIns="0" bIns="0">
            <a:spAutoFit/>
          </a:bodyPr>
          <a:lstStyle/>
          <a:p>
            <a:pPr algn="l">
              <a:lnSpc>
                <a:spcPct val="100000"/>
              </a:lnSpc>
            </a:pPr>
            <a:r>
              <a:rPr sz="1000" b="0" i="0">
                <a:solidFill>
                  <a:srgbClr val="6B7A70"/>
                </a:solidFill>
                <a:latin typeface="Arial"/>
              </a:rPr>
              <a:t>github.com/daniel10027/CacaoSat   ·   Abidjan — 24–26 septembre 2026</a:t>
            </a:r>
          </a:p>
        </p:txBody>
      </p:sp>
      <p:sp>
        <p:nvSpPr>
          <p:cNvPr id="19" name="Rectangle 18"/>
          <p:cNvSpPr/>
          <p:nvPr/>
        </p:nvSpPr>
        <p:spPr>
          <a:xfrm>
            <a:off x="0" y="6775704"/>
            <a:ext cx="4063898" cy="8229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63898" y="6775704"/>
            <a:ext cx="4063898" cy="8229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27796" y="6775704"/>
            <a:ext cx="4063898" cy="8229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CONTEXTE</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Le choc réglementaire EUDR</a:t>
            </a:r>
          </a:p>
        </p:txBody>
      </p:sp>
      <p:sp>
        <p:nvSpPr>
          <p:cNvPr id="4" name="TextBox 3"/>
          <p:cNvSpPr txBox="1"/>
          <p:nvPr/>
        </p:nvSpPr>
        <p:spPr>
          <a:xfrm>
            <a:off x="566928" y="1115568"/>
            <a:ext cx="10972800" cy="502920"/>
          </a:xfrm>
          <a:prstGeom prst="rect">
            <a:avLst/>
          </a:prstGeom>
          <a:noFill/>
        </p:spPr>
        <p:txBody>
          <a:bodyPr wrap="square" anchor="t" lIns="0" rIns="0" tIns="0" bIns="0">
            <a:spAutoFit/>
          </a:bodyPr>
          <a:lstStyle/>
          <a:p>
            <a:pPr algn="l">
              <a:lnSpc>
                <a:spcPct val="108000"/>
              </a:lnSpc>
            </a:pPr>
            <a:r>
              <a:rPr sz="1200" b="0" i="0">
                <a:solidFill>
                  <a:srgbClr val="3D4A43"/>
                </a:solidFill>
                <a:latin typeface="Arial"/>
              </a:rPr>
              <a:t>Chaque cargaison exportée vers l'UE doit fournir les coordonnées GPS de chaque parcelle et prouver l'absence de déforestation depuis le 31 décembre 2020.</a:t>
            </a:r>
          </a:p>
        </p:txBody>
      </p:sp>
      <p:sp>
        <p:nvSpPr>
          <p:cNvPr id="5" name="Rounded Rectangle 4"/>
          <p:cNvSpPr/>
          <p:nvPr/>
        </p:nvSpPr>
        <p:spPr>
          <a:xfrm>
            <a:off x="566928" y="1627632"/>
            <a:ext cx="5532120" cy="452628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TextBox 5"/>
          <p:cNvSpPr txBox="1"/>
          <p:nvPr/>
        </p:nvSpPr>
        <p:spPr>
          <a:xfrm>
            <a:off x="841248" y="1810512"/>
            <a:ext cx="4937760" cy="274320"/>
          </a:xfrm>
          <a:prstGeom prst="rect">
            <a:avLst/>
          </a:prstGeom>
          <a:noFill/>
        </p:spPr>
        <p:txBody>
          <a:bodyPr wrap="square" anchor="t" lIns="0" rIns="0" tIns="0" bIns="0">
            <a:spAutoFit/>
          </a:bodyPr>
          <a:lstStyle/>
          <a:p>
            <a:pPr algn="l">
              <a:lnSpc>
                <a:spcPct val="100000"/>
              </a:lnSpc>
            </a:pPr>
            <a:r>
              <a:rPr sz="950" b="1" i="0" spc="120">
                <a:solidFill>
                  <a:srgbClr val="007A3D"/>
                </a:solidFill>
                <a:latin typeface="Arial"/>
              </a:rPr>
              <a:t>L'EXIGENCE, ÉTAPE PAR ÉTAPE</a:t>
            </a:r>
          </a:p>
        </p:txBody>
      </p:sp>
      <p:sp>
        <p:nvSpPr>
          <p:cNvPr id="7" name="Rectangle 6"/>
          <p:cNvSpPr/>
          <p:nvPr/>
        </p:nvSpPr>
        <p:spPr>
          <a:xfrm>
            <a:off x="960120" y="2304288"/>
            <a:ext cx="25603" cy="3337560"/>
          </a:xfrm>
          <a:prstGeom prst="rect">
            <a:avLst/>
          </a:prstGeom>
          <a:solidFill>
            <a:srgbClr val="E3E8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Oval 7"/>
          <p:cNvSpPr/>
          <p:nvPr/>
        </p:nvSpPr>
        <p:spPr>
          <a:xfrm>
            <a:off x="882396" y="2304288"/>
            <a:ext cx="173736" cy="173736"/>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1261872" y="2212848"/>
            <a:ext cx="4663440" cy="777240"/>
          </a:xfrm>
          <a:prstGeom prst="rect">
            <a:avLst/>
          </a:prstGeom>
          <a:noFill/>
        </p:spPr>
        <p:txBody>
          <a:bodyPr wrap="square" anchor="t" lIns="0" rIns="0" tIns="0" bIns="0">
            <a:spAutoFit/>
          </a:bodyPr>
          <a:lstStyle/>
          <a:p>
            <a:pPr algn="l">
              <a:lnSpc>
                <a:spcPct val="105000"/>
              </a:lnSpc>
              <a:spcAft>
                <a:spcPts val="400"/>
              </a:spcAft>
            </a:pPr>
            <a:r>
              <a:rPr sz="1200" b="1" i="0">
                <a:solidFill>
                  <a:srgbClr val="13251C"/>
                </a:solidFill>
                <a:latin typeface="Arial"/>
              </a:rPr>
              <a:t>31 déc. 2020</a:t>
            </a:r>
          </a:p>
          <a:p>
            <a:pPr algn="l">
              <a:lnSpc>
                <a:spcPct val="105000"/>
              </a:lnSpc>
              <a:spcAft>
                <a:spcPts val="400"/>
              </a:spcAft>
            </a:pPr>
            <a:r>
              <a:rPr sz="1000" b="0" i="0">
                <a:solidFill>
                  <a:srgbClr val="3D4A43"/>
                </a:solidFill>
                <a:latin typeface="Arial"/>
              </a:rPr>
              <a:t>Date de référence : aucune déforestation après cette date</a:t>
            </a:r>
          </a:p>
        </p:txBody>
      </p:sp>
      <p:sp>
        <p:nvSpPr>
          <p:cNvPr id="10" name="Oval 9"/>
          <p:cNvSpPr/>
          <p:nvPr/>
        </p:nvSpPr>
        <p:spPr>
          <a:xfrm>
            <a:off x="882396" y="3163824"/>
            <a:ext cx="173736" cy="173736"/>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TextBox 10"/>
          <p:cNvSpPr txBox="1"/>
          <p:nvPr/>
        </p:nvSpPr>
        <p:spPr>
          <a:xfrm>
            <a:off x="1261872" y="3072384"/>
            <a:ext cx="4663440" cy="777240"/>
          </a:xfrm>
          <a:prstGeom prst="rect">
            <a:avLst/>
          </a:prstGeom>
          <a:noFill/>
        </p:spPr>
        <p:txBody>
          <a:bodyPr wrap="square" anchor="t" lIns="0" rIns="0" tIns="0" bIns="0">
            <a:spAutoFit/>
          </a:bodyPr>
          <a:lstStyle/>
          <a:p>
            <a:pPr algn="l">
              <a:lnSpc>
                <a:spcPct val="105000"/>
              </a:lnSpc>
              <a:spcAft>
                <a:spcPts val="400"/>
              </a:spcAft>
            </a:pPr>
            <a:r>
              <a:rPr sz="1200" b="1" i="0">
                <a:solidFill>
                  <a:srgbClr val="13251C"/>
                </a:solidFill>
                <a:latin typeface="Arial"/>
              </a:rPr>
              <a:t>Fin 2024</a:t>
            </a:r>
          </a:p>
          <a:p>
            <a:pPr algn="l">
              <a:lnSpc>
                <a:spcPct val="105000"/>
              </a:lnSpc>
              <a:spcAft>
                <a:spcPts val="400"/>
              </a:spcAft>
            </a:pPr>
            <a:r>
              <a:rPr sz="1000" b="0" i="0">
                <a:solidFill>
                  <a:srgbClr val="3D4A43"/>
                </a:solidFill>
                <a:latin typeface="Arial"/>
              </a:rPr>
              <a:t>EUDR entre en vigueur — preuve géospatiale obligatoire</a:t>
            </a:r>
          </a:p>
        </p:txBody>
      </p:sp>
      <p:sp>
        <p:nvSpPr>
          <p:cNvPr id="12" name="Oval 11"/>
          <p:cNvSpPr/>
          <p:nvPr/>
        </p:nvSpPr>
        <p:spPr>
          <a:xfrm>
            <a:off x="882396" y="4023359"/>
            <a:ext cx="173736" cy="173736"/>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TextBox 12"/>
          <p:cNvSpPr txBox="1"/>
          <p:nvPr/>
        </p:nvSpPr>
        <p:spPr>
          <a:xfrm>
            <a:off x="1261872" y="3931920"/>
            <a:ext cx="4663440" cy="777240"/>
          </a:xfrm>
          <a:prstGeom prst="rect">
            <a:avLst/>
          </a:prstGeom>
          <a:noFill/>
        </p:spPr>
        <p:txBody>
          <a:bodyPr wrap="square" anchor="t" lIns="0" rIns="0" tIns="0" bIns="0">
            <a:spAutoFit/>
          </a:bodyPr>
          <a:lstStyle/>
          <a:p>
            <a:pPr algn="l">
              <a:lnSpc>
                <a:spcPct val="105000"/>
              </a:lnSpc>
              <a:spcAft>
                <a:spcPts val="400"/>
              </a:spcAft>
            </a:pPr>
            <a:r>
              <a:rPr sz="1200" b="1" i="0">
                <a:solidFill>
                  <a:srgbClr val="13251C"/>
                </a:solidFill>
                <a:latin typeface="Arial"/>
              </a:rPr>
              <a:t>2025</a:t>
            </a:r>
          </a:p>
          <a:p>
            <a:pPr algn="l">
              <a:lnSpc>
                <a:spcPct val="105000"/>
              </a:lnSpc>
              <a:spcAft>
                <a:spcPts val="400"/>
              </a:spcAft>
            </a:pPr>
            <a:r>
              <a:rPr sz="1000" b="0" i="0">
                <a:solidFill>
                  <a:srgbClr val="3D4A43"/>
                </a:solidFill>
                <a:latin typeface="Arial"/>
              </a:rPr>
              <a:t>Application stricte : contrôles, sanctions, exclusion possible</a:t>
            </a:r>
          </a:p>
        </p:txBody>
      </p:sp>
      <p:sp>
        <p:nvSpPr>
          <p:cNvPr id="14" name="Oval 13"/>
          <p:cNvSpPr/>
          <p:nvPr/>
        </p:nvSpPr>
        <p:spPr>
          <a:xfrm>
            <a:off x="882396" y="4882896"/>
            <a:ext cx="173736" cy="173736"/>
          </a:xfrm>
          <a:prstGeom prst="ellipse">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1261872" y="4791456"/>
            <a:ext cx="4663440" cy="777240"/>
          </a:xfrm>
          <a:prstGeom prst="rect">
            <a:avLst/>
          </a:prstGeom>
          <a:noFill/>
        </p:spPr>
        <p:txBody>
          <a:bodyPr wrap="square" anchor="t" lIns="0" rIns="0" tIns="0" bIns="0">
            <a:spAutoFit/>
          </a:bodyPr>
          <a:lstStyle/>
          <a:p>
            <a:pPr algn="l">
              <a:lnSpc>
                <a:spcPct val="105000"/>
              </a:lnSpc>
              <a:spcAft>
                <a:spcPts val="400"/>
              </a:spcAft>
            </a:pPr>
            <a:r>
              <a:rPr sz="1200" b="1" i="0">
                <a:solidFill>
                  <a:srgbClr val="13251C"/>
                </a:solidFill>
                <a:latin typeface="Arial"/>
              </a:rPr>
              <a:t>Aujourd'hui</a:t>
            </a:r>
          </a:p>
          <a:p>
            <a:pPr algn="l">
              <a:lnSpc>
                <a:spcPct val="105000"/>
              </a:lnSpc>
              <a:spcAft>
                <a:spcPts val="400"/>
              </a:spcAft>
            </a:pPr>
            <a:r>
              <a:rPr sz="1000" b="0" i="0">
                <a:solidFill>
                  <a:srgbClr val="3D4A43"/>
                </a:solidFill>
                <a:latin typeface="Arial"/>
              </a:rPr>
              <a:t>Chaque export : coordonnées GPS + preuve, parcelle par parcelle</a:t>
            </a:r>
          </a:p>
        </p:txBody>
      </p:sp>
      <p:sp>
        <p:nvSpPr>
          <p:cNvPr id="16" name="Rounded Rectangle 15"/>
          <p:cNvSpPr/>
          <p:nvPr/>
        </p:nvSpPr>
        <p:spPr>
          <a:xfrm>
            <a:off x="6400800" y="1627632"/>
            <a:ext cx="2578608" cy="2084831"/>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Rectangle 16"/>
          <p:cNvSpPr/>
          <p:nvPr/>
        </p:nvSpPr>
        <p:spPr>
          <a:xfrm>
            <a:off x="6656832" y="1901952"/>
            <a:ext cx="384048" cy="6400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6656832" y="2103120"/>
            <a:ext cx="2121408" cy="685800"/>
          </a:xfrm>
          <a:prstGeom prst="rect">
            <a:avLst/>
          </a:prstGeom>
          <a:noFill/>
        </p:spPr>
        <p:txBody>
          <a:bodyPr wrap="square" anchor="t" lIns="0" rIns="0" tIns="0" bIns="0">
            <a:spAutoFit/>
          </a:bodyPr>
          <a:lstStyle/>
          <a:p>
            <a:pPr algn="l">
              <a:lnSpc>
                <a:spcPct val="100000"/>
              </a:lnSpc>
            </a:pPr>
            <a:r>
              <a:rPr sz="3000" b="1" i="0">
                <a:solidFill>
                  <a:srgbClr val="FF7A00"/>
                </a:solidFill>
                <a:latin typeface="Arial"/>
              </a:rPr>
              <a:t>N°1</a:t>
            </a:r>
          </a:p>
        </p:txBody>
      </p:sp>
      <p:sp>
        <p:nvSpPr>
          <p:cNvPr id="19" name="TextBox 18"/>
          <p:cNvSpPr txBox="1"/>
          <p:nvPr/>
        </p:nvSpPr>
        <p:spPr>
          <a:xfrm>
            <a:off x="6656832" y="2999232"/>
            <a:ext cx="2103120" cy="594360"/>
          </a:xfrm>
          <a:prstGeom prst="rect">
            <a:avLst/>
          </a:prstGeom>
          <a:noFill/>
        </p:spPr>
        <p:txBody>
          <a:bodyPr wrap="square" anchor="t" lIns="0" rIns="0" tIns="0" bIns="0">
            <a:spAutoFit/>
          </a:bodyPr>
          <a:lstStyle/>
          <a:p>
            <a:pPr algn="l">
              <a:lnSpc>
                <a:spcPct val="110000"/>
              </a:lnSpc>
            </a:pPr>
            <a:r>
              <a:rPr sz="1100" b="0" i="0">
                <a:solidFill>
                  <a:srgbClr val="3D4A43"/>
                </a:solidFill>
                <a:latin typeface="Arial"/>
              </a:rPr>
              <a:t>producteur mondial de cacao</a:t>
            </a:r>
          </a:p>
        </p:txBody>
      </p:sp>
      <p:sp>
        <p:nvSpPr>
          <p:cNvPr id="20" name="Rounded Rectangle 19"/>
          <p:cNvSpPr/>
          <p:nvPr/>
        </p:nvSpPr>
        <p:spPr>
          <a:xfrm>
            <a:off x="9235440" y="1627632"/>
            <a:ext cx="2578608" cy="2084831"/>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Rectangle 20"/>
          <p:cNvSpPr/>
          <p:nvPr/>
        </p:nvSpPr>
        <p:spPr>
          <a:xfrm>
            <a:off x="9491472" y="1901952"/>
            <a:ext cx="384048" cy="64008"/>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TextBox 21"/>
          <p:cNvSpPr txBox="1"/>
          <p:nvPr/>
        </p:nvSpPr>
        <p:spPr>
          <a:xfrm>
            <a:off x="9491472" y="2103120"/>
            <a:ext cx="2121408" cy="685800"/>
          </a:xfrm>
          <a:prstGeom prst="rect">
            <a:avLst/>
          </a:prstGeom>
          <a:noFill/>
        </p:spPr>
        <p:txBody>
          <a:bodyPr wrap="square" anchor="t" lIns="0" rIns="0" tIns="0" bIns="0">
            <a:spAutoFit/>
          </a:bodyPr>
          <a:lstStyle/>
          <a:p>
            <a:pPr algn="l">
              <a:lnSpc>
                <a:spcPct val="100000"/>
              </a:lnSpc>
            </a:pPr>
            <a:r>
              <a:rPr sz="3000" b="1" i="0">
                <a:solidFill>
                  <a:srgbClr val="00A651"/>
                </a:solidFill>
                <a:latin typeface="Arial"/>
              </a:rPr>
              <a:t>82 %</a:t>
            </a:r>
          </a:p>
        </p:txBody>
      </p:sp>
      <p:sp>
        <p:nvSpPr>
          <p:cNvPr id="23" name="TextBox 22"/>
          <p:cNvSpPr txBox="1"/>
          <p:nvPr/>
        </p:nvSpPr>
        <p:spPr>
          <a:xfrm>
            <a:off x="9491472" y="2999232"/>
            <a:ext cx="2103120" cy="594360"/>
          </a:xfrm>
          <a:prstGeom prst="rect">
            <a:avLst/>
          </a:prstGeom>
          <a:noFill/>
        </p:spPr>
        <p:txBody>
          <a:bodyPr wrap="square" anchor="t" lIns="0" rIns="0" tIns="0" bIns="0">
            <a:spAutoFit/>
          </a:bodyPr>
          <a:lstStyle/>
          <a:p>
            <a:pPr algn="l">
              <a:lnSpc>
                <a:spcPct val="110000"/>
              </a:lnSpc>
            </a:pPr>
            <a:r>
              <a:rPr sz="1100" b="0" i="0">
                <a:solidFill>
                  <a:srgbClr val="3D4A43"/>
                </a:solidFill>
                <a:latin typeface="Arial"/>
              </a:rPr>
              <a:t>traçable à la parcelle en 2023</a:t>
            </a:r>
          </a:p>
        </p:txBody>
      </p:sp>
      <p:sp>
        <p:nvSpPr>
          <p:cNvPr id="24" name="Rounded Rectangle 23"/>
          <p:cNvSpPr/>
          <p:nvPr/>
        </p:nvSpPr>
        <p:spPr>
          <a:xfrm>
            <a:off x="6400800" y="3968496"/>
            <a:ext cx="2578608" cy="2084831"/>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Rectangle 24"/>
          <p:cNvSpPr/>
          <p:nvPr/>
        </p:nvSpPr>
        <p:spPr>
          <a:xfrm>
            <a:off x="6656832" y="4242816"/>
            <a:ext cx="384048" cy="6400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6" name="TextBox 25"/>
          <p:cNvSpPr txBox="1"/>
          <p:nvPr/>
        </p:nvSpPr>
        <p:spPr>
          <a:xfrm>
            <a:off x="6656832" y="4443983"/>
            <a:ext cx="2121408" cy="685800"/>
          </a:xfrm>
          <a:prstGeom prst="rect">
            <a:avLst/>
          </a:prstGeom>
          <a:noFill/>
        </p:spPr>
        <p:txBody>
          <a:bodyPr wrap="square" anchor="t" lIns="0" rIns="0" tIns="0" bIns="0">
            <a:spAutoFit/>
          </a:bodyPr>
          <a:lstStyle/>
          <a:p>
            <a:pPr algn="l">
              <a:lnSpc>
                <a:spcPct val="100000"/>
              </a:lnSpc>
            </a:pPr>
            <a:r>
              <a:rPr sz="3000" b="1" i="0">
                <a:solidFill>
                  <a:srgbClr val="FF7A00"/>
                </a:solidFill>
                <a:latin typeface="Arial"/>
              </a:rPr>
              <a:t>~30 %</a:t>
            </a:r>
          </a:p>
        </p:txBody>
      </p:sp>
      <p:sp>
        <p:nvSpPr>
          <p:cNvPr id="27" name="TextBox 26"/>
          <p:cNvSpPr txBox="1"/>
          <p:nvPr/>
        </p:nvSpPr>
        <p:spPr>
          <a:xfrm>
            <a:off x="6656832" y="5340096"/>
            <a:ext cx="2103120" cy="594360"/>
          </a:xfrm>
          <a:prstGeom prst="rect">
            <a:avLst/>
          </a:prstGeom>
          <a:noFill/>
        </p:spPr>
        <p:txBody>
          <a:bodyPr wrap="square" anchor="t" lIns="0" rIns="0" tIns="0" bIns="0">
            <a:spAutoFit/>
          </a:bodyPr>
          <a:lstStyle/>
          <a:p>
            <a:pPr algn="l">
              <a:lnSpc>
                <a:spcPct val="110000"/>
              </a:lnSpc>
            </a:pPr>
            <a:r>
              <a:rPr sz="1100" b="0" i="0">
                <a:solidFill>
                  <a:srgbClr val="3D4A43"/>
                </a:solidFill>
                <a:latin typeface="Arial"/>
              </a:rPr>
              <a:t>de la surface en zone protégée</a:t>
            </a:r>
          </a:p>
        </p:txBody>
      </p:sp>
      <p:sp>
        <p:nvSpPr>
          <p:cNvPr id="28" name="Rounded Rectangle 27"/>
          <p:cNvSpPr/>
          <p:nvPr/>
        </p:nvSpPr>
        <p:spPr>
          <a:xfrm>
            <a:off x="9235440" y="3968496"/>
            <a:ext cx="2578608" cy="2084831"/>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Rectangle 28"/>
          <p:cNvSpPr/>
          <p:nvPr/>
        </p:nvSpPr>
        <p:spPr>
          <a:xfrm>
            <a:off x="9491472" y="4242816"/>
            <a:ext cx="384048" cy="64008"/>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0" name="TextBox 29"/>
          <p:cNvSpPr txBox="1"/>
          <p:nvPr/>
        </p:nvSpPr>
        <p:spPr>
          <a:xfrm>
            <a:off x="9491472" y="4443983"/>
            <a:ext cx="2121408" cy="685800"/>
          </a:xfrm>
          <a:prstGeom prst="rect">
            <a:avLst/>
          </a:prstGeom>
          <a:noFill/>
        </p:spPr>
        <p:txBody>
          <a:bodyPr wrap="square" anchor="t" lIns="0" rIns="0" tIns="0" bIns="0">
            <a:spAutoFit/>
          </a:bodyPr>
          <a:lstStyle/>
          <a:p>
            <a:pPr algn="l">
              <a:lnSpc>
                <a:spcPct val="100000"/>
              </a:lnSpc>
            </a:pPr>
            <a:r>
              <a:rPr sz="3000" b="1" i="0">
                <a:solidFill>
                  <a:srgbClr val="007A3D"/>
                </a:solidFill>
                <a:latin typeface="Arial"/>
              </a:rPr>
              <a:t>2 M+</a:t>
            </a:r>
          </a:p>
        </p:txBody>
      </p:sp>
      <p:sp>
        <p:nvSpPr>
          <p:cNvPr id="31" name="TextBox 30"/>
          <p:cNvSpPr txBox="1"/>
          <p:nvPr/>
        </p:nvSpPr>
        <p:spPr>
          <a:xfrm>
            <a:off x="9491472" y="5340096"/>
            <a:ext cx="2103120" cy="594360"/>
          </a:xfrm>
          <a:prstGeom prst="rect">
            <a:avLst/>
          </a:prstGeom>
          <a:noFill/>
        </p:spPr>
        <p:txBody>
          <a:bodyPr wrap="square" anchor="t" lIns="0" rIns="0" tIns="0" bIns="0">
            <a:spAutoFit/>
          </a:bodyPr>
          <a:lstStyle/>
          <a:p>
            <a:pPr algn="l">
              <a:lnSpc>
                <a:spcPct val="110000"/>
              </a:lnSpc>
            </a:pPr>
            <a:r>
              <a:rPr sz="1100" b="0" i="0">
                <a:solidFill>
                  <a:srgbClr val="3D4A43"/>
                </a:solidFill>
                <a:latin typeface="Arial"/>
              </a:rPr>
              <a:t>foyers dépendant de la filière</a:t>
            </a:r>
          </a:p>
        </p:txBody>
      </p:sp>
      <p:sp>
        <p:nvSpPr>
          <p:cNvPr id="32" name="Rectangle 31"/>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36" name="TextBox 35"/>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01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9" fill="hold">
                      <p:stCondLst>
                        <p:cond delay="indefinite"/>
                      </p:stCondLst>
                      <p:childTnLst>
                        <p:par>
                          <p:cTn id="10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380"/>
                                        <p:tgtEl>
                                          <p:spTgt spid="25"/>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380"/>
                                        <p:tgtEl>
                                          <p:spTgt spid="26"/>
                                        </p:tgtEl>
                                      </p:cBhvr>
                                    </p:animEffect>
                                  </p:childTnLst>
                                </p:cTn>
                              </p:par>
                              <p:par>
                                <p:cTn id="78" presetID="10" presetClass="entr" presetSubtype="0" fill="hold" grpId="0" nodeType="afterEffect">
                                  <p:stCondLst>
                                    <p:cond delay="13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380"/>
                                        <p:tgtEl>
                                          <p:spTgt spid="27"/>
                                        </p:tgtEl>
                                      </p:cBhvr>
                                    </p:animEffect>
                                  </p:childTnLst>
                                </p:cTn>
                              </p:par>
                              <p:par>
                                <p:cTn id="81" presetID="10" presetClass="entr" presetSubtype="0" fill="hold" grpId="0" nodeType="afterEffect">
                                  <p:stCondLst>
                                    <p:cond delay="13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80"/>
                                        <p:tgtEl>
                                          <p:spTgt spid="28"/>
                                        </p:tgtEl>
                                      </p:cBhvr>
                                    </p:animEffect>
                                  </p:childTnLst>
                                </p:cTn>
                              </p:par>
                              <p:par>
                                <p:cTn id="84" presetID="10" presetClass="entr" presetSubtype="0" fill="hold" grpId="0" nodeType="afterEffect">
                                  <p:stCondLst>
                                    <p:cond delay="13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380"/>
                                        <p:tgtEl>
                                          <p:spTgt spid="29"/>
                                        </p:tgtEl>
                                      </p:cBhvr>
                                    </p:animEffect>
                                  </p:childTnLst>
                                </p:cTn>
                              </p:par>
                              <p:par>
                                <p:cTn id="87" presetID="10" presetClass="entr" presetSubtype="0" fill="hold" grpId="0" nodeType="afterEffect">
                                  <p:stCondLst>
                                    <p:cond delay="13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380"/>
                                        <p:tgtEl>
                                          <p:spTgt spid="30"/>
                                        </p:tgtEl>
                                      </p:cBhvr>
                                    </p:animEffect>
                                  </p:childTnLst>
                                </p:cTn>
                              </p:par>
                              <p:par>
                                <p:cTn id="90" presetID="10" presetClass="entr" presetSubtype="0" fill="hold" grpId="0" nodeType="afterEffect">
                                  <p:stCondLst>
                                    <p:cond delay="13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380"/>
                                        <p:tgtEl>
                                          <p:spTgt spid="31"/>
                                        </p:tgtEl>
                                      </p:cBhvr>
                                    </p:animEffect>
                                  </p:childTnLst>
                                </p:cTn>
                              </p:par>
                              <p:par>
                                <p:cTn id="93" presetID="10" presetClass="entr" presetSubtype="0" fill="hold" grpId="0" nodeType="afterEffect">
                                  <p:stCondLst>
                                    <p:cond delay="13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80"/>
                                        <p:tgtEl>
                                          <p:spTgt spid="35"/>
                                        </p:tgtEl>
                                      </p:cBhvr>
                                    </p:animEffect>
                                  </p:childTnLst>
                                </p:cTn>
                              </p:par>
                              <p:par>
                                <p:cTn id="96" presetID="10" presetClass="entr" presetSubtype="0" fill="hold" grpId="0" nodeType="afterEffect">
                                  <p:stCondLst>
                                    <p:cond delay="13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8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PROBLÈME</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Qui porte le poids ? Les petites coopératives.</a:t>
            </a:r>
          </a:p>
        </p:txBody>
      </p:sp>
      <p:sp>
        <p:nvSpPr>
          <p:cNvPr id="4" name="Rounded Rectangle 3"/>
          <p:cNvSpPr/>
          <p:nvPr/>
        </p:nvSpPr>
        <p:spPr>
          <a:xfrm>
            <a:off x="566928" y="1645920"/>
            <a:ext cx="3429000" cy="1874519"/>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TextBox 4"/>
          <p:cNvSpPr txBox="1"/>
          <p:nvPr/>
        </p:nvSpPr>
        <p:spPr>
          <a:xfrm>
            <a:off x="804672" y="1828800"/>
            <a:ext cx="2971800" cy="256032"/>
          </a:xfrm>
          <a:prstGeom prst="rect">
            <a:avLst/>
          </a:prstGeom>
          <a:noFill/>
        </p:spPr>
        <p:txBody>
          <a:bodyPr wrap="square" anchor="t" lIns="0" rIns="0" tIns="0" bIns="0">
            <a:spAutoFit/>
          </a:bodyPr>
          <a:lstStyle/>
          <a:p>
            <a:pPr algn="l">
              <a:lnSpc>
                <a:spcPct val="100000"/>
              </a:lnSpc>
            </a:pPr>
            <a:r>
              <a:rPr sz="900" b="1" i="0" spc="120">
                <a:solidFill>
                  <a:srgbClr val="007A3D"/>
                </a:solidFill>
                <a:latin typeface="Arial"/>
              </a:rPr>
              <a:t>L'UE EXIGE</a:t>
            </a:r>
          </a:p>
        </p:txBody>
      </p:sp>
      <p:sp>
        <p:nvSpPr>
          <p:cNvPr id="6" name="TextBox 5"/>
          <p:cNvSpPr txBox="1"/>
          <p:nvPr/>
        </p:nvSpPr>
        <p:spPr>
          <a:xfrm>
            <a:off x="804672" y="2103120"/>
            <a:ext cx="2971800" cy="566928"/>
          </a:xfrm>
          <a:prstGeom prst="rect">
            <a:avLst/>
          </a:prstGeom>
          <a:noFill/>
        </p:spPr>
        <p:txBody>
          <a:bodyPr wrap="square" anchor="t" lIns="0" rIns="0" tIns="0" bIns="0">
            <a:spAutoFit/>
          </a:bodyPr>
          <a:lstStyle/>
          <a:p>
            <a:pPr algn="l">
              <a:lnSpc>
                <a:spcPct val="105000"/>
              </a:lnSpc>
            </a:pPr>
            <a:r>
              <a:rPr sz="1350" b="1" i="0">
                <a:solidFill>
                  <a:srgbClr val="13251C"/>
                </a:solidFill>
                <a:latin typeface="Arial"/>
              </a:rPr>
              <a:t>Une preuve géospatiale par parcelle</a:t>
            </a:r>
          </a:p>
        </p:txBody>
      </p:sp>
      <p:sp>
        <p:nvSpPr>
          <p:cNvPr id="7" name="TextBox 6"/>
          <p:cNvSpPr txBox="1"/>
          <p:nvPr/>
        </p:nvSpPr>
        <p:spPr>
          <a:xfrm>
            <a:off x="804672" y="2761488"/>
            <a:ext cx="2971800" cy="64008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Coordonnées GPS + absence de déforestation post-2020, pour chaque cargaison.</a:t>
            </a:r>
          </a:p>
        </p:txBody>
      </p:sp>
      <p:sp>
        <p:nvSpPr>
          <p:cNvPr id="8" name="Rounded Rectangle 7"/>
          <p:cNvSpPr/>
          <p:nvPr/>
        </p:nvSpPr>
        <p:spPr>
          <a:xfrm>
            <a:off x="4379976" y="1645920"/>
            <a:ext cx="3429000" cy="1874519"/>
          </a:xfrm>
          <a:prstGeom prst="roundRect">
            <a:avLst>
              <a:gd name="adj" fmla="val 8500"/>
            </a:avLst>
          </a:prstGeom>
          <a:solidFill>
            <a:srgbClr val="FFF1E1"/>
          </a:solidFill>
          <a:ln w="9525">
            <a:solidFill>
              <a:srgbClr val="FF7A00"/>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4617720" y="1828800"/>
            <a:ext cx="2971800" cy="256032"/>
          </a:xfrm>
          <a:prstGeom prst="rect">
            <a:avLst/>
          </a:prstGeom>
          <a:noFill/>
        </p:spPr>
        <p:txBody>
          <a:bodyPr wrap="square" anchor="t" lIns="0" rIns="0" tIns="0" bIns="0">
            <a:spAutoFit/>
          </a:bodyPr>
          <a:lstStyle/>
          <a:p>
            <a:pPr algn="l">
              <a:lnSpc>
                <a:spcPct val="100000"/>
              </a:lnSpc>
            </a:pPr>
            <a:r>
              <a:rPr sz="900" b="1" i="0" spc="120">
                <a:solidFill>
                  <a:srgbClr val="D95E00"/>
                </a:solidFill>
                <a:latin typeface="Arial"/>
              </a:rPr>
              <a:t>LA RÉALITÉ TERRAIN</a:t>
            </a:r>
          </a:p>
        </p:txBody>
      </p:sp>
      <p:sp>
        <p:nvSpPr>
          <p:cNvPr id="10" name="TextBox 9"/>
          <p:cNvSpPr txBox="1"/>
          <p:nvPr/>
        </p:nvSpPr>
        <p:spPr>
          <a:xfrm>
            <a:off x="4617720" y="2103120"/>
            <a:ext cx="2971800" cy="566928"/>
          </a:xfrm>
          <a:prstGeom prst="rect">
            <a:avLst/>
          </a:prstGeom>
          <a:noFill/>
        </p:spPr>
        <p:txBody>
          <a:bodyPr wrap="square" anchor="t" lIns="0" rIns="0" tIns="0" bIns="0">
            <a:spAutoFit/>
          </a:bodyPr>
          <a:lstStyle/>
          <a:p>
            <a:pPr algn="l">
              <a:lnSpc>
                <a:spcPct val="105000"/>
              </a:lnSpc>
            </a:pPr>
            <a:r>
              <a:rPr sz="1350" b="1" i="0">
                <a:solidFill>
                  <a:srgbClr val="13251C"/>
                </a:solidFill>
                <a:latin typeface="Arial"/>
              </a:rPr>
              <a:t>Des milliers de parcelles à cartographier… à la main</a:t>
            </a:r>
          </a:p>
        </p:txBody>
      </p:sp>
      <p:sp>
        <p:nvSpPr>
          <p:cNvPr id="11" name="TextBox 10"/>
          <p:cNvSpPr txBox="1"/>
          <p:nvPr/>
        </p:nvSpPr>
        <p:spPr>
          <a:xfrm>
            <a:off x="4617720" y="2761488"/>
            <a:ext cx="2971800" cy="64008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Sans outil numérique, sans expertise juridique, avec un papier et un crayon.</a:t>
            </a:r>
          </a:p>
        </p:txBody>
      </p:sp>
      <p:sp>
        <p:nvSpPr>
          <p:cNvPr id="12" name="Rounded Rectangle 11"/>
          <p:cNvSpPr/>
          <p:nvPr/>
        </p:nvSpPr>
        <p:spPr>
          <a:xfrm>
            <a:off x="8193024" y="1645920"/>
            <a:ext cx="3429000" cy="1874519"/>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TextBox 12"/>
          <p:cNvSpPr txBox="1"/>
          <p:nvPr/>
        </p:nvSpPr>
        <p:spPr>
          <a:xfrm>
            <a:off x="8430768" y="1828800"/>
            <a:ext cx="2971800" cy="256032"/>
          </a:xfrm>
          <a:prstGeom prst="rect">
            <a:avLst/>
          </a:prstGeom>
          <a:noFill/>
        </p:spPr>
        <p:txBody>
          <a:bodyPr wrap="square" anchor="t" lIns="0" rIns="0" tIns="0" bIns="0">
            <a:spAutoFit/>
          </a:bodyPr>
          <a:lstStyle/>
          <a:p>
            <a:pPr algn="l">
              <a:lnSpc>
                <a:spcPct val="100000"/>
              </a:lnSpc>
            </a:pPr>
            <a:r>
              <a:rPr sz="900" b="1" i="0" spc="120">
                <a:solidFill>
                  <a:srgbClr val="D9482B"/>
                </a:solidFill>
                <a:latin typeface="Arial"/>
              </a:rPr>
              <a:t>LA CONSÉQUENCE</a:t>
            </a:r>
          </a:p>
        </p:txBody>
      </p:sp>
      <p:sp>
        <p:nvSpPr>
          <p:cNvPr id="14" name="TextBox 13"/>
          <p:cNvSpPr txBox="1"/>
          <p:nvPr/>
        </p:nvSpPr>
        <p:spPr>
          <a:xfrm>
            <a:off x="8430768" y="2103120"/>
            <a:ext cx="2971800" cy="566928"/>
          </a:xfrm>
          <a:prstGeom prst="rect">
            <a:avLst/>
          </a:prstGeom>
          <a:noFill/>
        </p:spPr>
        <p:txBody>
          <a:bodyPr wrap="square" anchor="t" lIns="0" rIns="0" tIns="0" bIns="0">
            <a:spAutoFit/>
          </a:bodyPr>
          <a:lstStyle/>
          <a:p>
            <a:pPr algn="l">
              <a:lnSpc>
                <a:spcPct val="105000"/>
              </a:lnSpc>
            </a:pPr>
            <a:r>
              <a:rPr sz="1350" b="1" i="0">
                <a:solidFill>
                  <a:srgbClr val="13251C"/>
                </a:solidFill>
                <a:latin typeface="Arial"/>
              </a:rPr>
              <a:t>Exclusion du marché européen</a:t>
            </a:r>
          </a:p>
        </p:txBody>
      </p:sp>
      <p:sp>
        <p:nvSpPr>
          <p:cNvPr id="15" name="TextBox 14"/>
          <p:cNvSpPr txBox="1"/>
          <p:nvPr/>
        </p:nvSpPr>
        <p:spPr>
          <a:xfrm>
            <a:off x="8430768" y="2761488"/>
            <a:ext cx="2971800" cy="64008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Des milliers de foyers perdent leur débouché principal faute de dossier.</a:t>
            </a:r>
          </a:p>
        </p:txBody>
      </p:sp>
      <p:sp>
        <p:nvSpPr>
          <p:cNvPr id="16" name="Right Arrow 15"/>
          <p:cNvSpPr/>
          <p:nvPr/>
        </p:nvSpPr>
        <p:spPr>
          <a:xfrm>
            <a:off x="4041648" y="2395728"/>
            <a:ext cx="292608" cy="365760"/>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Right Arrow 16"/>
          <p:cNvSpPr/>
          <p:nvPr/>
        </p:nvSpPr>
        <p:spPr>
          <a:xfrm>
            <a:off x="7854696" y="2395728"/>
            <a:ext cx="292608" cy="365760"/>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Rounded Rectangle 17"/>
          <p:cNvSpPr/>
          <p:nvPr/>
        </p:nvSpPr>
        <p:spPr>
          <a:xfrm>
            <a:off x="566928" y="3913632"/>
            <a:ext cx="11064240" cy="1005840"/>
          </a:xfrm>
          <a:prstGeom prst="roundRect">
            <a:avLst>
              <a:gd name="adj" fmla="val 8500"/>
            </a:avLst>
          </a:prstGeom>
          <a:solidFill>
            <a:srgbClr val="E2F4E9"/>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TextBox 18"/>
          <p:cNvSpPr txBox="1"/>
          <p:nvPr/>
        </p:nvSpPr>
        <p:spPr>
          <a:xfrm>
            <a:off x="914400" y="4087368"/>
            <a:ext cx="10424160" cy="411480"/>
          </a:xfrm>
          <a:prstGeom prst="rect">
            <a:avLst/>
          </a:prstGeom>
          <a:noFill/>
        </p:spPr>
        <p:txBody>
          <a:bodyPr wrap="square" anchor="t" lIns="0" rIns="0" tIns="0" bIns="0">
            <a:spAutoFit/>
          </a:bodyPr>
          <a:lstStyle/>
          <a:p>
            <a:pPr algn="l">
              <a:lnSpc>
                <a:spcPct val="100000"/>
              </a:lnSpc>
            </a:pPr>
            <a:r>
              <a:rPr sz="1500" b="1" i="0">
                <a:solidFill>
                  <a:srgbClr val="13251C"/>
                </a:solidFill>
                <a:latin typeface="Arial"/>
              </a:rPr>
              <a:t>Une charge disproportionnée pour ceux qui font tourner la filière.</a:t>
            </a:r>
          </a:p>
        </p:txBody>
      </p:sp>
      <p:sp>
        <p:nvSpPr>
          <p:cNvPr id="20" name="TextBox 19"/>
          <p:cNvSpPr txBox="1"/>
          <p:nvPr/>
        </p:nvSpPr>
        <p:spPr>
          <a:xfrm>
            <a:off x="914400" y="4498848"/>
            <a:ext cx="10424160" cy="320040"/>
          </a:xfrm>
          <a:prstGeom prst="rect">
            <a:avLst/>
          </a:prstGeom>
          <a:noFill/>
        </p:spPr>
        <p:txBody>
          <a:bodyPr wrap="square" anchor="t" lIns="0" rIns="0" tIns="0" bIns="0">
            <a:spAutoFit/>
          </a:bodyPr>
          <a:lstStyle/>
          <a:p>
            <a:pPr algn="l">
              <a:lnSpc>
                <a:spcPct val="100000"/>
              </a:lnSpc>
            </a:pPr>
            <a:r>
              <a:rPr sz="1050" b="0" i="0">
                <a:solidFill>
                  <a:srgbClr val="007A3D"/>
                </a:solidFill>
                <a:latin typeface="Arial"/>
              </a:rPr>
              <a:t>Le coût de mise en conformité menace directement les petites coopératives.</a:t>
            </a:r>
          </a:p>
        </p:txBody>
      </p:sp>
      <p:sp>
        <p:nvSpPr>
          <p:cNvPr id="21" name="Rounded Rectangle 20"/>
          <p:cNvSpPr/>
          <p:nvPr/>
        </p:nvSpPr>
        <p:spPr>
          <a:xfrm>
            <a:off x="566928" y="5230368"/>
            <a:ext cx="3529584" cy="91440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TextBox 21"/>
          <p:cNvSpPr txBox="1"/>
          <p:nvPr/>
        </p:nvSpPr>
        <p:spPr>
          <a:xfrm>
            <a:off x="786384" y="5394960"/>
            <a:ext cx="3108960" cy="274320"/>
          </a:xfrm>
          <a:prstGeom prst="rect">
            <a:avLst/>
          </a:prstGeom>
          <a:noFill/>
        </p:spPr>
        <p:txBody>
          <a:bodyPr wrap="square" anchor="t" lIns="0" rIns="0" tIns="0" bIns="0">
            <a:spAutoFit/>
          </a:bodyPr>
          <a:lstStyle/>
          <a:p>
            <a:pPr algn="l">
              <a:lnSpc>
                <a:spcPct val="100000"/>
              </a:lnSpc>
            </a:pPr>
            <a:r>
              <a:rPr sz="1000" b="1" i="0" spc="100">
                <a:solidFill>
                  <a:srgbClr val="D95E00"/>
                </a:solidFill>
                <a:latin typeface="Arial"/>
              </a:rPr>
              <a:t>CHARGE</a:t>
            </a:r>
          </a:p>
        </p:txBody>
      </p:sp>
      <p:sp>
        <p:nvSpPr>
          <p:cNvPr id="23" name="TextBox 22"/>
          <p:cNvSpPr txBox="1"/>
          <p:nvPr/>
        </p:nvSpPr>
        <p:spPr>
          <a:xfrm>
            <a:off x="786384" y="5522976"/>
            <a:ext cx="3108960" cy="502920"/>
          </a:xfrm>
          <a:prstGeom prst="rect">
            <a:avLst/>
          </a:prstGeom>
          <a:noFill/>
        </p:spPr>
        <p:txBody>
          <a:bodyPr wrap="square" anchor="t" lIns="0" rIns="0" tIns="0" bIns="0">
            <a:spAutoFit/>
          </a:bodyPr>
          <a:lstStyle/>
          <a:p>
            <a:pPr algn="l">
              <a:lnSpc>
                <a:spcPct val="110000"/>
              </a:lnSpc>
            </a:pPr>
            <a:r>
              <a:rPr sz="950" b="0" i="0">
                <a:solidFill>
                  <a:srgbClr val="3D4A43"/>
                </a:solidFill>
                <a:latin typeface="Arial"/>
              </a:rPr>
              <a:t>des milliers de relevés à produire et documenter</a:t>
            </a:r>
          </a:p>
        </p:txBody>
      </p:sp>
      <p:sp>
        <p:nvSpPr>
          <p:cNvPr id="24" name="Rounded Rectangle 23"/>
          <p:cNvSpPr/>
          <p:nvPr/>
        </p:nvSpPr>
        <p:spPr>
          <a:xfrm>
            <a:off x="4379976" y="5230368"/>
            <a:ext cx="3529584" cy="91440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TextBox 24"/>
          <p:cNvSpPr txBox="1"/>
          <p:nvPr/>
        </p:nvSpPr>
        <p:spPr>
          <a:xfrm>
            <a:off x="4599432" y="5394960"/>
            <a:ext cx="3108960" cy="274320"/>
          </a:xfrm>
          <a:prstGeom prst="rect">
            <a:avLst/>
          </a:prstGeom>
          <a:noFill/>
        </p:spPr>
        <p:txBody>
          <a:bodyPr wrap="square" anchor="t" lIns="0" rIns="0" tIns="0" bIns="0">
            <a:spAutoFit/>
          </a:bodyPr>
          <a:lstStyle/>
          <a:p>
            <a:pPr algn="l">
              <a:lnSpc>
                <a:spcPct val="100000"/>
              </a:lnSpc>
            </a:pPr>
            <a:r>
              <a:rPr sz="1000" b="1" i="0" spc="100">
                <a:solidFill>
                  <a:srgbClr val="D95E00"/>
                </a:solidFill>
                <a:latin typeface="Arial"/>
              </a:rPr>
              <a:t>MOYENS</a:t>
            </a:r>
          </a:p>
        </p:txBody>
      </p:sp>
      <p:sp>
        <p:nvSpPr>
          <p:cNvPr id="26" name="TextBox 25"/>
          <p:cNvSpPr txBox="1"/>
          <p:nvPr/>
        </p:nvSpPr>
        <p:spPr>
          <a:xfrm>
            <a:off x="4599432" y="5522976"/>
            <a:ext cx="3108960" cy="502920"/>
          </a:xfrm>
          <a:prstGeom prst="rect">
            <a:avLst/>
          </a:prstGeom>
          <a:noFill/>
        </p:spPr>
        <p:txBody>
          <a:bodyPr wrap="square" anchor="t" lIns="0" rIns="0" tIns="0" bIns="0">
            <a:spAutoFit/>
          </a:bodyPr>
          <a:lstStyle/>
          <a:p>
            <a:pPr algn="l">
              <a:lnSpc>
                <a:spcPct val="110000"/>
              </a:lnSpc>
            </a:pPr>
            <a:r>
              <a:rPr sz="950" b="0" i="0">
                <a:solidFill>
                  <a:srgbClr val="3D4A43"/>
                </a:solidFill>
                <a:latin typeface="Arial"/>
              </a:rPr>
              <a:t>ni outil numérique, ni budget, ni expertise</a:t>
            </a:r>
          </a:p>
        </p:txBody>
      </p:sp>
      <p:sp>
        <p:nvSpPr>
          <p:cNvPr id="27" name="Rounded Rectangle 26"/>
          <p:cNvSpPr/>
          <p:nvPr/>
        </p:nvSpPr>
        <p:spPr>
          <a:xfrm>
            <a:off x="8193023" y="5230368"/>
            <a:ext cx="3529584" cy="91440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TextBox 27"/>
          <p:cNvSpPr txBox="1"/>
          <p:nvPr/>
        </p:nvSpPr>
        <p:spPr>
          <a:xfrm>
            <a:off x="8412480" y="5394960"/>
            <a:ext cx="3108960" cy="274320"/>
          </a:xfrm>
          <a:prstGeom prst="rect">
            <a:avLst/>
          </a:prstGeom>
          <a:noFill/>
        </p:spPr>
        <p:txBody>
          <a:bodyPr wrap="square" anchor="t" lIns="0" rIns="0" tIns="0" bIns="0">
            <a:spAutoFit/>
          </a:bodyPr>
          <a:lstStyle/>
          <a:p>
            <a:pPr algn="l">
              <a:lnSpc>
                <a:spcPct val="100000"/>
              </a:lnSpc>
            </a:pPr>
            <a:r>
              <a:rPr sz="1000" b="1" i="0" spc="100">
                <a:solidFill>
                  <a:srgbClr val="D95E00"/>
                </a:solidFill>
                <a:latin typeface="Arial"/>
              </a:rPr>
              <a:t>RISQUE</a:t>
            </a:r>
          </a:p>
        </p:txBody>
      </p:sp>
      <p:sp>
        <p:nvSpPr>
          <p:cNvPr id="29" name="TextBox 28"/>
          <p:cNvSpPr txBox="1"/>
          <p:nvPr/>
        </p:nvSpPr>
        <p:spPr>
          <a:xfrm>
            <a:off x="8412480" y="5522976"/>
            <a:ext cx="3108960" cy="502920"/>
          </a:xfrm>
          <a:prstGeom prst="rect">
            <a:avLst/>
          </a:prstGeom>
          <a:noFill/>
        </p:spPr>
        <p:txBody>
          <a:bodyPr wrap="square" anchor="t" lIns="0" rIns="0" tIns="0" bIns="0">
            <a:spAutoFit/>
          </a:bodyPr>
          <a:lstStyle/>
          <a:p>
            <a:pPr algn="l">
              <a:lnSpc>
                <a:spcPct val="110000"/>
              </a:lnSpc>
            </a:pPr>
            <a:r>
              <a:rPr sz="950" b="0" i="0">
                <a:solidFill>
                  <a:srgbClr val="3D4A43"/>
                </a:solidFill>
                <a:latin typeface="Arial"/>
              </a:rPr>
              <a:t>perte d'accès au marché UE dès 2025</a:t>
            </a:r>
          </a:p>
        </p:txBody>
      </p:sp>
      <p:sp>
        <p:nvSpPr>
          <p:cNvPr id="30" name="Rectangle 29"/>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34" name="TextBox 33"/>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02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380"/>
                                        <p:tgtEl>
                                          <p:spTgt spid="25"/>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380"/>
                                        <p:tgtEl>
                                          <p:spTgt spid="26"/>
                                        </p:tgtEl>
                                      </p:cBhvr>
                                    </p:animEffect>
                                  </p:childTnLst>
                                </p:cTn>
                              </p:par>
                              <p:par>
                                <p:cTn id="78" presetID="10" presetClass="entr" presetSubtype="0" fill="hold" grpId="0" nodeType="afterEffect">
                                  <p:stCondLst>
                                    <p:cond delay="13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380"/>
                                        <p:tgtEl>
                                          <p:spTgt spid="27"/>
                                        </p:tgtEl>
                                      </p:cBhvr>
                                    </p:animEffect>
                                  </p:childTnLst>
                                </p:cTn>
                              </p:par>
                              <p:par>
                                <p:cTn id="81" presetID="10" presetClass="entr" presetSubtype="0" fill="hold" grpId="0" nodeType="afterEffect">
                                  <p:stCondLst>
                                    <p:cond delay="13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80"/>
                                        <p:tgtEl>
                                          <p:spTgt spid="28"/>
                                        </p:tgtEl>
                                      </p:cBhvr>
                                    </p:animEffect>
                                  </p:childTnLst>
                                </p:cTn>
                              </p:par>
                              <p:par>
                                <p:cTn id="84" presetID="10" presetClass="entr" presetSubtype="0" fill="hold" grpId="0" nodeType="afterEffect">
                                  <p:stCondLst>
                                    <p:cond delay="13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380"/>
                                        <p:tgtEl>
                                          <p:spTgt spid="29"/>
                                        </p:tgtEl>
                                      </p:cBhvr>
                                    </p:animEffect>
                                  </p:childTnLst>
                                </p:cTn>
                              </p:par>
                              <p:par>
                                <p:cTn id="87" presetID="10" presetClass="entr" presetSubtype="0" fill="hold" grpId="0" nodeType="afterEffect">
                                  <p:stCondLst>
                                    <p:cond delay="13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380"/>
                                        <p:tgtEl>
                                          <p:spTgt spid="33"/>
                                        </p:tgtEl>
                                      </p:cBhvr>
                                    </p:animEffect>
                                  </p:childTnLst>
                                </p:cTn>
                              </p:par>
                              <p:par>
                                <p:cTn id="90" presetID="10" presetClass="entr" presetSubtype="0" fill="hold" grpId="0" nodeType="afterEffect">
                                  <p:stCondLst>
                                    <p:cond delay="13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38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INSIGHT</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La donnée existe déjà. Gratuitement.</a:t>
            </a:r>
          </a:p>
        </p:txBody>
      </p:sp>
      <p:sp>
        <p:nvSpPr>
          <p:cNvPr id="4" name="Rounded Rectangle 3"/>
          <p:cNvSpPr/>
          <p:nvPr/>
        </p:nvSpPr>
        <p:spPr>
          <a:xfrm>
            <a:off x="566928" y="1691640"/>
            <a:ext cx="3566160" cy="278892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Oval 4"/>
          <p:cNvSpPr/>
          <p:nvPr/>
        </p:nvSpPr>
        <p:spPr>
          <a:xfrm>
            <a:off x="841247" y="1947672"/>
            <a:ext cx="868680" cy="86868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Rounded Rectangle 5"/>
          <p:cNvSpPr/>
          <p:nvPr/>
        </p:nvSpPr>
        <p:spPr>
          <a:xfrm>
            <a:off x="1170249" y="2276673"/>
            <a:ext cx="210677" cy="210677"/>
          </a:xfrm>
          <a:prstGeom prst="roundRect">
            <a:avLst>
              <a:gd name="adj" fmla="val 25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Rectangle 6"/>
          <p:cNvSpPr/>
          <p:nvPr/>
        </p:nvSpPr>
        <p:spPr>
          <a:xfrm>
            <a:off x="933236" y="2309591"/>
            <a:ext cx="197510" cy="144840"/>
          </a:xfrm>
          <a:prstGeom prst="rect">
            <a:avLst/>
          </a:prstGeom>
          <a:solidFill>
            <a:srgbClr val="C4650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1420428" y="2309591"/>
            <a:ext cx="197510" cy="144840"/>
          </a:xfrm>
          <a:prstGeom prst="rect">
            <a:avLst/>
          </a:prstGeom>
          <a:solidFill>
            <a:srgbClr val="C4650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Oval 8"/>
          <p:cNvSpPr/>
          <p:nvPr/>
        </p:nvSpPr>
        <p:spPr>
          <a:xfrm>
            <a:off x="1236085" y="2513685"/>
            <a:ext cx="79004" cy="79004"/>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0" name="TextBox 9"/>
          <p:cNvSpPr txBox="1"/>
          <p:nvPr/>
        </p:nvSpPr>
        <p:spPr>
          <a:xfrm>
            <a:off x="841247" y="2990088"/>
            <a:ext cx="3017520"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Sentinel-2</a:t>
            </a:r>
          </a:p>
        </p:txBody>
      </p:sp>
      <p:sp>
        <p:nvSpPr>
          <p:cNvPr id="11" name="TextBox 10"/>
          <p:cNvSpPr txBox="1"/>
          <p:nvPr/>
        </p:nvSpPr>
        <p:spPr>
          <a:xfrm>
            <a:off x="841247" y="3319272"/>
            <a:ext cx="301752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Copernicus — Union européenne</a:t>
            </a:r>
          </a:p>
        </p:txBody>
      </p:sp>
      <p:sp>
        <p:nvSpPr>
          <p:cNvPr id="12" name="TextBox 11"/>
          <p:cNvSpPr txBox="1"/>
          <p:nvPr/>
        </p:nvSpPr>
        <p:spPr>
          <a:xfrm>
            <a:off x="841247" y="3611880"/>
            <a:ext cx="3017520" cy="68580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Imagerie optique 10 m, revisitée tous les 5 jours : état du couvert végétal.</a:t>
            </a:r>
          </a:p>
        </p:txBody>
      </p:sp>
      <p:sp>
        <p:nvSpPr>
          <p:cNvPr id="13" name="Rounded Rectangle 12"/>
          <p:cNvSpPr/>
          <p:nvPr/>
        </p:nvSpPr>
        <p:spPr>
          <a:xfrm>
            <a:off x="841247" y="4087368"/>
            <a:ext cx="2286000" cy="292608"/>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850" b="1">
                <a:solidFill>
                  <a:srgbClr val="007A3D"/>
                </a:solidFill>
                <a:latin typeface="Arial"/>
              </a:rPr>
              <a:t>Gratuit · données ouvertes</a:t>
            </a:r>
          </a:p>
        </p:txBody>
      </p:sp>
      <p:sp>
        <p:nvSpPr>
          <p:cNvPr id="14" name="Rounded Rectangle 13"/>
          <p:cNvSpPr/>
          <p:nvPr/>
        </p:nvSpPr>
        <p:spPr>
          <a:xfrm>
            <a:off x="4315968" y="1691640"/>
            <a:ext cx="3566160" cy="278892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Oval 14"/>
          <p:cNvSpPr/>
          <p:nvPr/>
        </p:nvSpPr>
        <p:spPr>
          <a:xfrm>
            <a:off x="4590288" y="1947672"/>
            <a:ext cx="868680" cy="86868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Isosceles Triangle 15"/>
          <p:cNvSpPr/>
          <p:nvPr/>
        </p:nvSpPr>
        <p:spPr>
          <a:xfrm>
            <a:off x="4827117" y="2105497"/>
            <a:ext cx="395020" cy="408188"/>
          </a:xfrm>
          <a:prstGeom prst="triangl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Rounded Rectangle 16"/>
          <p:cNvSpPr/>
          <p:nvPr/>
        </p:nvSpPr>
        <p:spPr>
          <a:xfrm>
            <a:off x="4988417" y="2474183"/>
            <a:ext cx="72420" cy="197510"/>
          </a:xfrm>
          <a:prstGeom prst="roundRect">
            <a:avLst>
              <a:gd name="adj" fmla="val 30000"/>
            </a:avLst>
          </a:prstGeom>
          <a:solidFill>
            <a:srgbClr val="067F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4590288" y="2990088"/>
            <a:ext cx="3017520"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Hansen / Global Forest Watch</a:t>
            </a:r>
          </a:p>
        </p:txBody>
      </p:sp>
      <p:sp>
        <p:nvSpPr>
          <p:cNvPr id="19" name="TextBox 18"/>
          <p:cNvSpPr txBox="1"/>
          <p:nvPr/>
        </p:nvSpPr>
        <p:spPr>
          <a:xfrm>
            <a:off x="4590288" y="3319272"/>
            <a:ext cx="301752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Université du Maryland + WRI</a:t>
            </a:r>
          </a:p>
        </p:txBody>
      </p:sp>
      <p:sp>
        <p:nvSpPr>
          <p:cNvPr id="20" name="TextBox 19"/>
          <p:cNvSpPr txBox="1"/>
          <p:nvPr/>
        </p:nvSpPr>
        <p:spPr>
          <a:xfrm>
            <a:off x="4590288" y="3611880"/>
            <a:ext cx="3017520" cy="68580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Couvert forestier et perte annuelle, depuis 2000, à 30 m.</a:t>
            </a:r>
          </a:p>
        </p:txBody>
      </p:sp>
      <p:sp>
        <p:nvSpPr>
          <p:cNvPr id="21" name="Rounded Rectangle 20"/>
          <p:cNvSpPr/>
          <p:nvPr/>
        </p:nvSpPr>
        <p:spPr>
          <a:xfrm>
            <a:off x="4590288" y="4087368"/>
            <a:ext cx="2286000" cy="292608"/>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850" b="1">
                <a:solidFill>
                  <a:srgbClr val="007A3D"/>
                </a:solidFill>
                <a:latin typeface="Arial"/>
              </a:rPr>
              <a:t>Gratuit · données ouvertes</a:t>
            </a:r>
          </a:p>
        </p:txBody>
      </p:sp>
      <p:sp>
        <p:nvSpPr>
          <p:cNvPr id="22" name="Rounded Rectangle 21"/>
          <p:cNvSpPr/>
          <p:nvPr/>
        </p:nvSpPr>
        <p:spPr>
          <a:xfrm>
            <a:off x="8065008" y="1691640"/>
            <a:ext cx="3566160" cy="278892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3" name="Oval 22"/>
          <p:cNvSpPr/>
          <p:nvPr/>
        </p:nvSpPr>
        <p:spPr>
          <a:xfrm>
            <a:off x="8339328" y="1947672"/>
            <a:ext cx="868680" cy="86868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Oval 23"/>
          <p:cNvSpPr/>
          <p:nvPr/>
        </p:nvSpPr>
        <p:spPr>
          <a:xfrm>
            <a:off x="8562990" y="2171334"/>
            <a:ext cx="421355" cy="421355"/>
          </a:xfrm>
          <a:prstGeom prst="ellipse">
            <a:avLst/>
          </a:prstGeom>
          <a:noFill/>
          <a:ln w="27940">
            <a:solidFill>
              <a:srgbClr val="D9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Oval 24"/>
          <p:cNvSpPr/>
          <p:nvPr/>
        </p:nvSpPr>
        <p:spPr>
          <a:xfrm>
            <a:off x="8562990" y="2316175"/>
            <a:ext cx="421355" cy="131673"/>
          </a:xfrm>
          <a:prstGeom prst="ellipse">
            <a:avLst/>
          </a:prstGeom>
          <a:noFill/>
          <a:ln w="17780">
            <a:solidFill>
              <a:srgbClr val="D9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6" name="Rectangle 25"/>
          <p:cNvSpPr/>
          <p:nvPr/>
        </p:nvSpPr>
        <p:spPr>
          <a:xfrm>
            <a:off x="8765767" y="2171334"/>
            <a:ext cx="15800" cy="421355"/>
          </a:xfrm>
          <a:prstGeom prst="rect">
            <a:avLst/>
          </a:prstGeom>
          <a:solidFill>
            <a:srgbClr val="D9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7" name="TextBox 26"/>
          <p:cNvSpPr txBox="1"/>
          <p:nvPr/>
        </p:nvSpPr>
        <p:spPr>
          <a:xfrm>
            <a:off x="8339328" y="2990088"/>
            <a:ext cx="3017520"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Digital Earth Africa</a:t>
            </a:r>
          </a:p>
        </p:txBody>
      </p:sp>
      <p:sp>
        <p:nvSpPr>
          <p:cNvPr id="28" name="TextBox 27"/>
          <p:cNvSpPr txBox="1"/>
          <p:nvPr/>
        </p:nvSpPr>
        <p:spPr>
          <a:xfrm>
            <a:off x="8339328" y="3319272"/>
            <a:ext cx="301752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Programme continental ouvert</a:t>
            </a:r>
          </a:p>
        </p:txBody>
      </p:sp>
      <p:sp>
        <p:nvSpPr>
          <p:cNvPr id="29" name="TextBox 28"/>
          <p:cNvSpPr txBox="1"/>
          <p:nvPr/>
        </p:nvSpPr>
        <p:spPr>
          <a:xfrm>
            <a:off x="8339328" y="3611880"/>
            <a:ext cx="3017520" cy="68580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Dégradation des terres et services d'analyse prêts à l'emploi.</a:t>
            </a:r>
          </a:p>
        </p:txBody>
      </p:sp>
      <p:sp>
        <p:nvSpPr>
          <p:cNvPr id="30" name="Rounded Rectangle 29"/>
          <p:cNvSpPr/>
          <p:nvPr/>
        </p:nvSpPr>
        <p:spPr>
          <a:xfrm>
            <a:off x="8339328" y="4087368"/>
            <a:ext cx="2286000" cy="292608"/>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850" b="1">
                <a:solidFill>
                  <a:srgbClr val="007A3D"/>
                </a:solidFill>
                <a:latin typeface="Arial"/>
              </a:rPr>
              <a:t>Gratuit · données ouvertes</a:t>
            </a:r>
          </a:p>
        </p:txBody>
      </p:sp>
      <p:sp>
        <p:nvSpPr>
          <p:cNvPr id="31" name="Down Arrow 30"/>
          <p:cNvSpPr/>
          <p:nvPr/>
        </p:nvSpPr>
        <p:spPr>
          <a:xfrm>
            <a:off x="5989320" y="4645152"/>
            <a:ext cx="219456" cy="274320"/>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2" name="Rounded Rectangle 31"/>
          <p:cNvSpPr/>
          <p:nvPr/>
        </p:nvSpPr>
        <p:spPr>
          <a:xfrm>
            <a:off x="566928" y="5029200"/>
            <a:ext cx="11064240" cy="1097280"/>
          </a:xfrm>
          <a:prstGeom prst="roundRect">
            <a:avLst>
              <a:gd name="adj" fmla="val 8500"/>
            </a:avLst>
          </a:prstGeom>
          <a:solidFill>
            <a:srgbClr val="13251C"/>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3" name="TextBox 32"/>
          <p:cNvSpPr txBox="1"/>
          <p:nvPr/>
        </p:nvSpPr>
        <p:spPr>
          <a:xfrm>
            <a:off x="960120" y="5230368"/>
            <a:ext cx="10332720" cy="365760"/>
          </a:xfrm>
          <a:prstGeom prst="rect">
            <a:avLst/>
          </a:prstGeom>
          <a:noFill/>
        </p:spPr>
        <p:txBody>
          <a:bodyPr wrap="square" anchor="t" lIns="0" rIns="0" tIns="0" bIns="0">
            <a:spAutoFit/>
          </a:bodyPr>
          <a:lstStyle/>
          <a:p>
            <a:pPr algn="l">
              <a:lnSpc>
                <a:spcPct val="100000"/>
              </a:lnSpc>
            </a:pPr>
            <a:r>
              <a:rPr sz="1450" b="1" i="0">
                <a:solidFill>
                  <a:srgbClr val="FFFFFF"/>
                </a:solidFill>
                <a:latin typeface="Arial"/>
              </a:rPr>
              <a:t>Ce qui manque n'est pas la donnée — c'est le </a:t>
            </a:r>
            <a:r>
              <a:rPr sz="1450" b="1" i="0">
                <a:solidFill>
                  <a:srgbClr val="7BD9A2"/>
                </a:solidFill>
                <a:latin typeface="Arial"/>
              </a:rPr>
              <a:t>pipeline</a:t>
            </a:r>
            <a:r>
              <a:rPr sz="1450" b="1" i="0">
                <a:solidFill>
                  <a:srgbClr val="FFFFFF"/>
                </a:solidFill>
                <a:latin typeface="Arial"/>
              </a:rPr>
              <a:t> qui la relie au terrain.</a:t>
            </a:r>
          </a:p>
        </p:txBody>
      </p:sp>
      <p:sp>
        <p:nvSpPr>
          <p:cNvPr id="34" name="TextBox 33"/>
          <p:cNvSpPr txBox="1"/>
          <p:nvPr/>
        </p:nvSpPr>
        <p:spPr>
          <a:xfrm>
            <a:off x="960120" y="5650992"/>
            <a:ext cx="10332720" cy="320040"/>
          </a:xfrm>
          <a:prstGeom prst="rect">
            <a:avLst/>
          </a:prstGeom>
          <a:noFill/>
        </p:spPr>
        <p:txBody>
          <a:bodyPr wrap="square" anchor="t" lIns="0" rIns="0" tIns="0" bIns="0">
            <a:spAutoFit/>
          </a:bodyPr>
          <a:lstStyle/>
          <a:p>
            <a:pPr algn="l">
              <a:lnSpc>
                <a:spcPct val="100000"/>
              </a:lnSpc>
            </a:pPr>
            <a:r>
              <a:rPr sz="1050" b="0" i="0">
                <a:solidFill>
                  <a:srgbClr val="9DB5A8"/>
                </a:solidFill>
                <a:latin typeface="Arial"/>
              </a:rPr>
              <a:t>C'est exactement ce que CacaoSat construit.</a:t>
            </a:r>
          </a:p>
        </p:txBody>
      </p:sp>
      <p:sp>
        <p:nvSpPr>
          <p:cNvPr id="35" name="Rectangle 34"/>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39" name="TextBox 38"/>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03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8" fill="hold">
                      <p:stCondLst>
                        <p:cond delay="indefinite"/>
                      </p:stCondLst>
                      <p:childTnLst>
                        <p:par>
                          <p:cTn id="10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380"/>
                                        <p:tgtEl>
                                          <p:spTgt spid="25"/>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380"/>
                                        <p:tgtEl>
                                          <p:spTgt spid="26"/>
                                        </p:tgtEl>
                                      </p:cBhvr>
                                    </p:animEffect>
                                  </p:childTnLst>
                                </p:cTn>
                              </p:par>
                              <p:par>
                                <p:cTn id="78" presetID="10" presetClass="entr" presetSubtype="0" fill="hold" grpId="0" nodeType="afterEffect">
                                  <p:stCondLst>
                                    <p:cond delay="13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380"/>
                                        <p:tgtEl>
                                          <p:spTgt spid="27"/>
                                        </p:tgtEl>
                                      </p:cBhvr>
                                    </p:animEffect>
                                  </p:childTnLst>
                                </p:cTn>
                              </p:par>
                              <p:par>
                                <p:cTn id="81" presetID="10" presetClass="entr" presetSubtype="0" fill="hold" grpId="0" nodeType="afterEffect">
                                  <p:stCondLst>
                                    <p:cond delay="13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80"/>
                                        <p:tgtEl>
                                          <p:spTgt spid="28"/>
                                        </p:tgtEl>
                                      </p:cBhvr>
                                    </p:animEffect>
                                  </p:childTnLst>
                                </p:cTn>
                              </p:par>
                              <p:par>
                                <p:cTn id="84" presetID="10" presetClass="entr" presetSubtype="0" fill="hold" grpId="0" nodeType="afterEffect">
                                  <p:stCondLst>
                                    <p:cond delay="13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380"/>
                                        <p:tgtEl>
                                          <p:spTgt spid="29"/>
                                        </p:tgtEl>
                                      </p:cBhvr>
                                    </p:animEffect>
                                  </p:childTnLst>
                                </p:cTn>
                              </p:par>
                              <p:par>
                                <p:cTn id="87" presetID="10" presetClass="entr" presetSubtype="0" fill="hold" grpId="0" nodeType="afterEffect">
                                  <p:stCondLst>
                                    <p:cond delay="13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380"/>
                                        <p:tgtEl>
                                          <p:spTgt spid="30"/>
                                        </p:tgtEl>
                                      </p:cBhvr>
                                    </p:animEffect>
                                  </p:childTnLst>
                                </p:cTn>
                              </p:par>
                              <p:par>
                                <p:cTn id="90" presetID="10" presetClass="entr" presetSubtype="0" fill="hold" grpId="0" nodeType="afterEffect">
                                  <p:stCondLst>
                                    <p:cond delay="13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380"/>
                                        <p:tgtEl>
                                          <p:spTgt spid="31"/>
                                        </p:tgtEl>
                                      </p:cBhvr>
                                    </p:animEffect>
                                  </p:childTnLst>
                                </p:cTn>
                              </p:par>
                              <p:par>
                                <p:cTn id="93" presetID="10" presetClass="entr" presetSubtype="0" fill="hold" grpId="0" nodeType="afterEffect">
                                  <p:stCondLst>
                                    <p:cond delay="13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380"/>
                                        <p:tgtEl>
                                          <p:spTgt spid="32"/>
                                        </p:tgtEl>
                                      </p:cBhvr>
                                    </p:animEffect>
                                  </p:childTnLst>
                                </p:cTn>
                              </p:par>
                              <p:par>
                                <p:cTn id="96" presetID="10" presetClass="entr" presetSubtype="0" fill="hold" grpId="0" nodeType="afterEffect">
                                  <p:stCondLst>
                                    <p:cond delay="13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380"/>
                                        <p:tgtEl>
                                          <p:spTgt spid="33"/>
                                        </p:tgtEl>
                                      </p:cBhvr>
                                    </p:animEffect>
                                  </p:childTnLst>
                                </p:cTn>
                              </p:par>
                              <p:par>
                                <p:cTn id="99" presetID="10" presetClass="entr" presetSubtype="0" fill="hold" grpId="0" nodeType="afterEffect">
                                  <p:stCondLst>
                                    <p:cond delay="13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380"/>
                                        <p:tgtEl>
                                          <p:spTgt spid="34"/>
                                        </p:tgtEl>
                                      </p:cBhvr>
                                    </p:animEffect>
                                  </p:childTnLst>
                                </p:cTn>
                              </p:par>
                              <p:par>
                                <p:cTn id="102" presetID="10" presetClass="entr" presetSubtype="0" fill="hold" grpId="0" nodeType="afterEffect">
                                  <p:stCondLst>
                                    <p:cond delay="130"/>
                                  </p:stCondLst>
                                  <p:childTnLst>
                                    <p:set>
                                      <p:cBhvr>
                                        <p:cTn id="103" dur="1" fill="hold">
                                          <p:stCondLst>
                                            <p:cond delay="0"/>
                                          </p:stCondLst>
                                        </p:cTn>
                                        <p:tgtEl>
                                          <p:spTgt spid="38"/>
                                        </p:tgtEl>
                                        <p:attrNameLst>
                                          <p:attrName>style.visibility</p:attrName>
                                        </p:attrNameLst>
                                      </p:cBhvr>
                                      <p:to>
                                        <p:strVal val="visible"/>
                                      </p:to>
                                    </p:set>
                                    <p:animEffect transition="in" filter="fade">
                                      <p:cBhvr>
                                        <p:cTn id="104" dur="380"/>
                                        <p:tgtEl>
                                          <p:spTgt spid="38"/>
                                        </p:tgtEl>
                                      </p:cBhvr>
                                    </p:animEffect>
                                  </p:childTnLst>
                                </p:cTn>
                              </p:par>
                              <p:par>
                                <p:cTn id="105" presetID="10" presetClass="entr" presetSubtype="0" fill="hold" grpId="0" nodeType="afterEffect">
                                  <p:stCondLst>
                                    <p:cond delay="13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38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NOTRE SOLUTION</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Un pipeline complet, de la parcelle au certificat</a:t>
            </a:r>
          </a:p>
        </p:txBody>
      </p:sp>
      <p:sp>
        <p:nvSpPr>
          <p:cNvPr id="4" name="Chevron 3"/>
          <p:cNvSpPr/>
          <p:nvPr/>
        </p:nvSpPr>
        <p:spPr>
          <a:xfrm>
            <a:off x="566928" y="1755648"/>
            <a:ext cx="2048256" cy="896112"/>
          </a:xfrm>
          <a:prstGeom prst="chevron">
            <a:avLst>
              <a:gd name="adj" fmla="val 42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01</a:t>
            </a:r>
          </a:p>
          <a:p>
            <a:pPr algn="ctr">
              <a:lnSpc>
                <a:spcPct val="100000"/>
              </a:lnSpc>
              <a:spcAft>
                <a:spcPts val="300"/>
              </a:spcAft>
            </a:pPr>
            <a:r>
              <a:rPr sz="1050" b="1">
                <a:solidFill>
                  <a:srgbClr val="FFFFFF"/>
                </a:solidFill>
                <a:latin typeface="Arial"/>
              </a:rPr>
              <a:t>Cartographie</a:t>
            </a:r>
          </a:p>
        </p:txBody>
      </p:sp>
      <p:sp>
        <p:nvSpPr>
          <p:cNvPr id="5" name="Rounded Rectangle 4"/>
          <p:cNvSpPr/>
          <p:nvPr/>
        </p:nvSpPr>
        <p:spPr>
          <a:xfrm>
            <a:off x="621792"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Relevé GPS hors-ligne des parcelles — app mobile</a:t>
            </a:r>
          </a:p>
        </p:txBody>
      </p:sp>
      <p:sp>
        <p:nvSpPr>
          <p:cNvPr id="6" name="Chevron 5"/>
          <p:cNvSpPr/>
          <p:nvPr/>
        </p:nvSpPr>
        <p:spPr>
          <a:xfrm>
            <a:off x="2370124" y="1755648"/>
            <a:ext cx="2048256" cy="896112"/>
          </a:xfrm>
          <a:prstGeom prst="chevron">
            <a:avLst>
              <a:gd name="adj" fmla="val 42000"/>
            </a:avLst>
          </a:prstGeom>
          <a:solidFill>
            <a:srgbClr val="CC831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02</a:t>
            </a:r>
          </a:p>
          <a:p>
            <a:pPr algn="ctr">
              <a:lnSpc>
                <a:spcPct val="100000"/>
              </a:lnSpc>
              <a:spcAft>
                <a:spcPts val="300"/>
              </a:spcAft>
            </a:pPr>
            <a:r>
              <a:rPr sz="1050" b="1">
                <a:solidFill>
                  <a:srgbClr val="FFFFFF"/>
                </a:solidFill>
                <a:latin typeface="Arial"/>
              </a:rPr>
              <a:t>Ingestion</a:t>
            </a:r>
          </a:p>
        </p:txBody>
      </p:sp>
      <p:sp>
        <p:nvSpPr>
          <p:cNvPr id="7" name="Rounded Rectangle 6"/>
          <p:cNvSpPr/>
          <p:nvPr/>
        </p:nvSpPr>
        <p:spPr>
          <a:xfrm>
            <a:off x="2424988"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Base géospatiale PostGIS unique et interopérable</a:t>
            </a:r>
          </a:p>
        </p:txBody>
      </p:sp>
      <p:sp>
        <p:nvSpPr>
          <p:cNvPr id="8" name="Chevron 7"/>
          <p:cNvSpPr/>
          <p:nvPr/>
        </p:nvSpPr>
        <p:spPr>
          <a:xfrm>
            <a:off x="4173321" y="1755648"/>
            <a:ext cx="2048256" cy="896112"/>
          </a:xfrm>
          <a:prstGeom prst="chevron">
            <a:avLst>
              <a:gd name="adj" fmla="val 42000"/>
            </a:avLst>
          </a:prstGeom>
          <a:solidFill>
            <a:srgbClr val="998C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03</a:t>
            </a:r>
          </a:p>
          <a:p>
            <a:pPr algn="ctr">
              <a:lnSpc>
                <a:spcPct val="100000"/>
              </a:lnSpc>
              <a:spcAft>
                <a:spcPts val="300"/>
              </a:spcAft>
            </a:pPr>
            <a:r>
              <a:rPr sz="1050" b="1">
                <a:solidFill>
                  <a:srgbClr val="FFFFFF"/>
                </a:solidFill>
                <a:latin typeface="Arial"/>
              </a:rPr>
              <a:t>Croisement satellite</a:t>
            </a:r>
          </a:p>
        </p:txBody>
      </p:sp>
      <p:sp>
        <p:nvSpPr>
          <p:cNvPr id="9" name="Rounded Rectangle 8"/>
          <p:cNvSpPr/>
          <p:nvPr/>
        </p:nvSpPr>
        <p:spPr>
          <a:xfrm>
            <a:off x="4228185"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Sentinel-2 + Hansen/GFW + DEA, depuis 2020</a:t>
            </a:r>
          </a:p>
        </p:txBody>
      </p:sp>
      <p:sp>
        <p:nvSpPr>
          <p:cNvPr id="10" name="Chevron 9"/>
          <p:cNvSpPr/>
          <p:nvPr/>
        </p:nvSpPr>
        <p:spPr>
          <a:xfrm>
            <a:off x="5976518" y="1755648"/>
            <a:ext cx="2048256" cy="896112"/>
          </a:xfrm>
          <a:prstGeom prst="chevron">
            <a:avLst>
              <a:gd name="adj" fmla="val 42000"/>
            </a:avLst>
          </a:prstGeom>
          <a:solidFill>
            <a:srgbClr val="6694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04</a:t>
            </a:r>
          </a:p>
          <a:p>
            <a:pPr algn="ctr">
              <a:lnSpc>
                <a:spcPct val="100000"/>
              </a:lnSpc>
              <a:spcAft>
                <a:spcPts val="300"/>
              </a:spcAft>
            </a:pPr>
            <a:r>
              <a:rPr sz="1050" b="1">
                <a:solidFill>
                  <a:srgbClr val="FFFFFF"/>
                </a:solidFill>
                <a:latin typeface="Arial"/>
              </a:rPr>
              <a:t>Scoring EUDR</a:t>
            </a:r>
          </a:p>
        </p:txBody>
      </p:sp>
      <p:sp>
        <p:nvSpPr>
          <p:cNvPr id="11" name="Rounded Rectangle 10"/>
          <p:cNvSpPr/>
          <p:nvPr/>
        </p:nvSpPr>
        <p:spPr>
          <a:xfrm>
            <a:off x="6031382"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Score /100 pondéré et explicable, par parcelle</a:t>
            </a:r>
          </a:p>
        </p:txBody>
      </p:sp>
      <p:sp>
        <p:nvSpPr>
          <p:cNvPr id="12" name="Chevron 11"/>
          <p:cNvSpPr/>
          <p:nvPr/>
        </p:nvSpPr>
        <p:spPr>
          <a:xfrm>
            <a:off x="7779715" y="1755648"/>
            <a:ext cx="2048256" cy="896112"/>
          </a:xfrm>
          <a:prstGeom prst="chevron">
            <a:avLst>
              <a:gd name="adj" fmla="val 42000"/>
            </a:avLst>
          </a:prstGeom>
          <a:solidFill>
            <a:srgbClr val="339D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05</a:t>
            </a:r>
          </a:p>
          <a:p>
            <a:pPr algn="ctr">
              <a:lnSpc>
                <a:spcPct val="100000"/>
              </a:lnSpc>
              <a:spcAft>
                <a:spcPts val="300"/>
              </a:spcAft>
            </a:pPr>
            <a:r>
              <a:rPr sz="1050" b="1">
                <a:solidFill>
                  <a:srgbClr val="FFFFFF"/>
                </a:solidFill>
                <a:latin typeface="Arial"/>
              </a:rPr>
              <a:t>Certificat</a:t>
            </a:r>
          </a:p>
        </p:txBody>
      </p:sp>
      <p:sp>
        <p:nvSpPr>
          <p:cNvPr id="13" name="Rounded Rectangle 12"/>
          <p:cNvSpPr/>
          <p:nvPr/>
        </p:nvSpPr>
        <p:spPr>
          <a:xfrm>
            <a:off x="7834579"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Rapport PDF + GeoJSON, empreinte SHA-256</a:t>
            </a:r>
          </a:p>
        </p:txBody>
      </p:sp>
      <p:sp>
        <p:nvSpPr>
          <p:cNvPr id="14" name="Chevron 13"/>
          <p:cNvSpPr/>
          <p:nvPr/>
        </p:nvSpPr>
        <p:spPr>
          <a:xfrm>
            <a:off x="9582911" y="1755648"/>
            <a:ext cx="2048256" cy="896112"/>
          </a:xfrm>
          <a:prstGeom prst="chevron">
            <a:avLst>
              <a:gd name="adj" fmla="val 42000"/>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06</a:t>
            </a:r>
          </a:p>
          <a:p>
            <a:pPr algn="ctr">
              <a:lnSpc>
                <a:spcPct val="100000"/>
              </a:lnSpc>
              <a:spcAft>
                <a:spcPts val="300"/>
              </a:spcAft>
            </a:pPr>
            <a:r>
              <a:rPr sz="1050" b="1">
                <a:solidFill>
                  <a:srgbClr val="FFFFFF"/>
                </a:solidFill>
                <a:latin typeface="Arial"/>
              </a:rPr>
              <a:t>Alerte précoce</a:t>
            </a:r>
          </a:p>
        </p:txBody>
      </p:sp>
      <p:sp>
        <p:nvSpPr>
          <p:cNvPr id="15" name="Rounded Rectangle 14"/>
          <p:cNvSpPr/>
          <p:nvPr/>
        </p:nvSpPr>
        <p:spPr>
          <a:xfrm>
            <a:off x="9637776"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Détection continue, notification coopérative</a:t>
            </a:r>
          </a:p>
        </p:txBody>
      </p:sp>
      <p:sp>
        <p:nvSpPr>
          <p:cNvPr id="16" name="Rounded Rectangle 15"/>
          <p:cNvSpPr/>
          <p:nvPr/>
        </p:nvSpPr>
        <p:spPr>
          <a:xfrm>
            <a:off x="566928" y="4617720"/>
            <a:ext cx="11064240" cy="1371600"/>
          </a:xfrm>
          <a:prstGeom prst="roundRect">
            <a:avLst>
              <a:gd name="adj" fmla="val 8500"/>
            </a:avLst>
          </a:prstGeom>
          <a:solidFill>
            <a:srgbClr val="FFFFFF"/>
          </a:solidFill>
          <a:ln w="15240">
            <a:solidFill>
              <a:srgbClr val="00A651"/>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914400" y="4828032"/>
            <a:ext cx="10332720" cy="411480"/>
          </a:xfrm>
          <a:prstGeom prst="rect">
            <a:avLst/>
          </a:prstGeom>
          <a:noFill/>
        </p:spPr>
        <p:txBody>
          <a:bodyPr wrap="square" anchor="t" lIns="0" rIns="0" tIns="0" bIns="0">
            <a:spAutoFit/>
          </a:bodyPr>
          <a:lstStyle/>
          <a:p>
            <a:pPr algn="l">
              <a:lnSpc>
                <a:spcPct val="100000"/>
              </a:lnSpc>
            </a:pPr>
            <a:r>
              <a:rPr sz="1500" b="1" i="0">
                <a:solidFill>
                  <a:srgbClr val="13251C"/>
                </a:solidFill>
                <a:latin typeface="Arial"/>
              </a:rPr>
              <a:t>Automatisé de bout en bout : </a:t>
            </a:r>
            <a:r>
              <a:rPr sz="1500" b="1" i="0">
                <a:solidFill>
                  <a:srgbClr val="007A3D"/>
                </a:solidFill>
                <a:latin typeface="Arial"/>
              </a:rPr>
              <a:t>quelques minutes au lieu de plusieurs semaines</a:t>
            </a:r>
            <a:r>
              <a:rPr sz="1500" b="1" i="0">
                <a:solidFill>
                  <a:srgbClr val="13251C"/>
                </a:solidFill>
                <a:latin typeface="Arial"/>
              </a:rPr>
              <a:t>.</a:t>
            </a:r>
          </a:p>
        </p:txBody>
      </p:sp>
      <p:sp>
        <p:nvSpPr>
          <p:cNvPr id="18" name="TextBox 17"/>
          <p:cNvSpPr txBox="1"/>
          <p:nvPr/>
        </p:nvSpPr>
        <p:spPr>
          <a:xfrm>
            <a:off x="914400" y="5321808"/>
            <a:ext cx="10332720" cy="365760"/>
          </a:xfrm>
          <a:prstGeom prst="rect">
            <a:avLst/>
          </a:prstGeom>
          <a:noFill/>
        </p:spPr>
        <p:txBody>
          <a:bodyPr wrap="square" anchor="t" lIns="0" rIns="0" tIns="0" bIns="0">
            <a:spAutoFit/>
          </a:bodyPr>
          <a:lstStyle/>
          <a:p>
            <a:pPr algn="l">
              <a:lnSpc>
                <a:spcPct val="100000"/>
              </a:lnSpc>
            </a:pPr>
            <a:r>
              <a:rPr sz="1100" b="0" i="0">
                <a:solidFill>
                  <a:srgbClr val="6B7A70"/>
                </a:solidFill>
                <a:latin typeface="Arial"/>
              </a:rPr>
              <a:t>Du relevé terrain au document exportable — sans étape manuelle, sans intermédiaire coûteux.</a:t>
            </a:r>
          </a:p>
        </p:txBody>
      </p:sp>
      <p:sp>
        <p:nvSpPr>
          <p:cNvPr id="19" name="Rectangle 18"/>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23" name="TextBox 22"/>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04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380"/>
                                        <p:tgtEl>
                                          <p:spTgt spid="22"/>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38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01 · APP MOBILE</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L'app terrain — cartographier sans réseau</a:t>
            </a:r>
          </a:p>
        </p:txBody>
      </p:sp>
      <p:sp>
        <p:nvSpPr>
          <p:cNvPr id="4" name="Rounded Rectangle 3"/>
          <p:cNvSpPr/>
          <p:nvPr/>
        </p:nvSpPr>
        <p:spPr>
          <a:xfrm>
            <a:off x="777240" y="1536192"/>
            <a:ext cx="2560320" cy="4846320"/>
          </a:xfrm>
          <a:prstGeom prst="roundRect">
            <a:avLst>
              <a:gd name="adj" fmla="val 14000"/>
            </a:avLst>
          </a:prstGeom>
          <a:solidFill>
            <a:srgbClr val="13251C"/>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pic>
        <p:nvPicPr>
          <p:cNvPr id="5" name="Picture 4" descr="map_satellite.png"/>
          <p:cNvPicPr>
            <a:picLocks noChangeAspect="1"/>
          </p:cNvPicPr>
          <p:nvPr/>
        </p:nvPicPr>
        <p:blipFill>
          <a:blip r:embed="rId2"/>
          <a:stretch>
            <a:fillRect/>
          </a:stretch>
        </p:blipFill>
        <p:spPr>
          <a:xfrm>
            <a:off x="877824" y="1810512"/>
            <a:ext cx="2359151" cy="1327022"/>
          </a:xfrm>
          <a:prstGeom prst="rect">
            <a:avLst/>
          </a:prstGeom>
          <a:effectLst>
            <a:outerShdw blurRad="27432" dist="9144" dir="5400000" rotWithShape="0">
              <a:srgbClr val="13251C">
                <a:alpha val="8000"/>
              </a:srgbClr>
            </a:outerShdw>
          </a:effectLst>
        </p:spPr>
      </p:pic>
      <p:sp>
        <p:nvSpPr>
          <p:cNvPr id="6" name="Oval 5"/>
          <p:cNvSpPr/>
          <p:nvPr/>
        </p:nvSpPr>
        <p:spPr>
          <a:xfrm>
            <a:off x="1591056" y="2468880"/>
            <a:ext cx="457200" cy="457200"/>
          </a:xfrm>
          <a:prstGeom prst="ellipse">
            <a:avLst/>
          </a:prstGeom>
          <a:noFill/>
          <a:ln w="2032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Oval 6"/>
          <p:cNvSpPr/>
          <p:nvPr/>
        </p:nvSpPr>
        <p:spPr>
          <a:xfrm>
            <a:off x="1755648" y="2633472"/>
            <a:ext cx="137160" cy="137160"/>
          </a:xfrm>
          <a:prstGeom prst="ellipse">
            <a:avLst/>
          </a:prstGeom>
          <a:solidFill>
            <a:srgbClr val="FF7A00"/>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2176272" y="2066543"/>
            <a:ext cx="658368" cy="457200"/>
          </a:xfrm>
          <a:prstGeom prst="rect">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987552" y="3465576"/>
            <a:ext cx="2176271"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Parcelle #0042</a:t>
            </a:r>
          </a:p>
        </p:txBody>
      </p:sp>
      <p:sp>
        <p:nvSpPr>
          <p:cNvPr id="10" name="TextBox 9"/>
          <p:cNvSpPr txBox="1"/>
          <p:nvPr/>
        </p:nvSpPr>
        <p:spPr>
          <a:xfrm>
            <a:off x="987552" y="3739896"/>
            <a:ext cx="2176271" cy="237744"/>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4,2 ha · relevé GPS terminé</a:t>
            </a:r>
          </a:p>
        </p:txBody>
      </p:sp>
      <p:sp>
        <p:nvSpPr>
          <p:cNvPr id="11" name="Rounded Rectangle 10"/>
          <p:cNvSpPr/>
          <p:nvPr/>
        </p:nvSpPr>
        <p:spPr>
          <a:xfrm>
            <a:off x="987552" y="4032504"/>
            <a:ext cx="1554480" cy="365760"/>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007A3D"/>
                </a:solidFill>
                <a:latin typeface="Arial"/>
              </a:rPr>
              <a:t>Score 87 · Conforme</a:t>
            </a:r>
          </a:p>
        </p:txBody>
      </p:sp>
      <p:sp>
        <p:nvSpPr>
          <p:cNvPr id="12" name="Rounded Rectangle 11"/>
          <p:cNvSpPr/>
          <p:nvPr/>
        </p:nvSpPr>
        <p:spPr>
          <a:xfrm>
            <a:off x="987552" y="4507992"/>
            <a:ext cx="2139696" cy="384048"/>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FFFFFF"/>
                </a:solidFill>
                <a:latin typeface="Arial"/>
              </a:rPr>
              <a:t>Synchroniser le lot</a:t>
            </a:r>
          </a:p>
        </p:txBody>
      </p:sp>
      <p:sp>
        <p:nvSpPr>
          <p:cNvPr id="13" name="Rounded Rectangle 12"/>
          <p:cNvSpPr/>
          <p:nvPr/>
        </p:nvSpPr>
        <p:spPr>
          <a:xfrm>
            <a:off x="1828800" y="6254496"/>
            <a:ext cx="457200" cy="45720"/>
          </a:xfrm>
          <a:prstGeom prst="roundRect">
            <a:avLst>
              <a:gd name="adj" fmla="val 50000"/>
            </a:avLst>
          </a:prstGeom>
          <a:solidFill>
            <a:srgbClr val="3A4A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Rounded Rectangle 13"/>
          <p:cNvSpPr/>
          <p:nvPr/>
        </p:nvSpPr>
        <p:spPr>
          <a:xfrm>
            <a:off x="3794760" y="1627632"/>
            <a:ext cx="457200" cy="457200"/>
          </a:xfrm>
          <a:prstGeom prst="roundRect">
            <a:avLst>
              <a:gd name="adj" fmla="val 30000"/>
            </a:avLst>
          </a:prstGeom>
          <a:solidFill>
            <a:srgbClr val="FFFFFF"/>
          </a:solidFill>
          <a:ln w="17780">
            <a:solidFill>
              <a:srgbClr val="00A65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Oval 14"/>
          <p:cNvSpPr/>
          <p:nvPr/>
        </p:nvSpPr>
        <p:spPr>
          <a:xfrm>
            <a:off x="3895344" y="1728216"/>
            <a:ext cx="256032" cy="256032"/>
          </a:xfrm>
          <a:prstGeom prst="ellipse">
            <a:avLst/>
          </a:prstGeom>
          <a:noFill/>
          <a:ln w="20320">
            <a:solidFill>
              <a:srgbClr val="00A65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Oval 15"/>
          <p:cNvSpPr/>
          <p:nvPr/>
        </p:nvSpPr>
        <p:spPr>
          <a:xfrm>
            <a:off x="3982212" y="1815084"/>
            <a:ext cx="82296" cy="82296"/>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4453128" y="1645920"/>
            <a:ext cx="7178040" cy="502920"/>
          </a:xfrm>
          <a:prstGeom prst="rect">
            <a:avLst/>
          </a:prstGeom>
          <a:noFill/>
        </p:spPr>
        <p:txBody>
          <a:bodyPr wrap="square" anchor="ctr" lIns="0" rIns="0" tIns="0" bIns="0">
            <a:spAutoFit/>
          </a:bodyPr>
          <a:lstStyle/>
          <a:p>
            <a:pPr algn="l">
              <a:lnSpc>
                <a:spcPct val="108000"/>
              </a:lnSpc>
            </a:pPr>
            <a:r>
              <a:rPr sz="1200" b="0" i="0">
                <a:solidFill>
                  <a:srgbClr val="13251C"/>
                </a:solidFill>
                <a:latin typeface="Arial"/>
              </a:rPr>
              <a:t>Contour relevé en marchant, par sommets ou saisie manuelle</a:t>
            </a:r>
          </a:p>
        </p:txBody>
      </p:sp>
      <p:sp>
        <p:nvSpPr>
          <p:cNvPr id="18" name="Rounded Rectangle 17"/>
          <p:cNvSpPr/>
          <p:nvPr/>
        </p:nvSpPr>
        <p:spPr>
          <a:xfrm>
            <a:off x="3794760" y="2340864"/>
            <a:ext cx="457200" cy="457200"/>
          </a:xfrm>
          <a:prstGeom prst="roundRect">
            <a:avLst>
              <a:gd name="adj" fmla="val 30000"/>
            </a:avLst>
          </a:prstGeom>
          <a:solidFill>
            <a:srgbClr val="FFFFFF"/>
          </a:solidFill>
          <a:ln w="1778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Isosceles Triangle 18"/>
          <p:cNvSpPr/>
          <p:nvPr/>
        </p:nvSpPr>
        <p:spPr>
          <a:xfrm>
            <a:off x="3911437" y="2457541"/>
            <a:ext cx="223845" cy="204094"/>
          </a:xfrm>
          <a:prstGeom prst="triangl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TextBox 19"/>
          <p:cNvSpPr txBox="1"/>
          <p:nvPr/>
        </p:nvSpPr>
        <p:spPr>
          <a:xfrm>
            <a:off x="3957523" y="2529961"/>
            <a:ext cx="131673" cy="98755"/>
          </a:xfrm>
          <a:prstGeom prst="rect">
            <a:avLst/>
          </a:prstGeom>
          <a:noFill/>
        </p:spPr>
        <p:txBody>
          <a:bodyPr wrap="square" anchor="ctr" lIns="0" rIns="0" tIns="0" bIns="0">
            <a:spAutoFit/>
          </a:bodyPr>
          <a:lstStyle/>
          <a:p>
            <a:pPr algn="ctr">
              <a:lnSpc>
                <a:spcPct val="100000"/>
              </a:lnSpc>
            </a:pPr>
            <a:r>
              <a:rPr sz="576" b="1" i="0">
                <a:solidFill>
                  <a:srgbClr val="FFFFFF"/>
                </a:solidFill>
                <a:latin typeface="Arial"/>
              </a:rPr>
              <a:t>!</a:t>
            </a:r>
          </a:p>
        </p:txBody>
      </p:sp>
      <p:sp>
        <p:nvSpPr>
          <p:cNvPr id="21" name="TextBox 20"/>
          <p:cNvSpPr txBox="1"/>
          <p:nvPr/>
        </p:nvSpPr>
        <p:spPr>
          <a:xfrm>
            <a:off x="4453128" y="2359152"/>
            <a:ext cx="7178040" cy="502920"/>
          </a:xfrm>
          <a:prstGeom prst="rect">
            <a:avLst/>
          </a:prstGeom>
          <a:noFill/>
        </p:spPr>
        <p:txBody>
          <a:bodyPr wrap="square" anchor="ctr" lIns="0" rIns="0" tIns="0" bIns="0">
            <a:spAutoFit/>
          </a:bodyPr>
          <a:lstStyle/>
          <a:p>
            <a:pPr algn="l">
              <a:lnSpc>
                <a:spcPct val="108000"/>
              </a:lnSpc>
            </a:pPr>
            <a:r>
              <a:rPr sz="1200" b="0" i="0">
                <a:solidFill>
                  <a:srgbClr val="13251C"/>
                </a:solidFill>
                <a:latin typeface="Arial"/>
              </a:rPr>
              <a:t>Surface calculée en direct — alerte si aire protégée touchée</a:t>
            </a:r>
          </a:p>
        </p:txBody>
      </p:sp>
      <p:sp>
        <p:nvSpPr>
          <p:cNvPr id="22" name="Rounded Rectangle 21"/>
          <p:cNvSpPr/>
          <p:nvPr/>
        </p:nvSpPr>
        <p:spPr>
          <a:xfrm>
            <a:off x="3794760" y="3054096"/>
            <a:ext cx="457200" cy="457200"/>
          </a:xfrm>
          <a:prstGeom prst="roundRect">
            <a:avLst>
              <a:gd name="adj" fmla="val 30000"/>
            </a:avLst>
          </a:prstGeom>
          <a:solidFill>
            <a:srgbClr val="FFFFFF"/>
          </a:solidFill>
          <a:ln w="17780">
            <a:solidFill>
              <a:srgbClr val="007A3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3" name="Rectangle 22"/>
          <p:cNvSpPr/>
          <p:nvPr/>
        </p:nvSpPr>
        <p:spPr>
          <a:xfrm>
            <a:off x="3895344" y="3236976"/>
            <a:ext cx="256032" cy="91440"/>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Rectangle 23"/>
          <p:cNvSpPr/>
          <p:nvPr/>
        </p:nvSpPr>
        <p:spPr>
          <a:xfrm>
            <a:off x="4012387" y="3328415"/>
            <a:ext cx="21945" cy="54864"/>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Rectangle 24"/>
          <p:cNvSpPr/>
          <p:nvPr/>
        </p:nvSpPr>
        <p:spPr>
          <a:xfrm rot="2700000">
            <a:off x="3877056" y="3136391"/>
            <a:ext cx="27432" cy="310896"/>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6" name="TextBox 25"/>
          <p:cNvSpPr txBox="1"/>
          <p:nvPr/>
        </p:nvSpPr>
        <p:spPr>
          <a:xfrm>
            <a:off x="4453128" y="3072384"/>
            <a:ext cx="7178040" cy="502920"/>
          </a:xfrm>
          <a:prstGeom prst="rect">
            <a:avLst/>
          </a:prstGeom>
          <a:noFill/>
        </p:spPr>
        <p:txBody>
          <a:bodyPr wrap="square" anchor="ctr" lIns="0" rIns="0" tIns="0" bIns="0">
            <a:spAutoFit/>
          </a:bodyPr>
          <a:lstStyle/>
          <a:p>
            <a:pPr algn="l">
              <a:lnSpc>
                <a:spcPct val="108000"/>
              </a:lnSpc>
            </a:pPr>
            <a:r>
              <a:rPr sz="1200" b="0" i="0">
                <a:solidFill>
                  <a:srgbClr val="13251C"/>
                </a:solidFill>
                <a:latin typeface="Arial"/>
              </a:rPr>
              <a:t>100 % hors-ligne : tout est stocké en local (SQLite)</a:t>
            </a:r>
          </a:p>
        </p:txBody>
      </p:sp>
      <p:sp>
        <p:nvSpPr>
          <p:cNvPr id="27" name="Rounded Rectangle 26"/>
          <p:cNvSpPr/>
          <p:nvPr/>
        </p:nvSpPr>
        <p:spPr>
          <a:xfrm>
            <a:off x="3794760" y="3767328"/>
            <a:ext cx="457200" cy="457200"/>
          </a:xfrm>
          <a:prstGeom prst="roundRect">
            <a:avLst>
              <a:gd name="adj" fmla="val 30000"/>
            </a:avLst>
          </a:prstGeom>
          <a:solidFill>
            <a:srgbClr val="FFFFFF"/>
          </a:solidFill>
          <a:ln w="17780">
            <a:solidFill>
              <a:srgbClr val="D9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Up Arrow 27"/>
          <p:cNvSpPr/>
          <p:nvPr/>
        </p:nvSpPr>
        <p:spPr>
          <a:xfrm>
            <a:off x="3950208" y="3867912"/>
            <a:ext cx="146304" cy="256032"/>
          </a:xfrm>
          <a:prstGeom prst="upArrow">
            <a:avLst/>
          </a:prstGeom>
          <a:solidFill>
            <a:srgbClr val="D9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TextBox 28"/>
          <p:cNvSpPr txBox="1"/>
          <p:nvPr/>
        </p:nvSpPr>
        <p:spPr>
          <a:xfrm>
            <a:off x="4453128" y="3785615"/>
            <a:ext cx="7178040" cy="502920"/>
          </a:xfrm>
          <a:prstGeom prst="rect">
            <a:avLst/>
          </a:prstGeom>
          <a:noFill/>
        </p:spPr>
        <p:txBody>
          <a:bodyPr wrap="square" anchor="ctr" lIns="0" rIns="0" tIns="0" bIns="0">
            <a:spAutoFit/>
          </a:bodyPr>
          <a:lstStyle/>
          <a:p>
            <a:pPr algn="l">
              <a:lnSpc>
                <a:spcPct val="108000"/>
              </a:lnSpc>
            </a:pPr>
            <a:r>
              <a:rPr sz="1200" b="0" i="0">
                <a:solidFill>
                  <a:srgbClr val="13251C"/>
                </a:solidFill>
                <a:latin typeface="Arial"/>
              </a:rPr>
              <a:t>Sync en un lot idempotent dès que le réseau revient — zéro doublon</a:t>
            </a:r>
          </a:p>
        </p:txBody>
      </p:sp>
      <p:sp>
        <p:nvSpPr>
          <p:cNvPr id="30" name="TextBox 29"/>
          <p:cNvSpPr txBox="1"/>
          <p:nvPr/>
        </p:nvSpPr>
        <p:spPr>
          <a:xfrm>
            <a:off x="3794760" y="4617720"/>
            <a:ext cx="7772400" cy="274320"/>
          </a:xfrm>
          <a:prstGeom prst="rect">
            <a:avLst/>
          </a:prstGeom>
          <a:noFill/>
        </p:spPr>
        <p:txBody>
          <a:bodyPr wrap="square" anchor="t" lIns="0" rIns="0" tIns="0" bIns="0">
            <a:spAutoFit/>
          </a:bodyPr>
          <a:lstStyle/>
          <a:p>
            <a:pPr algn="l">
              <a:lnSpc>
                <a:spcPct val="100000"/>
              </a:lnSpc>
            </a:pPr>
            <a:r>
              <a:rPr sz="950" b="1" i="0" spc="120">
                <a:solidFill>
                  <a:srgbClr val="007A3D"/>
                </a:solidFill>
                <a:latin typeface="Arial"/>
              </a:rPr>
              <a:t>LE PARCOURS D'UNE DONNÉE TERRAIN</a:t>
            </a:r>
          </a:p>
        </p:txBody>
      </p:sp>
      <p:sp>
        <p:nvSpPr>
          <p:cNvPr id="31" name="Rounded Rectangle 30"/>
          <p:cNvSpPr/>
          <p:nvPr/>
        </p:nvSpPr>
        <p:spPr>
          <a:xfrm>
            <a:off x="3794760" y="4956048"/>
            <a:ext cx="175564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1">
                <a:solidFill>
                  <a:srgbClr val="3D4A43"/>
                </a:solidFill>
                <a:latin typeface="Arial"/>
              </a:rPr>
              <a:t>Terrain sans réseau</a:t>
            </a:r>
          </a:p>
        </p:txBody>
      </p:sp>
      <p:sp>
        <p:nvSpPr>
          <p:cNvPr id="32" name="Right Arrow 31"/>
          <p:cNvSpPr/>
          <p:nvPr/>
        </p:nvSpPr>
        <p:spPr>
          <a:xfrm>
            <a:off x="5564124" y="5102352"/>
            <a:ext cx="192024" cy="164592"/>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3" name="Rounded Rectangle 32"/>
          <p:cNvSpPr/>
          <p:nvPr/>
        </p:nvSpPr>
        <p:spPr>
          <a:xfrm>
            <a:off x="5879592" y="4956048"/>
            <a:ext cx="175564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1">
                <a:solidFill>
                  <a:srgbClr val="3D4A43"/>
                </a:solidFill>
                <a:latin typeface="Arial"/>
              </a:rPr>
              <a:t>SQLite locale</a:t>
            </a:r>
          </a:p>
        </p:txBody>
      </p:sp>
      <p:sp>
        <p:nvSpPr>
          <p:cNvPr id="34" name="Right Arrow 33"/>
          <p:cNvSpPr/>
          <p:nvPr/>
        </p:nvSpPr>
        <p:spPr>
          <a:xfrm>
            <a:off x="7648956" y="5102352"/>
            <a:ext cx="192024" cy="164592"/>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5" name="Rounded Rectangle 34"/>
          <p:cNvSpPr/>
          <p:nvPr/>
        </p:nvSpPr>
        <p:spPr>
          <a:xfrm>
            <a:off x="7964424" y="4956048"/>
            <a:ext cx="175564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1">
                <a:solidFill>
                  <a:srgbClr val="3D4A43"/>
                </a:solidFill>
                <a:latin typeface="Arial"/>
              </a:rPr>
              <a:t>Lot idempotent</a:t>
            </a:r>
          </a:p>
        </p:txBody>
      </p:sp>
      <p:sp>
        <p:nvSpPr>
          <p:cNvPr id="36" name="Right Arrow 35"/>
          <p:cNvSpPr/>
          <p:nvPr/>
        </p:nvSpPr>
        <p:spPr>
          <a:xfrm>
            <a:off x="9733788" y="5102352"/>
            <a:ext cx="192024" cy="164592"/>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7" name="Rounded Rectangle 36"/>
          <p:cNvSpPr/>
          <p:nvPr/>
        </p:nvSpPr>
        <p:spPr>
          <a:xfrm>
            <a:off x="10049256" y="4956048"/>
            <a:ext cx="1755648" cy="457200"/>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1">
                <a:solidFill>
                  <a:srgbClr val="007A3D"/>
                </a:solidFill>
                <a:latin typeface="Arial"/>
              </a:rPr>
              <a:t>API + PostGIS</a:t>
            </a:r>
          </a:p>
        </p:txBody>
      </p:sp>
      <p:sp>
        <p:nvSpPr>
          <p:cNvPr id="38" name="Rounded Rectangle 37"/>
          <p:cNvSpPr/>
          <p:nvPr/>
        </p:nvSpPr>
        <p:spPr>
          <a:xfrm>
            <a:off x="3794760" y="5650992"/>
            <a:ext cx="2514600" cy="402336"/>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D95E00"/>
                </a:solidFill>
                <a:latin typeface="Arial"/>
              </a:rPr>
              <a:t>3 modes de relevé</a:t>
            </a:r>
          </a:p>
        </p:txBody>
      </p:sp>
      <p:sp>
        <p:nvSpPr>
          <p:cNvPr id="39" name="Rounded Rectangle 38"/>
          <p:cNvSpPr/>
          <p:nvPr/>
        </p:nvSpPr>
        <p:spPr>
          <a:xfrm>
            <a:off x="6492240" y="5650992"/>
            <a:ext cx="2514600" cy="402336"/>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D95E00"/>
                </a:solidFill>
                <a:latin typeface="Arial"/>
              </a:rPr>
              <a:t>0 réseau requis</a:t>
            </a:r>
          </a:p>
        </p:txBody>
      </p:sp>
      <p:sp>
        <p:nvSpPr>
          <p:cNvPr id="40" name="Rounded Rectangle 39"/>
          <p:cNvSpPr/>
          <p:nvPr/>
        </p:nvSpPr>
        <p:spPr>
          <a:xfrm>
            <a:off x="9189720" y="5650992"/>
            <a:ext cx="2514600" cy="402336"/>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D95E00"/>
                </a:solidFill>
                <a:latin typeface="Arial"/>
              </a:rPr>
              <a:t>1 lot de sync</a:t>
            </a:r>
          </a:p>
        </p:txBody>
      </p:sp>
      <p:sp>
        <p:nvSpPr>
          <p:cNvPr id="41" name="Rectangle 40"/>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45" name="TextBox 44"/>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05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stCondLst>
                      <p:childTnLst>
                        <p:par>
                          <p:cTn id="12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380"/>
                                        <p:tgtEl>
                                          <p:spTgt spid="25"/>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380"/>
                                        <p:tgtEl>
                                          <p:spTgt spid="26"/>
                                        </p:tgtEl>
                                      </p:cBhvr>
                                    </p:animEffect>
                                  </p:childTnLst>
                                </p:cTn>
                              </p:par>
                              <p:par>
                                <p:cTn id="78" presetID="10" presetClass="entr" presetSubtype="0" fill="hold" grpId="0" nodeType="afterEffect">
                                  <p:stCondLst>
                                    <p:cond delay="13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380"/>
                                        <p:tgtEl>
                                          <p:spTgt spid="27"/>
                                        </p:tgtEl>
                                      </p:cBhvr>
                                    </p:animEffect>
                                  </p:childTnLst>
                                </p:cTn>
                              </p:par>
                              <p:par>
                                <p:cTn id="81" presetID="10" presetClass="entr" presetSubtype="0" fill="hold" grpId="0" nodeType="afterEffect">
                                  <p:stCondLst>
                                    <p:cond delay="13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80"/>
                                        <p:tgtEl>
                                          <p:spTgt spid="28"/>
                                        </p:tgtEl>
                                      </p:cBhvr>
                                    </p:animEffect>
                                  </p:childTnLst>
                                </p:cTn>
                              </p:par>
                              <p:par>
                                <p:cTn id="84" presetID="10" presetClass="entr" presetSubtype="0" fill="hold" grpId="0" nodeType="afterEffect">
                                  <p:stCondLst>
                                    <p:cond delay="13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380"/>
                                        <p:tgtEl>
                                          <p:spTgt spid="29"/>
                                        </p:tgtEl>
                                      </p:cBhvr>
                                    </p:animEffect>
                                  </p:childTnLst>
                                </p:cTn>
                              </p:par>
                              <p:par>
                                <p:cTn id="87" presetID="10" presetClass="entr" presetSubtype="0" fill="hold" grpId="0" nodeType="afterEffect">
                                  <p:stCondLst>
                                    <p:cond delay="13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380"/>
                                        <p:tgtEl>
                                          <p:spTgt spid="30"/>
                                        </p:tgtEl>
                                      </p:cBhvr>
                                    </p:animEffect>
                                  </p:childTnLst>
                                </p:cTn>
                              </p:par>
                              <p:par>
                                <p:cTn id="90" presetID="10" presetClass="entr" presetSubtype="0" fill="hold" grpId="0" nodeType="afterEffect">
                                  <p:stCondLst>
                                    <p:cond delay="13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380"/>
                                        <p:tgtEl>
                                          <p:spTgt spid="31"/>
                                        </p:tgtEl>
                                      </p:cBhvr>
                                    </p:animEffect>
                                  </p:childTnLst>
                                </p:cTn>
                              </p:par>
                              <p:par>
                                <p:cTn id="93" presetID="10" presetClass="entr" presetSubtype="0" fill="hold" grpId="0" nodeType="afterEffect">
                                  <p:stCondLst>
                                    <p:cond delay="13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380"/>
                                        <p:tgtEl>
                                          <p:spTgt spid="32"/>
                                        </p:tgtEl>
                                      </p:cBhvr>
                                    </p:animEffect>
                                  </p:childTnLst>
                                </p:cTn>
                              </p:par>
                              <p:par>
                                <p:cTn id="96" presetID="10" presetClass="entr" presetSubtype="0" fill="hold" grpId="0" nodeType="afterEffect">
                                  <p:stCondLst>
                                    <p:cond delay="13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380"/>
                                        <p:tgtEl>
                                          <p:spTgt spid="33"/>
                                        </p:tgtEl>
                                      </p:cBhvr>
                                    </p:animEffect>
                                  </p:childTnLst>
                                </p:cTn>
                              </p:par>
                              <p:par>
                                <p:cTn id="99" presetID="10" presetClass="entr" presetSubtype="0" fill="hold" grpId="0" nodeType="afterEffect">
                                  <p:stCondLst>
                                    <p:cond delay="13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380"/>
                                        <p:tgtEl>
                                          <p:spTgt spid="34"/>
                                        </p:tgtEl>
                                      </p:cBhvr>
                                    </p:animEffect>
                                  </p:childTnLst>
                                </p:cTn>
                              </p:par>
                              <p:par>
                                <p:cTn id="102" presetID="10" presetClass="entr" presetSubtype="0" fill="hold" grpId="0" nodeType="afterEffect">
                                  <p:stCondLst>
                                    <p:cond delay="13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380"/>
                                        <p:tgtEl>
                                          <p:spTgt spid="35"/>
                                        </p:tgtEl>
                                      </p:cBhvr>
                                    </p:animEffect>
                                  </p:childTnLst>
                                </p:cTn>
                              </p:par>
                              <p:par>
                                <p:cTn id="105" presetID="10" presetClass="entr" presetSubtype="0" fill="hold" grpId="0" nodeType="afterEffect">
                                  <p:stCondLst>
                                    <p:cond delay="13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380"/>
                                        <p:tgtEl>
                                          <p:spTgt spid="36"/>
                                        </p:tgtEl>
                                      </p:cBhvr>
                                    </p:animEffect>
                                  </p:childTnLst>
                                </p:cTn>
                              </p:par>
                              <p:par>
                                <p:cTn id="108" presetID="10" presetClass="entr" presetSubtype="0" fill="hold" grpId="0" nodeType="afterEffect">
                                  <p:stCondLst>
                                    <p:cond delay="130"/>
                                  </p:stCondLst>
                                  <p:childTnLst>
                                    <p:set>
                                      <p:cBhvr>
                                        <p:cTn id="109" dur="1" fill="hold">
                                          <p:stCondLst>
                                            <p:cond delay="0"/>
                                          </p:stCondLst>
                                        </p:cTn>
                                        <p:tgtEl>
                                          <p:spTgt spid="37"/>
                                        </p:tgtEl>
                                        <p:attrNameLst>
                                          <p:attrName>style.visibility</p:attrName>
                                        </p:attrNameLst>
                                      </p:cBhvr>
                                      <p:to>
                                        <p:strVal val="visible"/>
                                      </p:to>
                                    </p:set>
                                    <p:animEffect transition="in" filter="fade">
                                      <p:cBhvr>
                                        <p:cTn id="110" dur="380"/>
                                        <p:tgtEl>
                                          <p:spTgt spid="37"/>
                                        </p:tgtEl>
                                      </p:cBhvr>
                                    </p:animEffect>
                                  </p:childTnLst>
                                </p:cTn>
                              </p:par>
                              <p:par>
                                <p:cTn id="111" presetID="10" presetClass="entr" presetSubtype="0" fill="hold" grpId="0" nodeType="afterEffect">
                                  <p:stCondLst>
                                    <p:cond delay="13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3" dur="380"/>
                                        <p:tgtEl>
                                          <p:spTgt spid="38"/>
                                        </p:tgtEl>
                                      </p:cBhvr>
                                    </p:animEffect>
                                  </p:childTnLst>
                                </p:cTn>
                              </p:par>
                              <p:par>
                                <p:cTn id="114" presetID="10" presetClass="entr" presetSubtype="0" fill="hold" grpId="0" nodeType="afterEffect">
                                  <p:stCondLst>
                                    <p:cond delay="13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380"/>
                                        <p:tgtEl>
                                          <p:spTgt spid="39"/>
                                        </p:tgtEl>
                                      </p:cBhvr>
                                    </p:animEffect>
                                  </p:childTnLst>
                                </p:cTn>
                              </p:par>
                              <p:par>
                                <p:cTn id="117" presetID="10" presetClass="entr" presetSubtype="0" fill="hold" grpId="0" nodeType="afterEffect">
                                  <p:stCondLst>
                                    <p:cond delay="13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380"/>
                                        <p:tgtEl>
                                          <p:spTgt spid="40"/>
                                        </p:tgtEl>
                                      </p:cBhvr>
                                    </p:animEffect>
                                  </p:childTnLst>
                                </p:cTn>
                              </p:par>
                              <p:par>
                                <p:cTn id="120" presetID="10" presetClass="entr" presetSubtype="0" fill="hold" grpId="0" nodeType="afterEffect">
                                  <p:stCondLst>
                                    <p:cond delay="13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80"/>
                                        <p:tgtEl>
                                          <p:spTgt spid="44"/>
                                        </p:tgtEl>
                                      </p:cBhvr>
                                    </p:animEffect>
                                  </p:childTnLst>
                                </p:cTn>
                              </p:par>
                              <p:par>
                                <p:cTn id="123" presetID="10" presetClass="entr" presetSubtype="0" fill="hold" grpId="0" nodeType="afterEffect">
                                  <p:stCondLst>
                                    <p:cond delay="13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8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02 · BACKEND &amp; DONNÉES</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Un socle géospatial ouvert et interopérable</a:t>
            </a:r>
          </a:p>
        </p:txBody>
      </p:sp>
      <p:sp>
        <p:nvSpPr>
          <p:cNvPr id="4" name="TextBox 3"/>
          <p:cNvSpPr txBox="1"/>
          <p:nvPr/>
        </p:nvSpPr>
        <p:spPr>
          <a:xfrm>
            <a:off x="3218688" y="1481328"/>
            <a:ext cx="5486400" cy="256032"/>
          </a:xfrm>
          <a:prstGeom prst="rect">
            <a:avLst/>
          </a:prstGeom>
          <a:noFill/>
        </p:spPr>
        <p:txBody>
          <a:bodyPr wrap="square" anchor="t" lIns="0" rIns="0" tIns="0" bIns="0">
            <a:spAutoFit/>
          </a:bodyPr>
          <a:lstStyle/>
          <a:p>
            <a:pPr algn="ctr">
              <a:lnSpc>
                <a:spcPct val="100000"/>
              </a:lnSpc>
            </a:pPr>
            <a:r>
              <a:rPr sz="950" b="1" i="0" spc="120">
                <a:solidFill>
                  <a:srgbClr val="007A3D"/>
                </a:solidFill>
                <a:latin typeface="Arial"/>
              </a:rPr>
              <a:t>SOURCES SATELLITE PUBLIQUES</a:t>
            </a:r>
          </a:p>
        </p:txBody>
      </p:sp>
      <p:sp>
        <p:nvSpPr>
          <p:cNvPr id="5" name="Rounded Rectangle 4"/>
          <p:cNvSpPr/>
          <p:nvPr/>
        </p:nvSpPr>
        <p:spPr>
          <a:xfrm>
            <a:off x="2532888" y="1783080"/>
            <a:ext cx="2212848" cy="420624"/>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D95E00"/>
                </a:solidFill>
                <a:latin typeface="Arial"/>
              </a:rPr>
              <a:t>Sentinel-2 (Copernicus)</a:t>
            </a:r>
          </a:p>
        </p:txBody>
      </p:sp>
      <p:sp>
        <p:nvSpPr>
          <p:cNvPr id="6" name="Down Arrow 5"/>
          <p:cNvSpPr/>
          <p:nvPr/>
        </p:nvSpPr>
        <p:spPr>
          <a:xfrm>
            <a:off x="3566160" y="2249424"/>
            <a:ext cx="146304" cy="256032"/>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Rounded Rectangle 6"/>
          <p:cNvSpPr/>
          <p:nvPr/>
        </p:nvSpPr>
        <p:spPr>
          <a:xfrm>
            <a:off x="4855464" y="1783080"/>
            <a:ext cx="2212848" cy="420624"/>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D95E00"/>
                </a:solidFill>
                <a:latin typeface="Arial"/>
              </a:rPr>
              <a:t>Hansen / Global Forest Watch</a:t>
            </a:r>
          </a:p>
        </p:txBody>
      </p:sp>
      <p:sp>
        <p:nvSpPr>
          <p:cNvPr id="8" name="Down Arrow 7"/>
          <p:cNvSpPr/>
          <p:nvPr/>
        </p:nvSpPr>
        <p:spPr>
          <a:xfrm>
            <a:off x="5888736" y="2249424"/>
            <a:ext cx="146304" cy="256032"/>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ounded Rectangle 8"/>
          <p:cNvSpPr/>
          <p:nvPr/>
        </p:nvSpPr>
        <p:spPr>
          <a:xfrm>
            <a:off x="7178040" y="1783080"/>
            <a:ext cx="2212848" cy="420624"/>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D95E00"/>
                </a:solidFill>
                <a:latin typeface="Arial"/>
              </a:rPr>
              <a:t>Digital Earth Africa</a:t>
            </a:r>
          </a:p>
        </p:txBody>
      </p:sp>
      <p:sp>
        <p:nvSpPr>
          <p:cNvPr id="10" name="Down Arrow 9"/>
          <p:cNvSpPr/>
          <p:nvPr/>
        </p:nvSpPr>
        <p:spPr>
          <a:xfrm>
            <a:off x="8211311" y="2249424"/>
            <a:ext cx="146304" cy="256032"/>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Rounded Rectangle 10"/>
          <p:cNvSpPr/>
          <p:nvPr/>
        </p:nvSpPr>
        <p:spPr>
          <a:xfrm>
            <a:off x="566928" y="2788920"/>
            <a:ext cx="2286000" cy="128016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TextBox 11"/>
          <p:cNvSpPr txBox="1"/>
          <p:nvPr/>
        </p:nvSpPr>
        <p:spPr>
          <a:xfrm>
            <a:off x="749808" y="2953512"/>
            <a:ext cx="1920240" cy="292608"/>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App mobile</a:t>
            </a:r>
          </a:p>
        </p:txBody>
      </p:sp>
      <p:sp>
        <p:nvSpPr>
          <p:cNvPr id="13" name="TextBox 12"/>
          <p:cNvSpPr txBox="1"/>
          <p:nvPr/>
        </p:nvSpPr>
        <p:spPr>
          <a:xfrm>
            <a:off x="749808" y="3264408"/>
            <a:ext cx="1920240" cy="685800"/>
          </a:xfrm>
          <a:prstGeom prst="rect">
            <a:avLst/>
          </a:prstGeom>
          <a:noFill/>
        </p:spPr>
        <p:txBody>
          <a:bodyPr wrap="square" anchor="t" lIns="0" rIns="0" tIns="0" bIns="0">
            <a:spAutoFit/>
          </a:bodyPr>
          <a:lstStyle/>
          <a:p>
            <a:pPr algn="l">
              <a:lnSpc>
                <a:spcPct val="110000"/>
              </a:lnSpc>
            </a:pPr>
            <a:r>
              <a:rPr sz="900" b="0" i="0">
                <a:solidFill>
                  <a:srgbClr val="3D4A43"/>
                </a:solidFill>
                <a:latin typeface="Arial"/>
              </a:rPr>
              <a:t>relevés GPS hors-ligne, sync par lot</a:t>
            </a:r>
          </a:p>
        </p:txBody>
      </p:sp>
      <p:sp>
        <p:nvSpPr>
          <p:cNvPr id="14" name="Right Arrow 13"/>
          <p:cNvSpPr/>
          <p:nvPr/>
        </p:nvSpPr>
        <p:spPr>
          <a:xfrm>
            <a:off x="2926080" y="3246120"/>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Rounded Rectangle 14"/>
          <p:cNvSpPr/>
          <p:nvPr/>
        </p:nvSpPr>
        <p:spPr>
          <a:xfrm>
            <a:off x="566928" y="4270248"/>
            <a:ext cx="2286000" cy="128016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TextBox 15"/>
          <p:cNvSpPr txBox="1"/>
          <p:nvPr/>
        </p:nvSpPr>
        <p:spPr>
          <a:xfrm>
            <a:off x="749808" y="4434840"/>
            <a:ext cx="1920240" cy="292608"/>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Dashboard web</a:t>
            </a:r>
          </a:p>
        </p:txBody>
      </p:sp>
      <p:sp>
        <p:nvSpPr>
          <p:cNvPr id="17" name="TextBox 16"/>
          <p:cNvSpPr txBox="1"/>
          <p:nvPr/>
        </p:nvSpPr>
        <p:spPr>
          <a:xfrm>
            <a:off x="749808" y="4745736"/>
            <a:ext cx="1920240" cy="685800"/>
          </a:xfrm>
          <a:prstGeom prst="rect">
            <a:avLst/>
          </a:prstGeom>
          <a:noFill/>
        </p:spPr>
        <p:txBody>
          <a:bodyPr wrap="square" anchor="t" lIns="0" rIns="0" tIns="0" bIns="0">
            <a:spAutoFit/>
          </a:bodyPr>
          <a:lstStyle/>
          <a:p>
            <a:pPr algn="l">
              <a:lnSpc>
                <a:spcPct val="110000"/>
              </a:lnSpc>
            </a:pPr>
            <a:r>
              <a:rPr sz="900" b="0" i="0">
                <a:solidFill>
                  <a:srgbClr val="3D4A43"/>
                </a:solidFill>
                <a:latin typeface="Arial"/>
              </a:rPr>
              <a:t>consultation, KPIs, rapports</a:t>
            </a:r>
          </a:p>
        </p:txBody>
      </p:sp>
      <p:sp>
        <p:nvSpPr>
          <p:cNvPr id="18" name="Right Arrow 17"/>
          <p:cNvSpPr/>
          <p:nvPr/>
        </p:nvSpPr>
        <p:spPr>
          <a:xfrm>
            <a:off x="2926080" y="4727448"/>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Rounded Rectangle 18"/>
          <p:cNvSpPr/>
          <p:nvPr/>
        </p:nvSpPr>
        <p:spPr>
          <a:xfrm>
            <a:off x="3218688" y="2724912"/>
            <a:ext cx="5486400" cy="3017520"/>
          </a:xfrm>
          <a:prstGeom prst="roundRect">
            <a:avLst>
              <a:gd name="adj" fmla="val 5000"/>
            </a:avLst>
          </a:prstGeom>
          <a:solidFill>
            <a:srgbClr val="FFFFFF"/>
          </a:solidFill>
          <a:ln w="19050">
            <a:solidFill>
              <a:srgbClr val="00A651"/>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Rounded Rectangle 19"/>
          <p:cNvSpPr/>
          <p:nvPr/>
        </p:nvSpPr>
        <p:spPr>
          <a:xfrm>
            <a:off x="3346704" y="2834640"/>
            <a:ext cx="5230368" cy="402336"/>
          </a:xfrm>
          <a:prstGeom prst="roundRect">
            <a:avLst>
              <a:gd name="adj" fmla="val 16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150" b="1">
                <a:solidFill>
                  <a:srgbClr val="007A3D"/>
                </a:solidFill>
                <a:latin typeface="Arial"/>
              </a:rPr>
              <a:t>API Flask + PostGIS — le socle CacaoSat</a:t>
            </a:r>
          </a:p>
        </p:txBody>
      </p:sp>
      <p:sp>
        <p:nvSpPr>
          <p:cNvPr id="21" name="Rounded Rectangle 20"/>
          <p:cNvSpPr/>
          <p:nvPr/>
        </p:nvSpPr>
        <p:spPr>
          <a:xfrm>
            <a:off x="3346704" y="3346704"/>
            <a:ext cx="2560320" cy="1024128"/>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TextBox 21"/>
          <p:cNvSpPr txBox="1"/>
          <p:nvPr/>
        </p:nvSpPr>
        <p:spPr>
          <a:xfrm>
            <a:off x="3493008" y="3456432"/>
            <a:ext cx="228600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Moteur satellite</a:t>
            </a:r>
          </a:p>
        </p:txBody>
      </p:sp>
      <p:sp>
        <p:nvSpPr>
          <p:cNvPr id="23" name="TextBox 22"/>
          <p:cNvSpPr txBox="1"/>
          <p:nvPr/>
        </p:nvSpPr>
        <p:spPr>
          <a:xfrm>
            <a:off x="3493008" y="3749040"/>
            <a:ext cx="2286000" cy="548640"/>
          </a:xfrm>
          <a:prstGeom prst="rect">
            <a:avLst/>
          </a:prstGeom>
          <a:noFill/>
        </p:spPr>
        <p:txBody>
          <a:bodyPr wrap="square" anchor="t" lIns="0" rIns="0" tIns="0" bIns="0">
            <a:spAutoFit/>
          </a:bodyPr>
          <a:lstStyle/>
          <a:p>
            <a:pPr algn="l">
              <a:lnSpc>
                <a:spcPct val="108000"/>
              </a:lnSpc>
            </a:pPr>
            <a:r>
              <a:rPr sz="850" b="0" i="0">
                <a:solidFill>
                  <a:srgbClr val="3D4A43"/>
                </a:solidFill>
                <a:latin typeface="Arial"/>
              </a:rPr>
              <a:t>analyse Sentinel-2 / Hansen / DEA</a:t>
            </a:r>
          </a:p>
        </p:txBody>
      </p:sp>
      <p:sp>
        <p:nvSpPr>
          <p:cNvPr id="24" name="Rounded Rectangle 23"/>
          <p:cNvSpPr/>
          <p:nvPr/>
        </p:nvSpPr>
        <p:spPr>
          <a:xfrm>
            <a:off x="6016752" y="3346704"/>
            <a:ext cx="2560320" cy="1024128"/>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TextBox 24"/>
          <p:cNvSpPr txBox="1"/>
          <p:nvPr/>
        </p:nvSpPr>
        <p:spPr>
          <a:xfrm>
            <a:off x="6163056" y="3456432"/>
            <a:ext cx="228600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Scoring EUDR</a:t>
            </a:r>
          </a:p>
        </p:txBody>
      </p:sp>
      <p:sp>
        <p:nvSpPr>
          <p:cNvPr id="26" name="TextBox 25"/>
          <p:cNvSpPr txBox="1"/>
          <p:nvPr/>
        </p:nvSpPr>
        <p:spPr>
          <a:xfrm>
            <a:off x="6163056" y="3749040"/>
            <a:ext cx="2286000" cy="548640"/>
          </a:xfrm>
          <a:prstGeom prst="rect">
            <a:avLst/>
          </a:prstGeom>
          <a:noFill/>
        </p:spPr>
        <p:txBody>
          <a:bodyPr wrap="square" anchor="t" lIns="0" rIns="0" tIns="0" bIns="0">
            <a:spAutoFit/>
          </a:bodyPr>
          <a:lstStyle/>
          <a:p>
            <a:pPr algn="l">
              <a:lnSpc>
                <a:spcPct val="108000"/>
              </a:lnSpc>
            </a:pPr>
            <a:r>
              <a:rPr sz="850" b="0" i="0">
                <a:solidFill>
                  <a:srgbClr val="3D4A43"/>
                </a:solidFill>
                <a:latin typeface="Arial"/>
              </a:rPr>
              <a:t>5 facteurs pondérés, score /100</a:t>
            </a:r>
          </a:p>
        </p:txBody>
      </p:sp>
      <p:sp>
        <p:nvSpPr>
          <p:cNvPr id="27" name="Rounded Rectangle 26"/>
          <p:cNvSpPr/>
          <p:nvPr/>
        </p:nvSpPr>
        <p:spPr>
          <a:xfrm>
            <a:off x="3346704" y="4480560"/>
            <a:ext cx="2560320" cy="1024128"/>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TextBox 27"/>
          <p:cNvSpPr txBox="1"/>
          <p:nvPr/>
        </p:nvSpPr>
        <p:spPr>
          <a:xfrm>
            <a:off x="3493008" y="4590288"/>
            <a:ext cx="228600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Rapports</a:t>
            </a:r>
          </a:p>
        </p:txBody>
      </p:sp>
      <p:sp>
        <p:nvSpPr>
          <p:cNvPr id="29" name="TextBox 28"/>
          <p:cNvSpPr txBox="1"/>
          <p:nvPr/>
        </p:nvSpPr>
        <p:spPr>
          <a:xfrm>
            <a:off x="3493008" y="4882896"/>
            <a:ext cx="2286000" cy="548640"/>
          </a:xfrm>
          <a:prstGeom prst="rect">
            <a:avLst/>
          </a:prstGeom>
          <a:noFill/>
        </p:spPr>
        <p:txBody>
          <a:bodyPr wrap="square" anchor="t" lIns="0" rIns="0" tIns="0" bIns="0">
            <a:spAutoFit/>
          </a:bodyPr>
          <a:lstStyle/>
          <a:p>
            <a:pPr algn="l">
              <a:lnSpc>
                <a:spcPct val="108000"/>
              </a:lnSpc>
            </a:pPr>
            <a:r>
              <a:rPr sz="850" b="0" i="0">
                <a:solidFill>
                  <a:srgbClr val="3D4A43"/>
                </a:solidFill>
                <a:latin typeface="Arial"/>
              </a:rPr>
              <a:t>PDF + GeoJSON + empreinte SHA-256</a:t>
            </a:r>
          </a:p>
        </p:txBody>
      </p:sp>
      <p:sp>
        <p:nvSpPr>
          <p:cNvPr id="30" name="Rounded Rectangle 29"/>
          <p:cNvSpPr/>
          <p:nvPr/>
        </p:nvSpPr>
        <p:spPr>
          <a:xfrm>
            <a:off x="6016752" y="4480560"/>
            <a:ext cx="2560320" cy="1024128"/>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1" name="TextBox 30"/>
          <p:cNvSpPr txBox="1"/>
          <p:nvPr/>
        </p:nvSpPr>
        <p:spPr>
          <a:xfrm>
            <a:off x="6163056" y="4590288"/>
            <a:ext cx="228600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Alertes</a:t>
            </a:r>
          </a:p>
        </p:txBody>
      </p:sp>
      <p:sp>
        <p:nvSpPr>
          <p:cNvPr id="32" name="TextBox 31"/>
          <p:cNvSpPr txBox="1"/>
          <p:nvPr/>
        </p:nvSpPr>
        <p:spPr>
          <a:xfrm>
            <a:off x="6163056" y="4882896"/>
            <a:ext cx="2286000" cy="548640"/>
          </a:xfrm>
          <a:prstGeom prst="rect">
            <a:avLst/>
          </a:prstGeom>
          <a:noFill/>
        </p:spPr>
        <p:txBody>
          <a:bodyPr wrap="square" anchor="t" lIns="0" rIns="0" tIns="0" bIns="0">
            <a:spAutoFit/>
          </a:bodyPr>
          <a:lstStyle/>
          <a:p>
            <a:pPr algn="l">
              <a:lnSpc>
                <a:spcPct val="108000"/>
              </a:lnSpc>
            </a:pPr>
            <a:r>
              <a:rPr sz="850" b="0" i="0">
                <a:solidFill>
                  <a:srgbClr val="3D4A43"/>
                </a:solidFill>
                <a:latin typeface="Arial"/>
              </a:rPr>
              <a:t>détection continue, notifications</a:t>
            </a:r>
          </a:p>
        </p:txBody>
      </p:sp>
      <p:sp>
        <p:nvSpPr>
          <p:cNvPr id="33" name="Right Arrow 32"/>
          <p:cNvSpPr/>
          <p:nvPr/>
        </p:nvSpPr>
        <p:spPr>
          <a:xfrm>
            <a:off x="8778240" y="3044952"/>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4" name="Rounded Rectangle 33"/>
          <p:cNvSpPr/>
          <p:nvPr/>
        </p:nvSpPr>
        <p:spPr>
          <a:xfrm>
            <a:off x="9089136" y="2788920"/>
            <a:ext cx="2542032"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5" name="TextBox 34"/>
          <p:cNvSpPr txBox="1"/>
          <p:nvPr/>
        </p:nvSpPr>
        <p:spPr>
          <a:xfrm>
            <a:off x="9272016" y="2880360"/>
            <a:ext cx="219456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Certificat</a:t>
            </a:r>
          </a:p>
        </p:txBody>
      </p:sp>
      <p:sp>
        <p:nvSpPr>
          <p:cNvPr id="36" name="TextBox 35"/>
          <p:cNvSpPr txBox="1"/>
          <p:nvPr/>
        </p:nvSpPr>
        <p:spPr>
          <a:xfrm>
            <a:off x="9272016" y="3154679"/>
            <a:ext cx="2194560" cy="457200"/>
          </a:xfrm>
          <a:prstGeom prst="rect">
            <a:avLst/>
          </a:prstGeom>
          <a:noFill/>
        </p:spPr>
        <p:txBody>
          <a:bodyPr wrap="square" anchor="t" lIns="0" rIns="0" tIns="0" bIns="0">
            <a:spAutoFit/>
          </a:bodyPr>
          <a:lstStyle/>
          <a:p>
            <a:pPr algn="l">
              <a:lnSpc>
                <a:spcPct val="105000"/>
              </a:lnSpc>
            </a:pPr>
            <a:r>
              <a:rPr sz="850" b="0" i="0">
                <a:solidFill>
                  <a:srgbClr val="3D4A43"/>
                </a:solidFill>
                <a:latin typeface="Arial"/>
              </a:rPr>
              <a:t>PDF + GeoJSON exportables</a:t>
            </a:r>
          </a:p>
        </p:txBody>
      </p:sp>
      <p:sp>
        <p:nvSpPr>
          <p:cNvPr id="37" name="Right Arrow 36"/>
          <p:cNvSpPr/>
          <p:nvPr/>
        </p:nvSpPr>
        <p:spPr>
          <a:xfrm>
            <a:off x="8778240" y="4069080"/>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8" name="Rounded Rectangle 37"/>
          <p:cNvSpPr/>
          <p:nvPr/>
        </p:nvSpPr>
        <p:spPr>
          <a:xfrm>
            <a:off x="9089136" y="3813048"/>
            <a:ext cx="2542032"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9" name="TextBox 38"/>
          <p:cNvSpPr txBox="1"/>
          <p:nvPr/>
        </p:nvSpPr>
        <p:spPr>
          <a:xfrm>
            <a:off x="9272016" y="3904487"/>
            <a:ext cx="219456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Tableaux de bord</a:t>
            </a:r>
          </a:p>
        </p:txBody>
      </p:sp>
      <p:sp>
        <p:nvSpPr>
          <p:cNvPr id="40" name="TextBox 39"/>
          <p:cNvSpPr txBox="1"/>
          <p:nvPr/>
        </p:nvSpPr>
        <p:spPr>
          <a:xfrm>
            <a:off x="9272016" y="4178808"/>
            <a:ext cx="2194560" cy="457200"/>
          </a:xfrm>
          <a:prstGeom prst="rect">
            <a:avLst/>
          </a:prstGeom>
          <a:noFill/>
        </p:spPr>
        <p:txBody>
          <a:bodyPr wrap="square" anchor="t" lIns="0" rIns="0" tIns="0" bIns="0">
            <a:spAutoFit/>
          </a:bodyPr>
          <a:lstStyle/>
          <a:p>
            <a:pPr algn="l">
              <a:lnSpc>
                <a:spcPct val="105000"/>
              </a:lnSpc>
            </a:pPr>
            <a:r>
              <a:rPr sz="850" b="0" i="0">
                <a:solidFill>
                  <a:srgbClr val="3D4A43"/>
                </a:solidFill>
                <a:latin typeface="Arial"/>
              </a:rPr>
              <a:t>KPIs conformité en direct</a:t>
            </a:r>
          </a:p>
        </p:txBody>
      </p:sp>
      <p:sp>
        <p:nvSpPr>
          <p:cNvPr id="41" name="Right Arrow 40"/>
          <p:cNvSpPr/>
          <p:nvPr/>
        </p:nvSpPr>
        <p:spPr>
          <a:xfrm>
            <a:off x="8778240" y="5093208"/>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2" name="Rounded Rectangle 41"/>
          <p:cNvSpPr/>
          <p:nvPr/>
        </p:nvSpPr>
        <p:spPr>
          <a:xfrm>
            <a:off x="9089136" y="4837176"/>
            <a:ext cx="2542032"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3" name="TextBox 42"/>
          <p:cNvSpPr txBox="1"/>
          <p:nvPr/>
        </p:nvSpPr>
        <p:spPr>
          <a:xfrm>
            <a:off x="9272016" y="4928616"/>
            <a:ext cx="219456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Alertes précoces</a:t>
            </a:r>
          </a:p>
        </p:txBody>
      </p:sp>
      <p:sp>
        <p:nvSpPr>
          <p:cNvPr id="44" name="TextBox 43"/>
          <p:cNvSpPr txBox="1"/>
          <p:nvPr/>
        </p:nvSpPr>
        <p:spPr>
          <a:xfrm>
            <a:off x="9272016" y="5202936"/>
            <a:ext cx="2194560" cy="457200"/>
          </a:xfrm>
          <a:prstGeom prst="rect">
            <a:avLst/>
          </a:prstGeom>
          <a:noFill/>
        </p:spPr>
        <p:txBody>
          <a:bodyPr wrap="square" anchor="t" lIns="0" rIns="0" tIns="0" bIns="0">
            <a:spAutoFit/>
          </a:bodyPr>
          <a:lstStyle/>
          <a:p>
            <a:pPr algn="l">
              <a:lnSpc>
                <a:spcPct val="105000"/>
              </a:lnSpc>
            </a:pPr>
            <a:r>
              <a:rPr sz="850" b="0" i="0">
                <a:solidFill>
                  <a:srgbClr val="3D4A43"/>
                </a:solidFill>
                <a:latin typeface="Arial"/>
              </a:rPr>
              <a:t>SMS / e-mail, acquittement</a:t>
            </a:r>
          </a:p>
        </p:txBody>
      </p:sp>
      <p:sp>
        <p:nvSpPr>
          <p:cNvPr id="45" name="Rounded Rectangle 44"/>
          <p:cNvSpPr/>
          <p:nvPr/>
        </p:nvSpPr>
        <p:spPr>
          <a:xfrm>
            <a:off x="630936"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34 routes API</a:t>
            </a:r>
          </a:p>
        </p:txBody>
      </p:sp>
      <p:sp>
        <p:nvSpPr>
          <p:cNvPr id="46" name="Rounded Rectangle 45"/>
          <p:cNvSpPr/>
          <p:nvPr/>
        </p:nvSpPr>
        <p:spPr>
          <a:xfrm>
            <a:off x="2843784"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JWT + audit</a:t>
            </a:r>
          </a:p>
        </p:txBody>
      </p:sp>
      <p:sp>
        <p:nvSpPr>
          <p:cNvPr id="47" name="Rounded Rectangle 46"/>
          <p:cNvSpPr/>
          <p:nvPr/>
        </p:nvSpPr>
        <p:spPr>
          <a:xfrm>
            <a:off x="5056632"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PostGIS</a:t>
            </a:r>
          </a:p>
        </p:txBody>
      </p:sp>
      <p:sp>
        <p:nvSpPr>
          <p:cNvPr id="48" name="Rounded Rectangle 47"/>
          <p:cNvSpPr/>
          <p:nvPr/>
        </p:nvSpPr>
        <p:spPr>
          <a:xfrm>
            <a:off x="7269480"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100 % open source</a:t>
            </a:r>
          </a:p>
        </p:txBody>
      </p:sp>
      <p:sp>
        <p:nvSpPr>
          <p:cNvPr id="49" name="Rounded Rectangle 48"/>
          <p:cNvSpPr/>
          <p:nvPr/>
        </p:nvSpPr>
        <p:spPr>
          <a:xfrm>
            <a:off x="9482328"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Mock déterministe</a:t>
            </a:r>
          </a:p>
        </p:txBody>
      </p:sp>
      <p:sp>
        <p:nvSpPr>
          <p:cNvPr id="50" name="Rectangle 49"/>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54" name="TextBox 53"/>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06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3" fill="hold">
                      <p:stCondLst>
                        <p:cond delay="indefinite"/>
                      </p:stCondLst>
                      <p:childTnLst>
                        <p:par>
                          <p:cTn id="15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380"/>
                                        <p:tgtEl>
                                          <p:spTgt spid="25"/>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380"/>
                                        <p:tgtEl>
                                          <p:spTgt spid="26"/>
                                        </p:tgtEl>
                                      </p:cBhvr>
                                    </p:animEffect>
                                  </p:childTnLst>
                                </p:cTn>
                              </p:par>
                              <p:par>
                                <p:cTn id="78" presetID="10" presetClass="entr" presetSubtype="0" fill="hold" grpId="0" nodeType="afterEffect">
                                  <p:stCondLst>
                                    <p:cond delay="13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380"/>
                                        <p:tgtEl>
                                          <p:spTgt spid="27"/>
                                        </p:tgtEl>
                                      </p:cBhvr>
                                    </p:animEffect>
                                  </p:childTnLst>
                                </p:cTn>
                              </p:par>
                              <p:par>
                                <p:cTn id="81" presetID="10" presetClass="entr" presetSubtype="0" fill="hold" grpId="0" nodeType="afterEffect">
                                  <p:stCondLst>
                                    <p:cond delay="13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80"/>
                                        <p:tgtEl>
                                          <p:spTgt spid="28"/>
                                        </p:tgtEl>
                                      </p:cBhvr>
                                    </p:animEffect>
                                  </p:childTnLst>
                                </p:cTn>
                              </p:par>
                              <p:par>
                                <p:cTn id="84" presetID="10" presetClass="entr" presetSubtype="0" fill="hold" grpId="0" nodeType="afterEffect">
                                  <p:stCondLst>
                                    <p:cond delay="13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380"/>
                                        <p:tgtEl>
                                          <p:spTgt spid="29"/>
                                        </p:tgtEl>
                                      </p:cBhvr>
                                    </p:animEffect>
                                  </p:childTnLst>
                                </p:cTn>
                              </p:par>
                              <p:par>
                                <p:cTn id="87" presetID="10" presetClass="entr" presetSubtype="0" fill="hold" grpId="0" nodeType="afterEffect">
                                  <p:stCondLst>
                                    <p:cond delay="13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380"/>
                                        <p:tgtEl>
                                          <p:spTgt spid="30"/>
                                        </p:tgtEl>
                                      </p:cBhvr>
                                    </p:animEffect>
                                  </p:childTnLst>
                                </p:cTn>
                              </p:par>
                              <p:par>
                                <p:cTn id="90" presetID="10" presetClass="entr" presetSubtype="0" fill="hold" grpId="0" nodeType="afterEffect">
                                  <p:stCondLst>
                                    <p:cond delay="13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380"/>
                                        <p:tgtEl>
                                          <p:spTgt spid="31"/>
                                        </p:tgtEl>
                                      </p:cBhvr>
                                    </p:animEffect>
                                  </p:childTnLst>
                                </p:cTn>
                              </p:par>
                              <p:par>
                                <p:cTn id="93" presetID="10" presetClass="entr" presetSubtype="0" fill="hold" grpId="0" nodeType="afterEffect">
                                  <p:stCondLst>
                                    <p:cond delay="13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380"/>
                                        <p:tgtEl>
                                          <p:spTgt spid="32"/>
                                        </p:tgtEl>
                                      </p:cBhvr>
                                    </p:animEffect>
                                  </p:childTnLst>
                                </p:cTn>
                              </p:par>
                              <p:par>
                                <p:cTn id="96" presetID="10" presetClass="entr" presetSubtype="0" fill="hold" grpId="0" nodeType="afterEffect">
                                  <p:stCondLst>
                                    <p:cond delay="13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380"/>
                                        <p:tgtEl>
                                          <p:spTgt spid="33"/>
                                        </p:tgtEl>
                                      </p:cBhvr>
                                    </p:animEffect>
                                  </p:childTnLst>
                                </p:cTn>
                              </p:par>
                              <p:par>
                                <p:cTn id="99" presetID="10" presetClass="entr" presetSubtype="0" fill="hold" grpId="0" nodeType="afterEffect">
                                  <p:stCondLst>
                                    <p:cond delay="13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380"/>
                                        <p:tgtEl>
                                          <p:spTgt spid="34"/>
                                        </p:tgtEl>
                                      </p:cBhvr>
                                    </p:animEffect>
                                  </p:childTnLst>
                                </p:cTn>
                              </p:par>
                              <p:par>
                                <p:cTn id="102" presetID="10" presetClass="entr" presetSubtype="0" fill="hold" grpId="0" nodeType="afterEffect">
                                  <p:stCondLst>
                                    <p:cond delay="13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380"/>
                                        <p:tgtEl>
                                          <p:spTgt spid="35"/>
                                        </p:tgtEl>
                                      </p:cBhvr>
                                    </p:animEffect>
                                  </p:childTnLst>
                                </p:cTn>
                              </p:par>
                              <p:par>
                                <p:cTn id="105" presetID="10" presetClass="entr" presetSubtype="0" fill="hold" grpId="0" nodeType="afterEffect">
                                  <p:stCondLst>
                                    <p:cond delay="13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380"/>
                                        <p:tgtEl>
                                          <p:spTgt spid="36"/>
                                        </p:tgtEl>
                                      </p:cBhvr>
                                    </p:animEffect>
                                  </p:childTnLst>
                                </p:cTn>
                              </p:par>
                              <p:par>
                                <p:cTn id="108" presetID="10" presetClass="entr" presetSubtype="0" fill="hold" grpId="0" nodeType="afterEffect">
                                  <p:stCondLst>
                                    <p:cond delay="130"/>
                                  </p:stCondLst>
                                  <p:childTnLst>
                                    <p:set>
                                      <p:cBhvr>
                                        <p:cTn id="109" dur="1" fill="hold">
                                          <p:stCondLst>
                                            <p:cond delay="0"/>
                                          </p:stCondLst>
                                        </p:cTn>
                                        <p:tgtEl>
                                          <p:spTgt spid="37"/>
                                        </p:tgtEl>
                                        <p:attrNameLst>
                                          <p:attrName>style.visibility</p:attrName>
                                        </p:attrNameLst>
                                      </p:cBhvr>
                                      <p:to>
                                        <p:strVal val="visible"/>
                                      </p:to>
                                    </p:set>
                                    <p:animEffect transition="in" filter="fade">
                                      <p:cBhvr>
                                        <p:cTn id="110" dur="380"/>
                                        <p:tgtEl>
                                          <p:spTgt spid="37"/>
                                        </p:tgtEl>
                                      </p:cBhvr>
                                    </p:animEffect>
                                  </p:childTnLst>
                                </p:cTn>
                              </p:par>
                              <p:par>
                                <p:cTn id="111" presetID="10" presetClass="entr" presetSubtype="0" fill="hold" grpId="0" nodeType="afterEffect">
                                  <p:stCondLst>
                                    <p:cond delay="13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3" dur="380"/>
                                        <p:tgtEl>
                                          <p:spTgt spid="38"/>
                                        </p:tgtEl>
                                      </p:cBhvr>
                                    </p:animEffect>
                                  </p:childTnLst>
                                </p:cTn>
                              </p:par>
                              <p:par>
                                <p:cTn id="114" presetID="10" presetClass="entr" presetSubtype="0" fill="hold" grpId="0" nodeType="afterEffect">
                                  <p:stCondLst>
                                    <p:cond delay="13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380"/>
                                        <p:tgtEl>
                                          <p:spTgt spid="39"/>
                                        </p:tgtEl>
                                      </p:cBhvr>
                                    </p:animEffect>
                                  </p:childTnLst>
                                </p:cTn>
                              </p:par>
                              <p:par>
                                <p:cTn id="117" presetID="10" presetClass="entr" presetSubtype="0" fill="hold" grpId="0" nodeType="afterEffect">
                                  <p:stCondLst>
                                    <p:cond delay="13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380"/>
                                        <p:tgtEl>
                                          <p:spTgt spid="40"/>
                                        </p:tgtEl>
                                      </p:cBhvr>
                                    </p:animEffect>
                                  </p:childTnLst>
                                </p:cTn>
                              </p:par>
                              <p:par>
                                <p:cTn id="120" presetID="10" presetClass="entr" presetSubtype="0" fill="hold" grpId="0" nodeType="afterEffect">
                                  <p:stCondLst>
                                    <p:cond delay="13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380"/>
                                        <p:tgtEl>
                                          <p:spTgt spid="41"/>
                                        </p:tgtEl>
                                      </p:cBhvr>
                                    </p:animEffect>
                                  </p:childTnLst>
                                </p:cTn>
                              </p:par>
                              <p:par>
                                <p:cTn id="123" presetID="10" presetClass="entr" presetSubtype="0" fill="hold" grpId="0" nodeType="afterEffect">
                                  <p:stCondLst>
                                    <p:cond delay="13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380"/>
                                        <p:tgtEl>
                                          <p:spTgt spid="42"/>
                                        </p:tgtEl>
                                      </p:cBhvr>
                                    </p:animEffect>
                                  </p:childTnLst>
                                </p:cTn>
                              </p:par>
                              <p:par>
                                <p:cTn id="126" presetID="10" presetClass="entr" presetSubtype="0" fill="hold" grpId="0" nodeType="afterEffect">
                                  <p:stCondLst>
                                    <p:cond delay="13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380"/>
                                        <p:tgtEl>
                                          <p:spTgt spid="43"/>
                                        </p:tgtEl>
                                      </p:cBhvr>
                                    </p:animEffect>
                                  </p:childTnLst>
                                </p:cTn>
                              </p:par>
                              <p:par>
                                <p:cTn id="129" presetID="10" presetClass="entr" presetSubtype="0" fill="hold" grpId="0" nodeType="afterEffect">
                                  <p:stCondLst>
                                    <p:cond delay="13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380"/>
                                        <p:tgtEl>
                                          <p:spTgt spid="44"/>
                                        </p:tgtEl>
                                      </p:cBhvr>
                                    </p:animEffect>
                                  </p:childTnLst>
                                </p:cTn>
                              </p:par>
                              <p:par>
                                <p:cTn id="132" presetID="10" presetClass="entr" presetSubtype="0" fill="hold" grpId="0" nodeType="afterEffect">
                                  <p:stCondLst>
                                    <p:cond delay="130"/>
                                  </p:stCondLst>
                                  <p:childTnLst>
                                    <p:set>
                                      <p:cBhvr>
                                        <p:cTn id="133" dur="1" fill="hold">
                                          <p:stCondLst>
                                            <p:cond delay="0"/>
                                          </p:stCondLst>
                                        </p:cTn>
                                        <p:tgtEl>
                                          <p:spTgt spid="45"/>
                                        </p:tgtEl>
                                        <p:attrNameLst>
                                          <p:attrName>style.visibility</p:attrName>
                                        </p:attrNameLst>
                                      </p:cBhvr>
                                      <p:to>
                                        <p:strVal val="visible"/>
                                      </p:to>
                                    </p:set>
                                    <p:animEffect transition="in" filter="fade">
                                      <p:cBhvr>
                                        <p:cTn id="134" dur="380"/>
                                        <p:tgtEl>
                                          <p:spTgt spid="45"/>
                                        </p:tgtEl>
                                      </p:cBhvr>
                                    </p:animEffect>
                                  </p:childTnLst>
                                </p:cTn>
                              </p:par>
                              <p:par>
                                <p:cTn id="135" presetID="10" presetClass="entr" presetSubtype="0" fill="hold" grpId="0" nodeType="afterEffect">
                                  <p:stCondLst>
                                    <p:cond delay="130"/>
                                  </p:stCondLst>
                                  <p:childTnLst>
                                    <p:set>
                                      <p:cBhvr>
                                        <p:cTn id="136" dur="1" fill="hold">
                                          <p:stCondLst>
                                            <p:cond delay="0"/>
                                          </p:stCondLst>
                                        </p:cTn>
                                        <p:tgtEl>
                                          <p:spTgt spid="46"/>
                                        </p:tgtEl>
                                        <p:attrNameLst>
                                          <p:attrName>style.visibility</p:attrName>
                                        </p:attrNameLst>
                                      </p:cBhvr>
                                      <p:to>
                                        <p:strVal val="visible"/>
                                      </p:to>
                                    </p:set>
                                    <p:animEffect transition="in" filter="fade">
                                      <p:cBhvr>
                                        <p:cTn id="137" dur="380"/>
                                        <p:tgtEl>
                                          <p:spTgt spid="46"/>
                                        </p:tgtEl>
                                      </p:cBhvr>
                                    </p:animEffect>
                                  </p:childTnLst>
                                </p:cTn>
                              </p:par>
                              <p:par>
                                <p:cTn id="138" presetID="10" presetClass="entr" presetSubtype="0" fill="hold" grpId="0" nodeType="afterEffect">
                                  <p:stCondLst>
                                    <p:cond delay="130"/>
                                  </p:stCondLst>
                                  <p:childTnLst>
                                    <p:set>
                                      <p:cBhvr>
                                        <p:cTn id="139" dur="1" fill="hold">
                                          <p:stCondLst>
                                            <p:cond delay="0"/>
                                          </p:stCondLst>
                                        </p:cTn>
                                        <p:tgtEl>
                                          <p:spTgt spid="47"/>
                                        </p:tgtEl>
                                        <p:attrNameLst>
                                          <p:attrName>style.visibility</p:attrName>
                                        </p:attrNameLst>
                                      </p:cBhvr>
                                      <p:to>
                                        <p:strVal val="visible"/>
                                      </p:to>
                                    </p:set>
                                    <p:animEffect transition="in" filter="fade">
                                      <p:cBhvr>
                                        <p:cTn id="140" dur="380"/>
                                        <p:tgtEl>
                                          <p:spTgt spid="47"/>
                                        </p:tgtEl>
                                      </p:cBhvr>
                                    </p:animEffect>
                                  </p:childTnLst>
                                </p:cTn>
                              </p:par>
                              <p:par>
                                <p:cTn id="141" presetID="10" presetClass="entr" presetSubtype="0" fill="hold" grpId="0" nodeType="afterEffect">
                                  <p:stCondLst>
                                    <p:cond delay="130"/>
                                  </p:stCondLst>
                                  <p:childTnLst>
                                    <p:set>
                                      <p:cBhvr>
                                        <p:cTn id="142" dur="1" fill="hold">
                                          <p:stCondLst>
                                            <p:cond delay="0"/>
                                          </p:stCondLst>
                                        </p:cTn>
                                        <p:tgtEl>
                                          <p:spTgt spid="48"/>
                                        </p:tgtEl>
                                        <p:attrNameLst>
                                          <p:attrName>style.visibility</p:attrName>
                                        </p:attrNameLst>
                                      </p:cBhvr>
                                      <p:to>
                                        <p:strVal val="visible"/>
                                      </p:to>
                                    </p:set>
                                    <p:animEffect transition="in" filter="fade">
                                      <p:cBhvr>
                                        <p:cTn id="143" dur="380"/>
                                        <p:tgtEl>
                                          <p:spTgt spid="48"/>
                                        </p:tgtEl>
                                      </p:cBhvr>
                                    </p:animEffect>
                                  </p:childTnLst>
                                </p:cTn>
                              </p:par>
                              <p:par>
                                <p:cTn id="144" presetID="10" presetClass="entr" presetSubtype="0" fill="hold" grpId="0" nodeType="afterEffect">
                                  <p:stCondLst>
                                    <p:cond delay="13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380"/>
                                        <p:tgtEl>
                                          <p:spTgt spid="49"/>
                                        </p:tgtEl>
                                      </p:cBhvr>
                                    </p:animEffect>
                                  </p:childTnLst>
                                </p:cTn>
                              </p:par>
                              <p:par>
                                <p:cTn id="147" presetID="10" presetClass="entr" presetSubtype="0" fill="hold" grpId="0" nodeType="afterEffect">
                                  <p:stCondLst>
                                    <p:cond delay="13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380"/>
                                        <p:tgtEl>
                                          <p:spTgt spid="53"/>
                                        </p:tgtEl>
                                      </p:cBhvr>
                                    </p:animEffect>
                                  </p:childTnLst>
                                </p:cTn>
                              </p:par>
                              <p:par>
                                <p:cTn id="150" presetID="10" presetClass="entr" presetSubtype="0" fill="hold" grpId="0" nodeType="afterEffect">
                                  <p:stCondLst>
                                    <p:cond delay="130"/>
                                  </p:stCondLst>
                                  <p:childTnLst>
                                    <p:set>
                                      <p:cBhvr>
                                        <p:cTn id="151" dur="1" fill="hold">
                                          <p:stCondLst>
                                            <p:cond delay="0"/>
                                          </p:stCondLst>
                                        </p:cTn>
                                        <p:tgtEl>
                                          <p:spTgt spid="54"/>
                                        </p:tgtEl>
                                        <p:attrNameLst>
                                          <p:attrName>style.visibility</p:attrName>
                                        </p:attrNameLst>
                                      </p:cBhvr>
                                      <p:to>
                                        <p:strVal val="visible"/>
                                      </p:to>
                                    </p:set>
                                    <p:animEffect transition="in" filter="fade">
                                      <p:cBhvr>
                                        <p:cTn id="152" dur="38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03 · ANALYSE &amp; SCORING</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Un score EUDR explicable, facteur par facteur</a:t>
            </a:r>
          </a:p>
        </p:txBody>
      </p:sp>
      <p:sp>
        <p:nvSpPr>
          <p:cNvPr id="4" name="Rounded Rectangle 3"/>
          <p:cNvSpPr/>
          <p:nvPr/>
        </p:nvSpPr>
        <p:spPr>
          <a:xfrm>
            <a:off x="566928" y="1481328"/>
            <a:ext cx="6720840" cy="4323946"/>
          </a:xfrm>
          <a:prstGeom prst="roundRect">
            <a:avLst>
              <a:gd name="adj" fmla="val 4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Rectangle 4"/>
          <p:cNvSpPr/>
          <p:nvPr/>
        </p:nvSpPr>
        <p:spPr>
          <a:xfrm>
            <a:off x="580644" y="1495044"/>
            <a:ext cx="6693407" cy="329184"/>
          </a:xfrm>
          <a:prstGeom prst="rect">
            <a:avLst/>
          </a:prstGeom>
          <a:solidFill>
            <a:srgbClr val="F1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Oval 5"/>
          <p:cNvSpPr/>
          <p:nvPr/>
        </p:nvSpPr>
        <p:spPr>
          <a:xfrm>
            <a:off x="694944"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Oval 6"/>
          <p:cNvSpPr/>
          <p:nvPr/>
        </p:nvSpPr>
        <p:spPr>
          <a:xfrm>
            <a:off x="850392"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Oval 7"/>
          <p:cNvSpPr/>
          <p:nvPr/>
        </p:nvSpPr>
        <p:spPr>
          <a:xfrm>
            <a:off x="1005840"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ounded Rectangle 8"/>
          <p:cNvSpPr/>
          <p:nvPr/>
        </p:nvSpPr>
        <p:spPr>
          <a:xfrm>
            <a:off x="1133856" y="1545336"/>
            <a:ext cx="6007607" cy="201168"/>
          </a:xfrm>
          <a:prstGeom prst="roundRect">
            <a:avLst>
              <a:gd name="adj" fmla="val 50000"/>
            </a:avLst>
          </a:prstGeom>
          <a:solidFill>
            <a:srgbClr val="FFFFFF"/>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lnSpc>
                <a:spcPct val="100000"/>
              </a:lnSpc>
            </a:pPr>
            <a:r>
              <a:rPr sz="800" b="0">
                <a:solidFill>
                  <a:srgbClr val="6B7A70"/>
                </a:solidFill>
                <a:latin typeface="Arial"/>
              </a:rPr>
              <a:t>cacaosat.ci/parcelles/COOPCA-GUIGLO-0004</a:t>
            </a:r>
          </a:p>
        </p:txBody>
      </p:sp>
      <p:pic>
        <p:nvPicPr>
          <p:cNvPr id="10" name="Picture 9" descr="parcel-detail.jpg"/>
          <p:cNvPicPr>
            <a:picLocks noChangeAspect="1"/>
          </p:cNvPicPr>
          <p:nvPr/>
        </p:nvPicPr>
        <p:blipFill>
          <a:blip r:embed="rId2"/>
          <a:stretch>
            <a:fillRect/>
          </a:stretch>
        </p:blipFill>
        <p:spPr>
          <a:xfrm>
            <a:off x="585216" y="1828800"/>
            <a:ext cx="6684264" cy="3976474"/>
          </a:xfrm>
          <a:prstGeom prst="rect">
            <a:avLst/>
          </a:prstGeom>
          <a:effectLst>
            <a:outerShdw blurRad="54864" dist="18288" dir="5400000" rotWithShape="0">
              <a:srgbClr val="13251C">
                <a:alpha val="10000"/>
              </a:srgbClr>
            </a:outerShdw>
          </a:effectLst>
        </p:spPr>
      </p:pic>
      <p:sp>
        <p:nvSpPr>
          <p:cNvPr id="11" name="TextBox 10"/>
          <p:cNvSpPr txBox="1"/>
          <p:nvPr/>
        </p:nvSpPr>
        <p:spPr>
          <a:xfrm>
            <a:off x="566928" y="5915002"/>
            <a:ext cx="672084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Détail parcelle : carte satellite, jauge de score, facteurs, série NDVI</a:t>
            </a:r>
          </a:p>
        </p:txBody>
      </p:sp>
      <p:sp>
        <p:nvSpPr>
          <p:cNvPr id="12" name="TextBox 11"/>
          <p:cNvSpPr txBox="1"/>
          <p:nvPr/>
        </p:nvSpPr>
        <p:spPr>
          <a:xfrm>
            <a:off x="7635240" y="1572768"/>
            <a:ext cx="3977639"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Les 5 facteurs du score EUDR</a:t>
            </a:r>
          </a:p>
        </p:txBody>
      </p:sp>
      <p:sp>
        <p:nvSpPr>
          <p:cNvPr id="13" name="TextBox 12"/>
          <p:cNvSpPr txBox="1"/>
          <p:nvPr/>
        </p:nvSpPr>
        <p:spPr>
          <a:xfrm>
            <a:off x="7635240" y="2029968"/>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Déforestation post-2020</a:t>
            </a:r>
          </a:p>
        </p:txBody>
      </p:sp>
      <p:sp>
        <p:nvSpPr>
          <p:cNvPr id="14" name="TextBox 13"/>
          <p:cNvSpPr txBox="1"/>
          <p:nvPr/>
        </p:nvSpPr>
        <p:spPr>
          <a:xfrm>
            <a:off x="10744200" y="2011680"/>
            <a:ext cx="868680" cy="256032"/>
          </a:xfrm>
          <a:prstGeom prst="rect">
            <a:avLst/>
          </a:prstGeom>
          <a:noFill/>
        </p:spPr>
        <p:txBody>
          <a:bodyPr wrap="square" anchor="t" lIns="0" rIns="0" tIns="0" bIns="0">
            <a:spAutoFit/>
          </a:bodyPr>
          <a:lstStyle/>
          <a:p>
            <a:pPr algn="r">
              <a:lnSpc>
                <a:spcPct val="100000"/>
              </a:lnSpc>
            </a:pPr>
            <a:r>
              <a:rPr sz="1050" b="1" i="0">
                <a:solidFill>
                  <a:srgbClr val="FF7A00"/>
                </a:solidFill>
                <a:latin typeface="Arial"/>
              </a:rPr>
              <a:t>45 pts</a:t>
            </a:r>
          </a:p>
        </p:txBody>
      </p:sp>
      <p:sp>
        <p:nvSpPr>
          <p:cNvPr id="15" name="Rounded Rectangle 14"/>
          <p:cNvSpPr/>
          <p:nvPr/>
        </p:nvSpPr>
        <p:spPr>
          <a:xfrm>
            <a:off x="7635240" y="2304288"/>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Rounded Rectangle 15"/>
          <p:cNvSpPr/>
          <p:nvPr/>
        </p:nvSpPr>
        <p:spPr>
          <a:xfrm>
            <a:off x="7635240" y="2304288"/>
            <a:ext cx="3977639" cy="128016"/>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7635240" y="2606040"/>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Recouvrement aire protégée</a:t>
            </a:r>
          </a:p>
        </p:txBody>
      </p:sp>
      <p:sp>
        <p:nvSpPr>
          <p:cNvPr id="18" name="TextBox 17"/>
          <p:cNvSpPr txBox="1"/>
          <p:nvPr/>
        </p:nvSpPr>
        <p:spPr>
          <a:xfrm>
            <a:off x="10744200" y="2587752"/>
            <a:ext cx="868680" cy="256032"/>
          </a:xfrm>
          <a:prstGeom prst="rect">
            <a:avLst/>
          </a:prstGeom>
          <a:noFill/>
        </p:spPr>
        <p:txBody>
          <a:bodyPr wrap="square" anchor="t" lIns="0" rIns="0" tIns="0" bIns="0">
            <a:spAutoFit/>
          </a:bodyPr>
          <a:lstStyle/>
          <a:p>
            <a:pPr algn="r">
              <a:lnSpc>
                <a:spcPct val="100000"/>
              </a:lnSpc>
            </a:pPr>
            <a:r>
              <a:rPr sz="1050" b="1" i="0">
                <a:solidFill>
                  <a:srgbClr val="00A651"/>
                </a:solidFill>
                <a:latin typeface="Arial"/>
              </a:rPr>
              <a:t>20 pts</a:t>
            </a:r>
          </a:p>
        </p:txBody>
      </p:sp>
      <p:sp>
        <p:nvSpPr>
          <p:cNvPr id="19" name="Rounded Rectangle 18"/>
          <p:cNvSpPr/>
          <p:nvPr/>
        </p:nvSpPr>
        <p:spPr>
          <a:xfrm>
            <a:off x="7635240" y="2880360"/>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Rounded Rectangle 19"/>
          <p:cNvSpPr/>
          <p:nvPr/>
        </p:nvSpPr>
        <p:spPr>
          <a:xfrm>
            <a:off x="7635240" y="2880360"/>
            <a:ext cx="1767840" cy="128016"/>
          </a:xfrm>
          <a:prstGeom prst="roundRect">
            <a:avLst>
              <a:gd name="adj" fmla="val 50000"/>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TextBox 20"/>
          <p:cNvSpPr txBox="1"/>
          <p:nvPr/>
        </p:nvSpPr>
        <p:spPr>
          <a:xfrm>
            <a:off x="7635240" y="3182112"/>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Tendance NDVI / dégradation</a:t>
            </a:r>
          </a:p>
        </p:txBody>
      </p:sp>
      <p:sp>
        <p:nvSpPr>
          <p:cNvPr id="22" name="TextBox 21"/>
          <p:cNvSpPr txBox="1"/>
          <p:nvPr/>
        </p:nvSpPr>
        <p:spPr>
          <a:xfrm>
            <a:off x="10744200" y="3163824"/>
            <a:ext cx="868680" cy="256032"/>
          </a:xfrm>
          <a:prstGeom prst="rect">
            <a:avLst/>
          </a:prstGeom>
          <a:noFill/>
        </p:spPr>
        <p:txBody>
          <a:bodyPr wrap="square" anchor="t" lIns="0" rIns="0" tIns="0" bIns="0">
            <a:spAutoFit/>
          </a:bodyPr>
          <a:lstStyle/>
          <a:p>
            <a:pPr algn="r">
              <a:lnSpc>
                <a:spcPct val="100000"/>
              </a:lnSpc>
            </a:pPr>
            <a:r>
              <a:rPr sz="1050" b="1" i="0">
                <a:solidFill>
                  <a:srgbClr val="00A651"/>
                </a:solidFill>
                <a:latin typeface="Arial"/>
              </a:rPr>
              <a:t>15 pts</a:t>
            </a:r>
          </a:p>
        </p:txBody>
      </p:sp>
      <p:sp>
        <p:nvSpPr>
          <p:cNvPr id="23" name="Rounded Rectangle 22"/>
          <p:cNvSpPr/>
          <p:nvPr/>
        </p:nvSpPr>
        <p:spPr>
          <a:xfrm>
            <a:off x="7635240" y="3456432"/>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Rounded Rectangle 23"/>
          <p:cNvSpPr/>
          <p:nvPr/>
        </p:nvSpPr>
        <p:spPr>
          <a:xfrm>
            <a:off x="7635240" y="3456432"/>
            <a:ext cx="1325880" cy="128016"/>
          </a:xfrm>
          <a:prstGeom prst="roundRect">
            <a:avLst>
              <a:gd name="adj" fmla="val 50000"/>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TextBox 24"/>
          <p:cNvSpPr txBox="1"/>
          <p:nvPr/>
        </p:nvSpPr>
        <p:spPr>
          <a:xfrm>
            <a:off x="7635240" y="3758184"/>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Complétude des données</a:t>
            </a:r>
          </a:p>
        </p:txBody>
      </p:sp>
      <p:sp>
        <p:nvSpPr>
          <p:cNvPr id="26" name="TextBox 25"/>
          <p:cNvSpPr txBox="1"/>
          <p:nvPr/>
        </p:nvSpPr>
        <p:spPr>
          <a:xfrm>
            <a:off x="10744200" y="3739896"/>
            <a:ext cx="868680" cy="256032"/>
          </a:xfrm>
          <a:prstGeom prst="rect">
            <a:avLst/>
          </a:prstGeom>
          <a:noFill/>
        </p:spPr>
        <p:txBody>
          <a:bodyPr wrap="square" anchor="t" lIns="0" rIns="0" tIns="0" bIns="0">
            <a:spAutoFit/>
          </a:bodyPr>
          <a:lstStyle/>
          <a:p>
            <a:pPr algn="r">
              <a:lnSpc>
                <a:spcPct val="100000"/>
              </a:lnSpc>
            </a:pPr>
            <a:r>
              <a:rPr sz="1050" b="1" i="0">
                <a:solidFill>
                  <a:srgbClr val="007A3D"/>
                </a:solidFill>
                <a:latin typeface="Arial"/>
              </a:rPr>
              <a:t>10 pts</a:t>
            </a:r>
          </a:p>
        </p:txBody>
      </p:sp>
      <p:sp>
        <p:nvSpPr>
          <p:cNvPr id="27" name="Rounded Rectangle 26"/>
          <p:cNvSpPr/>
          <p:nvPr/>
        </p:nvSpPr>
        <p:spPr>
          <a:xfrm>
            <a:off x="7635240" y="4032504"/>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Rounded Rectangle 27"/>
          <p:cNvSpPr/>
          <p:nvPr/>
        </p:nvSpPr>
        <p:spPr>
          <a:xfrm>
            <a:off x="7635240" y="4032504"/>
            <a:ext cx="883920" cy="128016"/>
          </a:xfrm>
          <a:prstGeom prst="roundRect">
            <a:avLst>
              <a:gd name="adj" fmla="val 50000"/>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TextBox 28"/>
          <p:cNvSpPr txBox="1"/>
          <p:nvPr/>
        </p:nvSpPr>
        <p:spPr>
          <a:xfrm>
            <a:off x="7635240" y="4334256"/>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Qualité du relevé GPS</a:t>
            </a:r>
          </a:p>
        </p:txBody>
      </p:sp>
      <p:sp>
        <p:nvSpPr>
          <p:cNvPr id="30" name="TextBox 29"/>
          <p:cNvSpPr txBox="1"/>
          <p:nvPr/>
        </p:nvSpPr>
        <p:spPr>
          <a:xfrm>
            <a:off x="10744200" y="4315968"/>
            <a:ext cx="868680" cy="256032"/>
          </a:xfrm>
          <a:prstGeom prst="rect">
            <a:avLst/>
          </a:prstGeom>
          <a:noFill/>
        </p:spPr>
        <p:txBody>
          <a:bodyPr wrap="square" anchor="t" lIns="0" rIns="0" tIns="0" bIns="0">
            <a:spAutoFit/>
          </a:bodyPr>
          <a:lstStyle/>
          <a:p>
            <a:pPr algn="r">
              <a:lnSpc>
                <a:spcPct val="100000"/>
              </a:lnSpc>
            </a:pPr>
            <a:r>
              <a:rPr sz="1050" b="1" i="0">
                <a:solidFill>
                  <a:srgbClr val="007A3D"/>
                </a:solidFill>
                <a:latin typeface="Arial"/>
              </a:rPr>
              <a:t>10 pts</a:t>
            </a:r>
          </a:p>
        </p:txBody>
      </p:sp>
      <p:sp>
        <p:nvSpPr>
          <p:cNvPr id="31" name="Rounded Rectangle 30"/>
          <p:cNvSpPr/>
          <p:nvPr/>
        </p:nvSpPr>
        <p:spPr>
          <a:xfrm>
            <a:off x="7635240" y="4608576"/>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2" name="Rounded Rectangle 31"/>
          <p:cNvSpPr/>
          <p:nvPr/>
        </p:nvSpPr>
        <p:spPr>
          <a:xfrm>
            <a:off x="7635240" y="4608576"/>
            <a:ext cx="883920" cy="128016"/>
          </a:xfrm>
          <a:prstGeom prst="roundRect">
            <a:avLst>
              <a:gd name="adj" fmla="val 50000"/>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3" name="Rounded Rectangle 32"/>
          <p:cNvSpPr/>
          <p:nvPr/>
        </p:nvSpPr>
        <p:spPr>
          <a:xfrm>
            <a:off x="7635240" y="5029200"/>
            <a:ext cx="2103120" cy="4572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100" b="1">
                <a:solidFill>
                  <a:srgbClr val="FFFFFF"/>
                </a:solidFill>
                <a:latin typeface="Arial"/>
              </a:rPr>
              <a:t>Score total / 100</a:t>
            </a:r>
          </a:p>
        </p:txBody>
      </p:sp>
      <p:sp>
        <p:nvSpPr>
          <p:cNvPr id="34" name="Rounded Rectangle 33"/>
          <p:cNvSpPr/>
          <p:nvPr/>
        </p:nvSpPr>
        <p:spPr>
          <a:xfrm>
            <a:off x="7635240" y="5614416"/>
            <a:ext cx="3977639" cy="713232"/>
          </a:xfrm>
          <a:prstGeom prst="roundRect">
            <a:avLst>
              <a:gd name="adj" fmla="val 8500"/>
            </a:avLst>
          </a:prstGeom>
          <a:solidFill>
            <a:srgbClr val="E2F4E9"/>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46304" rIns="73152" tIns="36576" bIns="36576"/>
          <a:lstStyle/>
          <a:p>
            <a:pPr algn="l">
              <a:lnSpc>
                <a:spcPct val="110000"/>
              </a:lnSpc>
            </a:pPr>
            <a:r>
              <a:rPr sz="1050" b="1">
                <a:solidFill>
                  <a:srgbClr val="007A3D"/>
                </a:solidFill>
                <a:latin typeface="Arial"/>
              </a:rPr>
              <a:t>Chaque point est justifié : le score n'est pas une boîte noire.</a:t>
            </a:r>
          </a:p>
        </p:txBody>
      </p:sp>
      <p:sp>
        <p:nvSpPr>
          <p:cNvPr id="35" name="Rectangle 34"/>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39" name="TextBox 38"/>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07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8" fill="hold">
                      <p:stCondLst>
                        <p:cond delay="indefinite"/>
                      </p:stCondLst>
                      <p:childTnLst>
                        <p:par>
                          <p:cTn id="10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380"/>
                                        <p:tgtEl>
                                          <p:spTgt spid="25"/>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380"/>
                                        <p:tgtEl>
                                          <p:spTgt spid="26"/>
                                        </p:tgtEl>
                                      </p:cBhvr>
                                    </p:animEffect>
                                  </p:childTnLst>
                                </p:cTn>
                              </p:par>
                              <p:par>
                                <p:cTn id="78" presetID="10" presetClass="entr" presetSubtype="0" fill="hold" grpId="0" nodeType="afterEffect">
                                  <p:stCondLst>
                                    <p:cond delay="13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380"/>
                                        <p:tgtEl>
                                          <p:spTgt spid="27"/>
                                        </p:tgtEl>
                                      </p:cBhvr>
                                    </p:animEffect>
                                  </p:childTnLst>
                                </p:cTn>
                              </p:par>
                              <p:par>
                                <p:cTn id="81" presetID="10" presetClass="entr" presetSubtype="0" fill="hold" grpId="0" nodeType="afterEffect">
                                  <p:stCondLst>
                                    <p:cond delay="13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80"/>
                                        <p:tgtEl>
                                          <p:spTgt spid="28"/>
                                        </p:tgtEl>
                                      </p:cBhvr>
                                    </p:animEffect>
                                  </p:childTnLst>
                                </p:cTn>
                              </p:par>
                              <p:par>
                                <p:cTn id="84" presetID="10" presetClass="entr" presetSubtype="0" fill="hold" grpId="0" nodeType="afterEffect">
                                  <p:stCondLst>
                                    <p:cond delay="13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380"/>
                                        <p:tgtEl>
                                          <p:spTgt spid="29"/>
                                        </p:tgtEl>
                                      </p:cBhvr>
                                    </p:animEffect>
                                  </p:childTnLst>
                                </p:cTn>
                              </p:par>
                              <p:par>
                                <p:cTn id="87" presetID="10" presetClass="entr" presetSubtype="0" fill="hold" grpId="0" nodeType="afterEffect">
                                  <p:stCondLst>
                                    <p:cond delay="13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380"/>
                                        <p:tgtEl>
                                          <p:spTgt spid="30"/>
                                        </p:tgtEl>
                                      </p:cBhvr>
                                    </p:animEffect>
                                  </p:childTnLst>
                                </p:cTn>
                              </p:par>
                              <p:par>
                                <p:cTn id="90" presetID="10" presetClass="entr" presetSubtype="0" fill="hold" grpId="0" nodeType="afterEffect">
                                  <p:stCondLst>
                                    <p:cond delay="13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380"/>
                                        <p:tgtEl>
                                          <p:spTgt spid="31"/>
                                        </p:tgtEl>
                                      </p:cBhvr>
                                    </p:animEffect>
                                  </p:childTnLst>
                                </p:cTn>
                              </p:par>
                              <p:par>
                                <p:cTn id="93" presetID="10" presetClass="entr" presetSubtype="0" fill="hold" grpId="0" nodeType="afterEffect">
                                  <p:stCondLst>
                                    <p:cond delay="13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380"/>
                                        <p:tgtEl>
                                          <p:spTgt spid="32"/>
                                        </p:tgtEl>
                                      </p:cBhvr>
                                    </p:animEffect>
                                  </p:childTnLst>
                                </p:cTn>
                              </p:par>
                              <p:par>
                                <p:cTn id="96" presetID="10" presetClass="entr" presetSubtype="0" fill="hold" grpId="0" nodeType="afterEffect">
                                  <p:stCondLst>
                                    <p:cond delay="13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380"/>
                                        <p:tgtEl>
                                          <p:spTgt spid="33"/>
                                        </p:tgtEl>
                                      </p:cBhvr>
                                    </p:animEffect>
                                  </p:childTnLst>
                                </p:cTn>
                              </p:par>
                              <p:par>
                                <p:cTn id="99" presetID="10" presetClass="entr" presetSubtype="0" fill="hold" grpId="0" nodeType="afterEffect">
                                  <p:stCondLst>
                                    <p:cond delay="13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380"/>
                                        <p:tgtEl>
                                          <p:spTgt spid="34"/>
                                        </p:tgtEl>
                                      </p:cBhvr>
                                    </p:animEffect>
                                  </p:childTnLst>
                                </p:cTn>
                              </p:par>
                              <p:par>
                                <p:cTn id="102" presetID="10" presetClass="entr" presetSubtype="0" fill="hold" grpId="0" nodeType="afterEffect">
                                  <p:stCondLst>
                                    <p:cond delay="130"/>
                                  </p:stCondLst>
                                  <p:childTnLst>
                                    <p:set>
                                      <p:cBhvr>
                                        <p:cTn id="103" dur="1" fill="hold">
                                          <p:stCondLst>
                                            <p:cond delay="0"/>
                                          </p:stCondLst>
                                        </p:cTn>
                                        <p:tgtEl>
                                          <p:spTgt spid="38"/>
                                        </p:tgtEl>
                                        <p:attrNameLst>
                                          <p:attrName>style.visibility</p:attrName>
                                        </p:attrNameLst>
                                      </p:cBhvr>
                                      <p:to>
                                        <p:strVal val="visible"/>
                                      </p:to>
                                    </p:set>
                                    <p:animEffect transition="in" filter="fade">
                                      <p:cBhvr>
                                        <p:cTn id="104" dur="380"/>
                                        <p:tgtEl>
                                          <p:spTgt spid="38"/>
                                        </p:tgtEl>
                                      </p:cBhvr>
                                    </p:animEffect>
                                  </p:childTnLst>
                                </p:cTn>
                              </p:par>
                              <p:par>
                                <p:cTn id="105" presetID="10" presetClass="entr" presetSubtype="0" fill="hold" grpId="0" nodeType="afterEffect">
                                  <p:stCondLst>
                                    <p:cond delay="13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38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04 · DASHBOARD WEB</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Le tableau de bord de la coopérative</a:t>
            </a:r>
          </a:p>
        </p:txBody>
      </p:sp>
      <p:sp>
        <p:nvSpPr>
          <p:cNvPr id="4" name="Rounded Rectangle 3"/>
          <p:cNvSpPr/>
          <p:nvPr/>
        </p:nvSpPr>
        <p:spPr>
          <a:xfrm>
            <a:off x="566928" y="1481328"/>
            <a:ext cx="7223760" cy="4855041"/>
          </a:xfrm>
          <a:prstGeom prst="roundRect">
            <a:avLst>
              <a:gd name="adj" fmla="val 4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Rectangle 4"/>
          <p:cNvSpPr/>
          <p:nvPr/>
        </p:nvSpPr>
        <p:spPr>
          <a:xfrm>
            <a:off x="580644" y="1495044"/>
            <a:ext cx="7196328" cy="329184"/>
          </a:xfrm>
          <a:prstGeom prst="rect">
            <a:avLst/>
          </a:prstGeom>
          <a:solidFill>
            <a:srgbClr val="F1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Oval 5"/>
          <p:cNvSpPr/>
          <p:nvPr/>
        </p:nvSpPr>
        <p:spPr>
          <a:xfrm>
            <a:off x="694944"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Oval 6"/>
          <p:cNvSpPr/>
          <p:nvPr/>
        </p:nvSpPr>
        <p:spPr>
          <a:xfrm>
            <a:off x="850392"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Oval 7"/>
          <p:cNvSpPr/>
          <p:nvPr/>
        </p:nvSpPr>
        <p:spPr>
          <a:xfrm>
            <a:off x="1005840"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ounded Rectangle 8"/>
          <p:cNvSpPr/>
          <p:nvPr/>
        </p:nvSpPr>
        <p:spPr>
          <a:xfrm>
            <a:off x="1133856" y="1545336"/>
            <a:ext cx="6510528" cy="201168"/>
          </a:xfrm>
          <a:prstGeom prst="roundRect">
            <a:avLst>
              <a:gd name="adj" fmla="val 50000"/>
            </a:avLst>
          </a:prstGeom>
          <a:solidFill>
            <a:srgbClr val="FFFFFF"/>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lnSpc>
                <a:spcPct val="100000"/>
              </a:lnSpc>
            </a:pPr>
            <a:r>
              <a:rPr sz="800" b="0">
                <a:solidFill>
                  <a:srgbClr val="6B7A70"/>
                </a:solidFill>
                <a:latin typeface="Arial"/>
              </a:rPr>
              <a:t>cacaosat.ci — tableau de bord coopérative</a:t>
            </a:r>
          </a:p>
        </p:txBody>
      </p:sp>
      <p:pic>
        <p:nvPicPr>
          <p:cNvPr id="10" name="Picture 9" descr="dashboard.jpg"/>
          <p:cNvPicPr>
            <a:picLocks noChangeAspect="1"/>
          </p:cNvPicPr>
          <p:nvPr/>
        </p:nvPicPr>
        <p:blipFill>
          <a:blip r:embed="rId2"/>
          <a:stretch>
            <a:fillRect/>
          </a:stretch>
        </p:blipFill>
        <p:spPr>
          <a:xfrm>
            <a:off x="585216" y="1828800"/>
            <a:ext cx="7187184" cy="4507569"/>
          </a:xfrm>
          <a:prstGeom prst="rect">
            <a:avLst/>
          </a:prstGeom>
          <a:effectLst>
            <a:outerShdw blurRad="54864" dist="18288" dir="5400000" rotWithShape="0">
              <a:srgbClr val="13251C">
                <a:alpha val="10000"/>
              </a:srgbClr>
            </a:outerShdw>
          </a:effectLst>
        </p:spPr>
      </p:pic>
      <p:sp>
        <p:nvSpPr>
          <p:cNvPr id="11" name="TextBox 10"/>
          <p:cNvSpPr txBox="1"/>
          <p:nvPr/>
        </p:nvSpPr>
        <p:spPr>
          <a:xfrm>
            <a:off x="566928" y="6446097"/>
            <a:ext cx="722376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Carte satellite Esri, statuts par couleur, alertes acquittables en un clic</a:t>
            </a:r>
          </a:p>
        </p:txBody>
      </p:sp>
      <p:sp>
        <p:nvSpPr>
          <p:cNvPr id="12" name="Rounded Rectangle 11"/>
          <p:cNvSpPr/>
          <p:nvPr/>
        </p:nvSpPr>
        <p:spPr>
          <a:xfrm>
            <a:off x="8092440" y="1572768"/>
            <a:ext cx="3520440" cy="1078992"/>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Rectangle 12"/>
          <p:cNvSpPr/>
          <p:nvPr/>
        </p:nvSpPr>
        <p:spPr>
          <a:xfrm>
            <a:off x="8311896" y="1792224"/>
            <a:ext cx="329184" cy="54864"/>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TextBox 13"/>
          <p:cNvSpPr txBox="1"/>
          <p:nvPr/>
        </p:nvSpPr>
        <p:spPr>
          <a:xfrm>
            <a:off x="8311896" y="1883664"/>
            <a:ext cx="3108960" cy="457200"/>
          </a:xfrm>
          <a:prstGeom prst="rect">
            <a:avLst/>
          </a:prstGeom>
          <a:noFill/>
        </p:spPr>
        <p:txBody>
          <a:bodyPr wrap="square" anchor="t" lIns="0" rIns="0" tIns="0" bIns="0">
            <a:spAutoFit/>
          </a:bodyPr>
          <a:lstStyle/>
          <a:p>
            <a:pPr algn="l">
              <a:lnSpc>
                <a:spcPct val="100000"/>
              </a:lnSpc>
            </a:pPr>
            <a:r>
              <a:rPr sz="2200" b="1" i="0">
                <a:solidFill>
                  <a:srgbClr val="00A651"/>
                </a:solidFill>
                <a:latin typeface="Arial"/>
              </a:rPr>
              <a:t>21</a:t>
            </a:r>
          </a:p>
        </p:txBody>
      </p:sp>
      <p:sp>
        <p:nvSpPr>
          <p:cNvPr id="15" name="TextBox 14"/>
          <p:cNvSpPr txBox="1"/>
          <p:nvPr/>
        </p:nvSpPr>
        <p:spPr>
          <a:xfrm>
            <a:off x="8311896" y="2322576"/>
            <a:ext cx="3108960" cy="27432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parcelles suivies dans la démo</a:t>
            </a:r>
          </a:p>
        </p:txBody>
      </p:sp>
      <p:sp>
        <p:nvSpPr>
          <p:cNvPr id="16" name="Rounded Rectangle 15"/>
          <p:cNvSpPr/>
          <p:nvPr/>
        </p:nvSpPr>
        <p:spPr>
          <a:xfrm>
            <a:off x="8092440" y="2807208"/>
            <a:ext cx="3520440" cy="1078992"/>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Rectangle 16"/>
          <p:cNvSpPr/>
          <p:nvPr/>
        </p:nvSpPr>
        <p:spPr>
          <a:xfrm>
            <a:off x="8311896" y="3026664"/>
            <a:ext cx="329184" cy="5486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8311896" y="3118104"/>
            <a:ext cx="3108960" cy="457200"/>
          </a:xfrm>
          <a:prstGeom prst="rect">
            <a:avLst/>
          </a:prstGeom>
          <a:noFill/>
        </p:spPr>
        <p:txBody>
          <a:bodyPr wrap="square" anchor="t" lIns="0" rIns="0" tIns="0" bIns="0">
            <a:spAutoFit/>
          </a:bodyPr>
          <a:lstStyle/>
          <a:p>
            <a:pPr algn="l">
              <a:lnSpc>
                <a:spcPct val="100000"/>
              </a:lnSpc>
            </a:pPr>
            <a:r>
              <a:rPr sz="2200" b="1" i="0">
                <a:solidFill>
                  <a:srgbClr val="FF7A00"/>
                </a:solidFill>
                <a:latin typeface="Arial"/>
              </a:rPr>
              <a:t>72 ha</a:t>
            </a:r>
          </a:p>
        </p:txBody>
      </p:sp>
      <p:sp>
        <p:nvSpPr>
          <p:cNvPr id="19" name="TextBox 18"/>
          <p:cNvSpPr txBox="1"/>
          <p:nvPr/>
        </p:nvSpPr>
        <p:spPr>
          <a:xfrm>
            <a:off x="8311896" y="3557016"/>
            <a:ext cx="3108960" cy="27432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de surface analysée en continu</a:t>
            </a:r>
          </a:p>
        </p:txBody>
      </p:sp>
      <p:sp>
        <p:nvSpPr>
          <p:cNvPr id="20" name="Rounded Rectangle 19"/>
          <p:cNvSpPr/>
          <p:nvPr/>
        </p:nvSpPr>
        <p:spPr>
          <a:xfrm>
            <a:off x="8092440" y="4041648"/>
            <a:ext cx="3520440" cy="1078992"/>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Rectangle 20"/>
          <p:cNvSpPr/>
          <p:nvPr/>
        </p:nvSpPr>
        <p:spPr>
          <a:xfrm>
            <a:off x="8311896" y="4261104"/>
            <a:ext cx="329184" cy="54864"/>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TextBox 21"/>
          <p:cNvSpPr txBox="1"/>
          <p:nvPr/>
        </p:nvSpPr>
        <p:spPr>
          <a:xfrm>
            <a:off x="8311896" y="4352544"/>
            <a:ext cx="3108960" cy="457200"/>
          </a:xfrm>
          <a:prstGeom prst="rect">
            <a:avLst/>
          </a:prstGeom>
          <a:noFill/>
        </p:spPr>
        <p:txBody>
          <a:bodyPr wrap="square" anchor="t" lIns="0" rIns="0" tIns="0" bIns="0">
            <a:spAutoFit/>
          </a:bodyPr>
          <a:lstStyle/>
          <a:p>
            <a:pPr algn="l">
              <a:lnSpc>
                <a:spcPct val="100000"/>
              </a:lnSpc>
            </a:pPr>
            <a:r>
              <a:rPr sz="2200" b="1" i="0">
                <a:solidFill>
                  <a:srgbClr val="007A3D"/>
                </a:solidFill>
                <a:latin typeface="Arial"/>
              </a:rPr>
              <a:t>100 %</a:t>
            </a:r>
          </a:p>
        </p:txBody>
      </p:sp>
      <p:sp>
        <p:nvSpPr>
          <p:cNvPr id="23" name="TextBox 22"/>
          <p:cNvSpPr txBox="1"/>
          <p:nvPr/>
        </p:nvSpPr>
        <p:spPr>
          <a:xfrm>
            <a:off x="8311896" y="4791456"/>
            <a:ext cx="3108960" cy="27432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de couverture d'analyse satellite</a:t>
            </a:r>
          </a:p>
        </p:txBody>
      </p:sp>
      <p:sp>
        <p:nvSpPr>
          <p:cNvPr id="24" name="Rounded Rectangle 23"/>
          <p:cNvSpPr/>
          <p:nvPr/>
        </p:nvSpPr>
        <p:spPr>
          <a:xfrm>
            <a:off x="8092440" y="5349240"/>
            <a:ext cx="3520440" cy="777240"/>
          </a:xfrm>
          <a:prstGeom prst="roundRect">
            <a:avLst>
              <a:gd name="adj" fmla="val 8500"/>
            </a:avLst>
          </a:prstGeom>
          <a:solidFill>
            <a:srgbClr val="E2F4E9"/>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46304" rIns="73152" tIns="36576" bIns="36576"/>
          <a:lstStyle/>
          <a:p>
            <a:pPr algn="l">
              <a:lnSpc>
                <a:spcPct val="115000"/>
              </a:lnSpc>
              <a:spcAft>
                <a:spcPts val="300"/>
              </a:spcAft>
            </a:pPr>
            <a:r>
              <a:rPr sz="1050" b="1">
                <a:solidFill>
                  <a:srgbClr val="13251C"/>
                </a:solidFill>
                <a:latin typeface="Arial"/>
              </a:rPr>
              <a:t>Un outil de niveau national,</a:t>
            </a:r>
          </a:p>
          <a:p>
            <a:pPr algn="l">
              <a:lnSpc>
                <a:spcPct val="115000"/>
              </a:lnSpc>
              <a:spcAft>
                <a:spcPts val="300"/>
              </a:spcAft>
            </a:pPr>
            <a:r>
              <a:rPr sz="1050" b="1">
                <a:solidFill>
                  <a:srgbClr val="13251C"/>
                </a:solidFill>
                <a:latin typeface="Arial"/>
              </a:rPr>
              <a:t>entre les mains d'une coopérative.</a:t>
            </a:r>
          </a:p>
        </p:txBody>
      </p:sp>
      <p:sp>
        <p:nvSpPr>
          <p:cNvPr id="25" name="Rectangle 24"/>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29" name="TextBox 28"/>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08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8" fill="hold">
                      <p:stCondLst>
                        <p:cond delay="indefinite"/>
                      </p:stCondLst>
                      <p:childTnLst>
                        <p:par>
                          <p:cTn id="7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80"/>
                                        <p:tgtEl>
                                          <p:spTgt spid="28"/>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8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05 · PREUVE &amp; VIGILANCE</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Le certificat, en un clic — et l'alerte qui veille</a:t>
            </a:r>
          </a:p>
        </p:txBody>
      </p:sp>
      <p:sp>
        <p:nvSpPr>
          <p:cNvPr id="4" name="Rounded Rectangle 3"/>
          <p:cNvSpPr/>
          <p:nvPr/>
        </p:nvSpPr>
        <p:spPr>
          <a:xfrm>
            <a:off x="566928" y="1481328"/>
            <a:ext cx="4709160" cy="4709160"/>
          </a:xfrm>
          <a:prstGeom prst="roundRect">
            <a:avLst>
              <a:gd name="adj" fmla="val 4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Rectangle 4"/>
          <p:cNvSpPr/>
          <p:nvPr/>
        </p:nvSpPr>
        <p:spPr>
          <a:xfrm>
            <a:off x="585216" y="1499616"/>
            <a:ext cx="4672584" cy="9144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Rectangle 5"/>
          <p:cNvSpPr/>
          <p:nvPr/>
        </p:nvSpPr>
        <p:spPr>
          <a:xfrm>
            <a:off x="2154936" y="1499616"/>
            <a:ext cx="1533144" cy="91440"/>
          </a:xfrm>
          <a:prstGeom prst="rect">
            <a:avLst/>
          </a:prstGeom>
          <a:solidFill>
            <a:srgbClr val="EC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Rectangle 6"/>
          <p:cNvSpPr/>
          <p:nvPr/>
        </p:nvSpPr>
        <p:spPr>
          <a:xfrm>
            <a:off x="3724656" y="1499616"/>
            <a:ext cx="1533144"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TextBox 7"/>
          <p:cNvSpPr txBox="1"/>
          <p:nvPr/>
        </p:nvSpPr>
        <p:spPr>
          <a:xfrm>
            <a:off x="886968" y="1792224"/>
            <a:ext cx="4069080" cy="237744"/>
          </a:xfrm>
          <a:prstGeom prst="rect">
            <a:avLst/>
          </a:prstGeom>
          <a:noFill/>
        </p:spPr>
        <p:txBody>
          <a:bodyPr wrap="square" anchor="t" lIns="0" rIns="0" tIns="0" bIns="0">
            <a:spAutoFit/>
          </a:bodyPr>
          <a:lstStyle/>
          <a:p>
            <a:pPr algn="l">
              <a:lnSpc>
                <a:spcPct val="100000"/>
              </a:lnSpc>
            </a:pPr>
            <a:r>
              <a:rPr sz="850" b="1" i="0" spc="120">
                <a:solidFill>
                  <a:srgbClr val="007A3D"/>
                </a:solidFill>
                <a:latin typeface="Arial"/>
              </a:rPr>
              <a:t>RAPPORT OFFICIEL DE CONFORMITÉ</a:t>
            </a:r>
          </a:p>
        </p:txBody>
      </p:sp>
      <p:sp>
        <p:nvSpPr>
          <p:cNvPr id="9" name="TextBox 8"/>
          <p:cNvSpPr txBox="1"/>
          <p:nvPr/>
        </p:nvSpPr>
        <p:spPr>
          <a:xfrm>
            <a:off x="886968" y="2048256"/>
            <a:ext cx="3520440" cy="566928"/>
          </a:xfrm>
          <a:prstGeom prst="rect">
            <a:avLst/>
          </a:prstGeom>
          <a:noFill/>
        </p:spPr>
        <p:txBody>
          <a:bodyPr wrap="square" anchor="t" lIns="0" rIns="0" tIns="0" bIns="0">
            <a:spAutoFit/>
          </a:bodyPr>
          <a:lstStyle/>
          <a:p>
            <a:pPr algn="l">
              <a:lnSpc>
                <a:spcPct val="100000"/>
              </a:lnSpc>
            </a:pPr>
            <a:r>
              <a:rPr sz="1600" b="1" i="0">
                <a:solidFill>
                  <a:srgbClr val="13251C"/>
                </a:solidFill>
                <a:latin typeface="Arial"/>
              </a:rPr>
              <a:t>Certificat de conformité EUDR</a:t>
            </a:r>
          </a:p>
        </p:txBody>
      </p:sp>
      <p:sp>
        <p:nvSpPr>
          <p:cNvPr id="10" name="TextBox 9"/>
          <p:cNvSpPr txBox="1"/>
          <p:nvPr/>
        </p:nvSpPr>
        <p:spPr>
          <a:xfrm>
            <a:off x="886968" y="2560320"/>
            <a:ext cx="4069080" cy="256032"/>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Coopérative COOPCA-GUIGLO · 21 parcelles · 72 ha</a:t>
            </a:r>
          </a:p>
        </p:txBody>
      </p:sp>
      <p:sp>
        <p:nvSpPr>
          <p:cNvPr id="11" name="Rectangle 10"/>
          <p:cNvSpPr/>
          <p:nvPr/>
        </p:nvSpPr>
        <p:spPr>
          <a:xfrm>
            <a:off x="886968" y="2898648"/>
            <a:ext cx="4069080" cy="14630"/>
          </a:xfrm>
          <a:prstGeom prst="rect">
            <a:avLst/>
          </a:prstGeom>
          <a:solidFill>
            <a:srgbClr val="E3E8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Oval 11"/>
          <p:cNvSpPr/>
          <p:nvPr/>
        </p:nvSpPr>
        <p:spPr>
          <a:xfrm>
            <a:off x="914400" y="3127248"/>
            <a:ext cx="109728" cy="109728"/>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TextBox 12"/>
          <p:cNvSpPr txBox="1"/>
          <p:nvPr/>
        </p:nvSpPr>
        <p:spPr>
          <a:xfrm>
            <a:off x="1133856" y="3063240"/>
            <a:ext cx="3703320" cy="36576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Synthèse : 12 conformes · 4 à vérifier · 5 non conformes</a:t>
            </a:r>
          </a:p>
        </p:txBody>
      </p:sp>
      <p:sp>
        <p:nvSpPr>
          <p:cNvPr id="14" name="Oval 13"/>
          <p:cNvSpPr/>
          <p:nvPr/>
        </p:nvSpPr>
        <p:spPr>
          <a:xfrm>
            <a:off x="914400" y="3584448"/>
            <a:ext cx="109728" cy="109728"/>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1133856" y="3520440"/>
            <a:ext cx="3703320" cy="36576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Carte des parcelles avec périmètres GPS</a:t>
            </a:r>
          </a:p>
        </p:txBody>
      </p:sp>
      <p:sp>
        <p:nvSpPr>
          <p:cNvPr id="16" name="Oval 15"/>
          <p:cNvSpPr/>
          <p:nvPr/>
        </p:nvSpPr>
        <p:spPr>
          <a:xfrm>
            <a:off x="914400" y="4041648"/>
            <a:ext cx="109728" cy="109728"/>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1133856" y="3977640"/>
            <a:ext cx="3703320" cy="36576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Méthodologie satellite et sources citées</a:t>
            </a:r>
          </a:p>
        </p:txBody>
      </p:sp>
      <p:sp>
        <p:nvSpPr>
          <p:cNvPr id="18" name="Donut 17"/>
          <p:cNvSpPr/>
          <p:nvPr/>
        </p:nvSpPr>
        <p:spPr>
          <a:xfrm>
            <a:off x="4105656" y="1956816"/>
            <a:ext cx="841248" cy="841248"/>
          </a:xfrm>
          <a:prstGeom prst="donut">
            <a:avLst>
              <a:gd name="adj" fmla="val 18000"/>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Oval 18"/>
          <p:cNvSpPr/>
          <p:nvPr/>
        </p:nvSpPr>
        <p:spPr>
          <a:xfrm>
            <a:off x="4242816" y="209397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TextBox 19"/>
          <p:cNvSpPr txBox="1"/>
          <p:nvPr/>
        </p:nvSpPr>
        <p:spPr>
          <a:xfrm>
            <a:off x="4242816" y="2176272"/>
            <a:ext cx="566928" cy="411480"/>
          </a:xfrm>
          <a:prstGeom prst="rect">
            <a:avLst/>
          </a:prstGeom>
          <a:noFill/>
        </p:spPr>
        <p:txBody>
          <a:bodyPr wrap="square" anchor="ctr" lIns="0" rIns="0" tIns="0" bIns="0">
            <a:spAutoFit/>
          </a:bodyPr>
          <a:lstStyle/>
          <a:p>
            <a:pPr algn="ctr">
              <a:lnSpc>
                <a:spcPct val="100000"/>
              </a:lnSpc>
            </a:pPr>
            <a:r>
              <a:rPr sz="2000" b="1" i="0">
                <a:solidFill>
                  <a:srgbClr val="007A3D"/>
                </a:solidFill>
                <a:latin typeface="Arial"/>
              </a:rPr>
              <a:t>✓</a:t>
            </a:r>
          </a:p>
        </p:txBody>
      </p:sp>
      <p:sp>
        <p:nvSpPr>
          <p:cNvPr id="21" name="Rounded Rectangle 20"/>
          <p:cNvSpPr/>
          <p:nvPr/>
        </p:nvSpPr>
        <p:spPr>
          <a:xfrm>
            <a:off x="886968" y="4636008"/>
            <a:ext cx="2377440" cy="329184"/>
          </a:xfrm>
          <a:prstGeom prst="roundRect">
            <a:avLst>
              <a:gd name="adj" fmla="val 50000"/>
            </a:avLst>
          </a:prstGeom>
          <a:solidFill>
            <a:srgbClr val="1325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850" b="1">
                <a:solidFill>
                  <a:srgbClr val="FFFFFF"/>
                </a:solidFill>
                <a:latin typeface="Arial"/>
              </a:rPr>
              <a:t>SHA-256 · anti-falsification</a:t>
            </a:r>
          </a:p>
        </p:txBody>
      </p:sp>
      <p:sp>
        <p:nvSpPr>
          <p:cNvPr id="22" name="TextBox 21"/>
          <p:cNvSpPr txBox="1"/>
          <p:nvPr/>
        </p:nvSpPr>
        <p:spPr>
          <a:xfrm>
            <a:off x="886968" y="5184648"/>
            <a:ext cx="4069080" cy="502920"/>
          </a:xfrm>
          <a:prstGeom prst="rect">
            <a:avLst/>
          </a:prstGeom>
          <a:noFill/>
        </p:spPr>
        <p:txBody>
          <a:bodyPr wrap="square" anchor="t" lIns="0" rIns="0" tIns="0" bIns="0">
            <a:spAutoFit/>
          </a:bodyPr>
          <a:lstStyle/>
          <a:p>
            <a:pPr algn="l">
              <a:lnSpc>
                <a:spcPct val="115000"/>
              </a:lnSpc>
            </a:pPr>
            <a:r>
              <a:rPr sz="950" b="0" i="0">
                <a:solidFill>
                  <a:srgbClr val="6B7A70"/>
                </a:solidFill>
                <a:latin typeface="Arial"/>
              </a:rPr>
              <a:t>Généré en quelques minutes — export PDF + GeoJSON au gabarit des exportateurs.</a:t>
            </a:r>
          </a:p>
        </p:txBody>
      </p:sp>
      <p:sp>
        <p:nvSpPr>
          <p:cNvPr id="23" name="TextBox 22"/>
          <p:cNvSpPr txBox="1"/>
          <p:nvPr/>
        </p:nvSpPr>
        <p:spPr>
          <a:xfrm>
            <a:off x="886968" y="5705856"/>
            <a:ext cx="4069080" cy="274320"/>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Préambule légal · tableau par producteur · audit trail</a:t>
            </a:r>
          </a:p>
        </p:txBody>
      </p:sp>
      <p:sp>
        <p:nvSpPr>
          <p:cNvPr id="24" name="TextBox 23"/>
          <p:cNvSpPr txBox="1"/>
          <p:nvPr/>
        </p:nvSpPr>
        <p:spPr>
          <a:xfrm>
            <a:off x="5715000" y="1572768"/>
            <a:ext cx="5897880"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Le système continue de veiller</a:t>
            </a:r>
          </a:p>
        </p:txBody>
      </p:sp>
      <p:sp>
        <p:nvSpPr>
          <p:cNvPr id="25" name="Rounded Rectangle 24"/>
          <p:cNvSpPr/>
          <p:nvPr/>
        </p:nvSpPr>
        <p:spPr>
          <a:xfrm>
            <a:off x="5715000" y="2029968"/>
            <a:ext cx="5897880"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6" name="Oval 25"/>
          <p:cNvSpPr/>
          <p:nvPr/>
        </p:nvSpPr>
        <p:spPr>
          <a:xfrm>
            <a:off x="5897880" y="2185416"/>
            <a:ext cx="566928" cy="566928"/>
          </a:xfrm>
          <a:prstGeom prst="ellipse">
            <a:avLst/>
          </a:prstGeom>
          <a:solidFill>
            <a:srgbClr val="FFE7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7" name="Rounded Rectangle 26"/>
          <p:cNvSpPr/>
          <p:nvPr/>
        </p:nvSpPr>
        <p:spPr>
          <a:xfrm>
            <a:off x="6119896" y="2407432"/>
            <a:ext cx="122895" cy="122895"/>
          </a:xfrm>
          <a:prstGeom prst="roundRect">
            <a:avLst>
              <a:gd name="adj" fmla="val 25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Rectangle 27"/>
          <p:cNvSpPr/>
          <p:nvPr/>
        </p:nvSpPr>
        <p:spPr>
          <a:xfrm>
            <a:off x="5981639" y="2426634"/>
            <a:ext cx="115214" cy="84490"/>
          </a:xfrm>
          <a:prstGeom prst="rect">
            <a:avLst/>
          </a:prstGeom>
          <a:solidFill>
            <a:srgbClr val="C4650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Rectangle 28"/>
          <p:cNvSpPr/>
          <p:nvPr/>
        </p:nvSpPr>
        <p:spPr>
          <a:xfrm>
            <a:off x="6265834" y="2426634"/>
            <a:ext cx="115214" cy="84490"/>
          </a:xfrm>
          <a:prstGeom prst="rect">
            <a:avLst/>
          </a:prstGeom>
          <a:solidFill>
            <a:srgbClr val="C4650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0" name="Oval 29"/>
          <p:cNvSpPr/>
          <p:nvPr/>
        </p:nvSpPr>
        <p:spPr>
          <a:xfrm>
            <a:off x="6158301" y="2545689"/>
            <a:ext cx="46085" cy="4608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1" name="TextBox 30"/>
          <p:cNvSpPr txBox="1"/>
          <p:nvPr/>
        </p:nvSpPr>
        <p:spPr>
          <a:xfrm>
            <a:off x="6675120" y="2157984"/>
            <a:ext cx="4709160" cy="274320"/>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Passage satellite</a:t>
            </a:r>
          </a:p>
        </p:txBody>
      </p:sp>
      <p:sp>
        <p:nvSpPr>
          <p:cNvPr id="32" name="TextBox 31"/>
          <p:cNvSpPr txBox="1"/>
          <p:nvPr/>
        </p:nvSpPr>
        <p:spPr>
          <a:xfrm>
            <a:off x="6675120" y="2441448"/>
            <a:ext cx="4709160" cy="365760"/>
          </a:xfrm>
          <a:prstGeom prst="rect">
            <a:avLst/>
          </a:prstGeom>
          <a:noFill/>
        </p:spPr>
        <p:txBody>
          <a:bodyPr wrap="square" anchor="t" lIns="0" rIns="0" tIns="0" bIns="0">
            <a:spAutoFit/>
          </a:bodyPr>
          <a:lstStyle/>
          <a:p>
            <a:pPr algn="l">
              <a:lnSpc>
                <a:spcPct val="100000"/>
              </a:lnSpc>
            </a:pPr>
            <a:r>
              <a:rPr sz="1000" b="0" i="0">
                <a:solidFill>
                  <a:srgbClr val="3D4A43"/>
                </a:solidFill>
                <a:latin typeface="Arial"/>
              </a:rPr>
              <a:t>chaque nouvelle image Sentinel-2 est analysée</a:t>
            </a:r>
          </a:p>
        </p:txBody>
      </p:sp>
      <p:sp>
        <p:nvSpPr>
          <p:cNvPr id="33" name="Down Arrow 32"/>
          <p:cNvSpPr/>
          <p:nvPr/>
        </p:nvSpPr>
        <p:spPr>
          <a:xfrm>
            <a:off x="6062472" y="2916936"/>
            <a:ext cx="164592" cy="128016"/>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4" name="Rounded Rectangle 33"/>
          <p:cNvSpPr/>
          <p:nvPr/>
        </p:nvSpPr>
        <p:spPr>
          <a:xfrm>
            <a:off x="5715000" y="3054096"/>
            <a:ext cx="5897880"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5" name="Oval 34"/>
          <p:cNvSpPr/>
          <p:nvPr/>
        </p:nvSpPr>
        <p:spPr>
          <a:xfrm>
            <a:off x="5897880" y="3209544"/>
            <a:ext cx="566928" cy="566928"/>
          </a:xfrm>
          <a:prstGeom prst="ellipse">
            <a:avLst/>
          </a:prstGeom>
          <a:solidFill>
            <a:srgbClr val="F8D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6" name="Isosceles Triangle 35"/>
          <p:cNvSpPr/>
          <p:nvPr/>
        </p:nvSpPr>
        <p:spPr>
          <a:xfrm>
            <a:off x="6050767" y="3362431"/>
            <a:ext cx="261152" cy="238109"/>
          </a:xfrm>
          <a:prstGeom prst="triangle">
            <a:avLst/>
          </a:prstGeom>
          <a:solidFill>
            <a:srgbClr val="D948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7" name="TextBox 36"/>
          <p:cNvSpPr txBox="1"/>
          <p:nvPr/>
        </p:nvSpPr>
        <p:spPr>
          <a:xfrm>
            <a:off x="6104534" y="3446922"/>
            <a:ext cx="153619" cy="115214"/>
          </a:xfrm>
          <a:prstGeom prst="rect">
            <a:avLst/>
          </a:prstGeom>
          <a:noFill/>
        </p:spPr>
        <p:txBody>
          <a:bodyPr wrap="square" anchor="ctr" lIns="0" rIns="0" tIns="0" bIns="0">
            <a:spAutoFit/>
          </a:bodyPr>
          <a:lstStyle/>
          <a:p>
            <a:pPr algn="ctr">
              <a:lnSpc>
                <a:spcPct val="100000"/>
              </a:lnSpc>
            </a:pPr>
            <a:r>
              <a:rPr sz="672" b="1" i="0">
                <a:solidFill>
                  <a:srgbClr val="FFFFFF"/>
                </a:solidFill>
                <a:latin typeface="Arial"/>
              </a:rPr>
              <a:t>!</a:t>
            </a:r>
          </a:p>
        </p:txBody>
      </p:sp>
      <p:sp>
        <p:nvSpPr>
          <p:cNvPr id="38" name="TextBox 37"/>
          <p:cNvSpPr txBox="1"/>
          <p:nvPr/>
        </p:nvSpPr>
        <p:spPr>
          <a:xfrm>
            <a:off x="6675120" y="3182112"/>
            <a:ext cx="4709160" cy="274320"/>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Détection</a:t>
            </a:r>
          </a:p>
        </p:txBody>
      </p:sp>
      <p:sp>
        <p:nvSpPr>
          <p:cNvPr id="39" name="TextBox 38"/>
          <p:cNvSpPr txBox="1"/>
          <p:nvPr/>
        </p:nvSpPr>
        <p:spPr>
          <a:xfrm>
            <a:off x="6675120" y="3465576"/>
            <a:ext cx="4709160" cy="365760"/>
          </a:xfrm>
          <a:prstGeom prst="rect">
            <a:avLst/>
          </a:prstGeom>
          <a:noFill/>
        </p:spPr>
        <p:txBody>
          <a:bodyPr wrap="square" anchor="t" lIns="0" rIns="0" tIns="0" bIns="0">
            <a:spAutoFit/>
          </a:bodyPr>
          <a:lstStyle/>
          <a:p>
            <a:pPr algn="l">
              <a:lnSpc>
                <a:spcPct val="100000"/>
              </a:lnSpc>
            </a:pPr>
            <a:r>
              <a:rPr sz="1000" b="0" i="0">
                <a:solidFill>
                  <a:srgbClr val="3D4A43"/>
                </a:solidFill>
                <a:latin typeface="Arial"/>
              </a:rPr>
              <a:t>perte de couvert ou empiètement d'aire protégée</a:t>
            </a:r>
          </a:p>
        </p:txBody>
      </p:sp>
      <p:sp>
        <p:nvSpPr>
          <p:cNvPr id="40" name="Down Arrow 39"/>
          <p:cNvSpPr/>
          <p:nvPr/>
        </p:nvSpPr>
        <p:spPr>
          <a:xfrm>
            <a:off x="6062472" y="3941064"/>
            <a:ext cx="164592" cy="128016"/>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1" name="Rounded Rectangle 40"/>
          <p:cNvSpPr/>
          <p:nvPr/>
        </p:nvSpPr>
        <p:spPr>
          <a:xfrm>
            <a:off x="5715000" y="4078224"/>
            <a:ext cx="5897880"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2" name="Oval 41"/>
          <p:cNvSpPr/>
          <p:nvPr/>
        </p:nvSpPr>
        <p:spPr>
          <a:xfrm>
            <a:off x="5897880" y="4233672"/>
            <a:ext cx="566928" cy="566928"/>
          </a:xfrm>
          <a:prstGeom prst="ellipse">
            <a:avLst/>
          </a:prstGeom>
          <a:solidFill>
            <a:srgbClr val="D1EF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3" name="Oval 42"/>
          <p:cNvSpPr/>
          <p:nvPr/>
        </p:nvSpPr>
        <p:spPr>
          <a:xfrm>
            <a:off x="6066129" y="4401921"/>
            <a:ext cx="230428" cy="230428"/>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4" name="TextBox 43"/>
          <p:cNvSpPr txBox="1"/>
          <p:nvPr/>
        </p:nvSpPr>
        <p:spPr>
          <a:xfrm>
            <a:off x="6066129" y="4424964"/>
            <a:ext cx="230428" cy="192024"/>
          </a:xfrm>
          <a:prstGeom prst="rect">
            <a:avLst/>
          </a:prstGeom>
          <a:noFill/>
        </p:spPr>
        <p:txBody>
          <a:bodyPr wrap="square" anchor="ctr" lIns="0" rIns="0" tIns="0" bIns="0">
            <a:spAutoFit/>
          </a:bodyPr>
          <a:lstStyle/>
          <a:p>
            <a:pPr algn="ctr">
              <a:lnSpc>
                <a:spcPct val="100000"/>
              </a:lnSpc>
            </a:pPr>
            <a:r>
              <a:rPr sz="756" b="1" i="0">
                <a:solidFill>
                  <a:srgbClr val="FFFFFF"/>
                </a:solidFill>
                <a:latin typeface="Arial"/>
              </a:rPr>
              <a:t>✓</a:t>
            </a:r>
          </a:p>
        </p:txBody>
      </p:sp>
      <p:sp>
        <p:nvSpPr>
          <p:cNvPr id="45" name="TextBox 44"/>
          <p:cNvSpPr txBox="1"/>
          <p:nvPr/>
        </p:nvSpPr>
        <p:spPr>
          <a:xfrm>
            <a:off x="6675120" y="4206240"/>
            <a:ext cx="4709160" cy="274320"/>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Alerte coopérative</a:t>
            </a:r>
          </a:p>
        </p:txBody>
      </p:sp>
      <p:sp>
        <p:nvSpPr>
          <p:cNvPr id="46" name="TextBox 45"/>
          <p:cNvSpPr txBox="1"/>
          <p:nvPr/>
        </p:nvSpPr>
        <p:spPr>
          <a:xfrm>
            <a:off x="6675120" y="4489704"/>
            <a:ext cx="4709160" cy="365760"/>
          </a:xfrm>
          <a:prstGeom prst="rect">
            <a:avLst/>
          </a:prstGeom>
          <a:noFill/>
        </p:spPr>
        <p:txBody>
          <a:bodyPr wrap="square" anchor="t" lIns="0" rIns="0" tIns="0" bIns="0">
            <a:spAutoFit/>
          </a:bodyPr>
          <a:lstStyle/>
          <a:p>
            <a:pPr algn="l">
              <a:lnSpc>
                <a:spcPct val="100000"/>
              </a:lnSpc>
            </a:pPr>
            <a:r>
              <a:rPr sz="1000" b="0" i="0">
                <a:solidFill>
                  <a:srgbClr val="3D4A43"/>
                </a:solidFill>
                <a:latin typeface="Arial"/>
              </a:rPr>
              <a:t>notification + acquittement tracé dans l'audit</a:t>
            </a:r>
          </a:p>
        </p:txBody>
      </p:sp>
      <p:sp>
        <p:nvSpPr>
          <p:cNvPr id="47" name="Rounded Rectangle 46"/>
          <p:cNvSpPr/>
          <p:nvPr/>
        </p:nvSpPr>
        <p:spPr>
          <a:xfrm>
            <a:off x="5715000" y="5230368"/>
            <a:ext cx="5897880" cy="960120"/>
          </a:xfrm>
          <a:prstGeom prst="roundRect">
            <a:avLst>
              <a:gd name="adj" fmla="val 8500"/>
            </a:avLst>
          </a:prstGeom>
          <a:solidFill>
            <a:srgbClr val="FFF1E1"/>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8" name="TextBox 47"/>
          <p:cNvSpPr txBox="1"/>
          <p:nvPr/>
        </p:nvSpPr>
        <p:spPr>
          <a:xfrm>
            <a:off x="6035040" y="5413248"/>
            <a:ext cx="5349240" cy="36576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Des semaines de paperasse → </a:t>
            </a:r>
            <a:r>
              <a:rPr sz="1400" b="1" i="0">
                <a:solidFill>
                  <a:srgbClr val="D95E00"/>
                </a:solidFill>
                <a:latin typeface="Arial"/>
              </a:rPr>
              <a:t>quelques minutes.</a:t>
            </a:r>
          </a:p>
        </p:txBody>
      </p:sp>
      <p:sp>
        <p:nvSpPr>
          <p:cNvPr id="49" name="TextBox 48"/>
          <p:cNvSpPr txBox="1"/>
          <p:nvPr/>
        </p:nvSpPr>
        <p:spPr>
          <a:xfrm>
            <a:off x="6035040" y="5797296"/>
            <a:ext cx="5349240" cy="27432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Délai de production du dossier de conformité complet.</a:t>
            </a:r>
          </a:p>
        </p:txBody>
      </p:sp>
      <p:sp>
        <p:nvSpPr>
          <p:cNvPr id="50" name="Rectangle 49"/>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54" name="TextBox 53"/>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09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3" fill="hold">
                      <p:stCondLst>
                        <p:cond delay="indefinite"/>
                      </p:stCondLst>
                      <p:childTnLst>
                        <p:par>
                          <p:cTn id="15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380"/>
                                        <p:tgtEl>
                                          <p:spTgt spid="25"/>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380"/>
                                        <p:tgtEl>
                                          <p:spTgt spid="26"/>
                                        </p:tgtEl>
                                      </p:cBhvr>
                                    </p:animEffect>
                                  </p:childTnLst>
                                </p:cTn>
                              </p:par>
                              <p:par>
                                <p:cTn id="78" presetID="10" presetClass="entr" presetSubtype="0" fill="hold" grpId="0" nodeType="afterEffect">
                                  <p:stCondLst>
                                    <p:cond delay="13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380"/>
                                        <p:tgtEl>
                                          <p:spTgt spid="27"/>
                                        </p:tgtEl>
                                      </p:cBhvr>
                                    </p:animEffect>
                                  </p:childTnLst>
                                </p:cTn>
                              </p:par>
                              <p:par>
                                <p:cTn id="81" presetID="10" presetClass="entr" presetSubtype="0" fill="hold" grpId="0" nodeType="afterEffect">
                                  <p:stCondLst>
                                    <p:cond delay="13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80"/>
                                        <p:tgtEl>
                                          <p:spTgt spid="28"/>
                                        </p:tgtEl>
                                      </p:cBhvr>
                                    </p:animEffect>
                                  </p:childTnLst>
                                </p:cTn>
                              </p:par>
                              <p:par>
                                <p:cTn id="84" presetID="10" presetClass="entr" presetSubtype="0" fill="hold" grpId="0" nodeType="afterEffect">
                                  <p:stCondLst>
                                    <p:cond delay="13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380"/>
                                        <p:tgtEl>
                                          <p:spTgt spid="29"/>
                                        </p:tgtEl>
                                      </p:cBhvr>
                                    </p:animEffect>
                                  </p:childTnLst>
                                </p:cTn>
                              </p:par>
                              <p:par>
                                <p:cTn id="87" presetID="10" presetClass="entr" presetSubtype="0" fill="hold" grpId="0" nodeType="afterEffect">
                                  <p:stCondLst>
                                    <p:cond delay="13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380"/>
                                        <p:tgtEl>
                                          <p:spTgt spid="30"/>
                                        </p:tgtEl>
                                      </p:cBhvr>
                                    </p:animEffect>
                                  </p:childTnLst>
                                </p:cTn>
                              </p:par>
                              <p:par>
                                <p:cTn id="90" presetID="10" presetClass="entr" presetSubtype="0" fill="hold" grpId="0" nodeType="afterEffect">
                                  <p:stCondLst>
                                    <p:cond delay="13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380"/>
                                        <p:tgtEl>
                                          <p:spTgt spid="31"/>
                                        </p:tgtEl>
                                      </p:cBhvr>
                                    </p:animEffect>
                                  </p:childTnLst>
                                </p:cTn>
                              </p:par>
                              <p:par>
                                <p:cTn id="93" presetID="10" presetClass="entr" presetSubtype="0" fill="hold" grpId="0" nodeType="afterEffect">
                                  <p:stCondLst>
                                    <p:cond delay="13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380"/>
                                        <p:tgtEl>
                                          <p:spTgt spid="32"/>
                                        </p:tgtEl>
                                      </p:cBhvr>
                                    </p:animEffect>
                                  </p:childTnLst>
                                </p:cTn>
                              </p:par>
                              <p:par>
                                <p:cTn id="96" presetID="10" presetClass="entr" presetSubtype="0" fill="hold" grpId="0" nodeType="afterEffect">
                                  <p:stCondLst>
                                    <p:cond delay="13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380"/>
                                        <p:tgtEl>
                                          <p:spTgt spid="33"/>
                                        </p:tgtEl>
                                      </p:cBhvr>
                                    </p:animEffect>
                                  </p:childTnLst>
                                </p:cTn>
                              </p:par>
                              <p:par>
                                <p:cTn id="99" presetID="10" presetClass="entr" presetSubtype="0" fill="hold" grpId="0" nodeType="afterEffect">
                                  <p:stCondLst>
                                    <p:cond delay="13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380"/>
                                        <p:tgtEl>
                                          <p:spTgt spid="34"/>
                                        </p:tgtEl>
                                      </p:cBhvr>
                                    </p:animEffect>
                                  </p:childTnLst>
                                </p:cTn>
                              </p:par>
                              <p:par>
                                <p:cTn id="102" presetID="10" presetClass="entr" presetSubtype="0" fill="hold" grpId="0" nodeType="afterEffect">
                                  <p:stCondLst>
                                    <p:cond delay="13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380"/>
                                        <p:tgtEl>
                                          <p:spTgt spid="35"/>
                                        </p:tgtEl>
                                      </p:cBhvr>
                                    </p:animEffect>
                                  </p:childTnLst>
                                </p:cTn>
                              </p:par>
                              <p:par>
                                <p:cTn id="105" presetID="10" presetClass="entr" presetSubtype="0" fill="hold" grpId="0" nodeType="afterEffect">
                                  <p:stCondLst>
                                    <p:cond delay="13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380"/>
                                        <p:tgtEl>
                                          <p:spTgt spid="36"/>
                                        </p:tgtEl>
                                      </p:cBhvr>
                                    </p:animEffect>
                                  </p:childTnLst>
                                </p:cTn>
                              </p:par>
                              <p:par>
                                <p:cTn id="108" presetID="10" presetClass="entr" presetSubtype="0" fill="hold" grpId="0" nodeType="afterEffect">
                                  <p:stCondLst>
                                    <p:cond delay="130"/>
                                  </p:stCondLst>
                                  <p:childTnLst>
                                    <p:set>
                                      <p:cBhvr>
                                        <p:cTn id="109" dur="1" fill="hold">
                                          <p:stCondLst>
                                            <p:cond delay="0"/>
                                          </p:stCondLst>
                                        </p:cTn>
                                        <p:tgtEl>
                                          <p:spTgt spid="37"/>
                                        </p:tgtEl>
                                        <p:attrNameLst>
                                          <p:attrName>style.visibility</p:attrName>
                                        </p:attrNameLst>
                                      </p:cBhvr>
                                      <p:to>
                                        <p:strVal val="visible"/>
                                      </p:to>
                                    </p:set>
                                    <p:animEffect transition="in" filter="fade">
                                      <p:cBhvr>
                                        <p:cTn id="110" dur="380"/>
                                        <p:tgtEl>
                                          <p:spTgt spid="37"/>
                                        </p:tgtEl>
                                      </p:cBhvr>
                                    </p:animEffect>
                                  </p:childTnLst>
                                </p:cTn>
                              </p:par>
                              <p:par>
                                <p:cTn id="111" presetID="10" presetClass="entr" presetSubtype="0" fill="hold" grpId="0" nodeType="afterEffect">
                                  <p:stCondLst>
                                    <p:cond delay="13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3" dur="380"/>
                                        <p:tgtEl>
                                          <p:spTgt spid="38"/>
                                        </p:tgtEl>
                                      </p:cBhvr>
                                    </p:animEffect>
                                  </p:childTnLst>
                                </p:cTn>
                              </p:par>
                              <p:par>
                                <p:cTn id="114" presetID="10" presetClass="entr" presetSubtype="0" fill="hold" grpId="0" nodeType="afterEffect">
                                  <p:stCondLst>
                                    <p:cond delay="13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380"/>
                                        <p:tgtEl>
                                          <p:spTgt spid="39"/>
                                        </p:tgtEl>
                                      </p:cBhvr>
                                    </p:animEffect>
                                  </p:childTnLst>
                                </p:cTn>
                              </p:par>
                              <p:par>
                                <p:cTn id="117" presetID="10" presetClass="entr" presetSubtype="0" fill="hold" grpId="0" nodeType="afterEffect">
                                  <p:stCondLst>
                                    <p:cond delay="13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380"/>
                                        <p:tgtEl>
                                          <p:spTgt spid="40"/>
                                        </p:tgtEl>
                                      </p:cBhvr>
                                    </p:animEffect>
                                  </p:childTnLst>
                                </p:cTn>
                              </p:par>
                              <p:par>
                                <p:cTn id="120" presetID="10" presetClass="entr" presetSubtype="0" fill="hold" grpId="0" nodeType="afterEffect">
                                  <p:stCondLst>
                                    <p:cond delay="13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380"/>
                                        <p:tgtEl>
                                          <p:spTgt spid="41"/>
                                        </p:tgtEl>
                                      </p:cBhvr>
                                    </p:animEffect>
                                  </p:childTnLst>
                                </p:cTn>
                              </p:par>
                              <p:par>
                                <p:cTn id="123" presetID="10" presetClass="entr" presetSubtype="0" fill="hold" grpId="0" nodeType="afterEffect">
                                  <p:stCondLst>
                                    <p:cond delay="13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380"/>
                                        <p:tgtEl>
                                          <p:spTgt spid="42"/>
                                        </p:tgtEl>
                                      </p:cBhvr>
                                    </p:animEffect>
                                  </p:childTnLst>
                                </p:cTn>
                              </p:par>
                              <p:par>
                                <p:cTn id="126" presetID="10" presetClass="entr" presetSubtype="0" fill="hold" grpId="0" nodeType="afterEffect">
                                  <p:stCondLst>
                                    <p:cond delay="13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380"/>
                                        <p:tgtEl>
                                          <p:spTgt spid="43"/>
                                        </p:tgtEl>
                                      </p:cBhvr>
                                    </p:animEffect>
                                  </p:childTnLst>
                                </p:cTn>
                              </p:par>
                              <p:par>
                                <p:cTn id="129" presetID="10" presetClass="entr" presetSubtype="0" fill="hold" grpId="0" nodeType="afterEffect">
                                  <p:stCondLst>
                                    <p:cond delay="13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380"/>
                                        <p:tgtEl>
                                          <p:spTgt spid="44"/>
                                        </p:tgtEl>
                                      </p:cBhvr>
                                    </p:animEffect>
                                  </p:childTnLst>
                                </p:cTn>
                              </p:par>
                              <p:par>
                                <p:cTn id="132" presetID="10" presetClass="entr" presetSubtype="0" fill="hold" grpId="0" nodeType="afterEffect">
                                  <p:stCondLst>
                                    <p:cond delay="130"/>
                                  </p:stCondLst>
                                  <p:childTnLst>
                                    <p:set>
                                      <p:cBhvr>
                                        <p:cTn id="133" dur="1" fill="hold">
                                          <p:stCondLst>
                                            <p:cond delay="0"/>
                                          </p:stCondLst>
                                        </p:cTn>
                                        <p:tgtEl>
                                          <p:spTgt spid="45"/>
                                        </p:tgtEl>
                                        <p:attrNameLst>
                                          <p:attrName>style.visibility</p:attrName>
                                        </p:attrNameLst>
                                      </p:cBhvr>
                                      <p:to>
                                        <p:strVal val="visible"/>
                                      </p:to>
                                    </p:set>
                                    <p:animEffect transition="in" filter="fade">
                                      <p:cBhvr>
                                        <p:cTn id="134" dur="380"/>
                                        <p:tgtEl>
                                          <p:spTgt spid="45"/>
                                        </p:tgtEl>
                                      </p:cBhvr>
                                    </p:animEffect>
                                  </p:childTnLst>
                                </p:cTn>
                              </p:par>
                              <p:par>
                                <p:cTn id="135" presetID="10" presetClass="entr" presetSubtype="0" fill="hold" grpId="0" nodeType="afterEffect">
                                  <p:stCondLst>
                                    <p:cond delay="130"/>
                                  </p:stCondLst>
                                  <p:childTnLst>
                                    <p:set>
                                      <p:cBhvr>
                                        <p:cTn id="136" dur="1" fill="hold">
                                          <p:stCondLst>
                                            <p:cond delay="0"/>
                                          </p:stCondLst>
                                        </p:cTn>
                                        <p:tgtEl>
                                          <p:spTgt spid="46"/>
                                        </p:tgtEl>
                                        <p:attrNameLst>
                                          <p:attrName>style.visibility</p:attrName>
                                        </p:attrNameLst>
                                      </p:cBhvr>
                                      <p:to>
                                        <p:strVal val="visible"/>
                                      </p:to>
                                    </p:set>
                                    <p:animEffect transition="in" filter="fade">
                                      <p:cBhvr>
                                        <p:cTn id="137" dur="380"/>
                                        <p:tgtEl>
                                          <p:spTgt spid="46"/>
                                        </p:tgtEl>
                                      </p:cBhvr>
                                    </p:animEffect>
                                  </p:childTnLst>
                                </p:cTn>
                              </p:par>
                              <p:par>
                                <p:cTn id="138" presetID="10" presetClass="entr" presetSubtype="0" fill="hold" grpId="0" nodeType="afterEffect">
                                  <p:stCondLst>
                                    <p:cond delay="130"/>
                                  </p:stCondLst>
                                  <p:childTnLst>
                                    <p:set>
                                      <p:cBhvr>
                                        <p:cTn id="139" dur="1" fill="hold">
                                          <p:stCondLst>
                                            <p:cond delay="0"/>
                                          </p:stCondLst>
                                        </p:cTn>
                                        <p:tgtEl>
                                          <p:spTgt spid="47"/>
                                        </p:tgtEl>
                                        <p:attrNameLst>
                                          <p:attrName>style.visibility</p:attrName>
                                        </p:attrNameLst>
                                      </p:cBhvr>
                                      <p:to>
                                        <p:strVal val="visible"/>
                                      </p:to>
                                    </p:set>
                                    <p:animEffect transition="in" filter="fade">
                                      <p:cBhvr>
                                        <p:cTn id="140" dur="380"/>
                                        <p:tgtEl>
                                          <p:spTgt spid="47"/>
                                        </p:tgtEl>
                                      </p:cBhvr>
                                    </p:animEffect>
                                  </p:childTnLst>
                                </p:cTn>
                              </p:par>
                              <p:par>
                                <p:cTn id="141" presetID="10" presetClass="entr" presetSubtype="0" fill="hold" grpId="0" nodeType="afterEffect">
                                  <p:stCondLst>
                                    <p:cond delay="130"/>
                                  </p:stCondLst>
                                  <p:childTnLst>
                                    <p:set>
                                      <p:cBhvr>
                                        <p:cTn id="142" dur="1" fill="hold">
                                          <p:stCondLst>
                                            <p:cond delay="0"/>
                                          </p:stCondLst>
                                        </p:cTn>
                                        <p:tgtEl>
                                          <p:spTgt spid="48"/>
                                        </p:tgtEl>
                                        <p:attrNameLst>
                                          <p:attrName>style.visibility</p:attrName>
                                        </p:attrNameLst>
                                      </p:cBhvr>
                                      <p:to>
                                        <p:strVal val="visible"/>
                                      </p:to>
                                    </p:set>
                                    <p:animEffect transition="in" filter="fade">
                                      <p:cBhvr>
                                        <p:cTn id="143" dur="380"/>
                                        <p:tgtEl>
                                          <p:spTgt spid="48"/>
                                        </p:tgtEl>
                                      </p:cBhvr>
                                    </p:animEffect>
                                  </p:childTnLst>
                                </p:cTn>
                              </p:par>
                              <p:par>
                                <p:cTn id="144" presetID="10" presetClass="entr" presetSubtype="0" fill="hold" grpId="0" nodeType="afterEffect">
                                  <p:stCondLst>
                                    <p:cond delay="13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380"/>
                                        <p:tgtEl>
                                          <p:spTgt spid="49"/>
                                        </p:tgtEl>
                                      </p:cBhvr>
                                    </p:animEffect>
                                  </p:childTnLst>
                                </p:cTn>
                              </p:par>
                              <p:par>
                                <p:cTn id="147" presetID="10" presetClass="entr" presetSubtype="0" fill="hold" grpId="0" nodeType="afterEffect">
                                  <p:stCondLst>
                                    <p:cond delay="13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380"/>
                                        <p:tgtEl>
                                          <p:spTgt spid="53"/>
                                        </p:tgtEl>
                                      </p:cBhvr>
                                    </p:animEffect>
                                  </p:childTnLst>
                                </p:cTn>
                              </p:par>
                              <p:par>
                                <p:cTn id="150" presetID="10" presetClass="entr" presetSubtype="0" fill="hold" grpId="0" nodeType="afterEffect">
                                  <p:stCondLst>
                                    <p:cond delay="130"/>
                                  </p:stCondLst>
                                  <p:childTnLst>
                                    <p:set>
                                      <p:cBhvr>
                                        <p:cTn id="151" dur="1" fill="hold">
                                          <p:stCondLst>
                                            <p:cond delay="0"/>
                                          </p:stCondLst>
                                        </p:cTn>
                                        <p:tgtEl>
                                          <p:spTgt spid="54"/>
                                        </p:tgtEl>
                                        <p:attrNameLst>
                                          <p:attrName>style.visibility</p:attrName>
                                        </p:attrNameLst>
                                      </p:cBhvr>
                                      <p:to>
                                        <p:strVal val="visible"/>
                                      </p:to>
                                    </p:set>
                                    <p:animEffect transition="in" filter="fade">
                                      <p:cBhvr>
                                        <p:cTn id="152" dur="38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IMPACT</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Quatre plans d'impact, un seul outil</a:t>
            </a:r>
          </a:p>
        </p:txBody>
      </p:sp>
      <p:sp>
        <p:nvSpPr>
          <p:cNvPr id="4" name="Rounded Rectangle 3"/>
          <p:cNvSpPr/>
          <p:nvPr/>
        </p:nvSpPr>
        <p:spPr>
          <a:xfrm>
            <a:off x="566928" y="1627632"/>
            <a:ext cx="5394960" cy="2212848"/>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Oval 4"/>
          <p:cNvSpPr/>
          <p:nvPr/>
        </p:nvSpPr>
        <p:spPr>
          <a:xfrm>
            <a:off x="859536" y="1956816"/>
            <a:ext cx="960120" cy="96012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Donut 5"/>
          <p:cNvSpPr/>
          <p:nvPr/>
        </p:nvSpPr>
        <p:spPr>
          <a:xfrm>
            <a:off x="1111361" y="2208641"/>
            <a:ext cx="456468" cy="456468"/>
          </a:xfrm>
          <a:prstGeom prst="donut">
            <a:avLst>
              <a:gd name="adj" fmla="val 22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TextBox 6"/>
          <p:cNvSpPr txBox="1"/>
          <p:nvPr/>
        </p:nvSpPr>
        <p:spPr>
          <a:xfrm>
            <a:off x="1111361" y="2301361"/>
            <a:ext cx="456468" cy="285292"/>
          </a:xfrm>
          <a:prstGeom prst="rect">
            <a:avLst/>
          </a:prstGeom>
          <a:noFill/>
        </p:spPr>
        <p:txBody>
          <a:bodyPr wrap="square" anchor="ctr" lIns="0" rIns="0" tIns="0" bIns="0">
            <a:spAutoFit/>
          </a:bodyPr>
          <a:lstStyle/>
          <a:p>
            <a:pPr algn="ctr">
              <a:lnSpc>
                <a:spcPct val="100000"/>
              </a:lnSpc>
            </a:pPr>
            <a:r>
              <a:rPr sz="1716" b="1" i="0">
                <a:solidFill>
                  <a:srgbClr val="13251C"/>
                </a:solidFill>
                <a:latin typeface="Arial"/>
              </a:rPr>
              <a:t>€</a:t>
            </a:r>
          </a:p>
        </p:txBody>
      </p:sp>
      <p:sp>
        <p:nvSpPr>
          <p:cNvPr id="8" name="TextBox 7"/>
          <p:cNvSpPr txBox="1"/>
          <p:nvPr/>
        </p:nvSpPr>
        <p:spPr>
          <a:xfrm>
            <a:off x="2084831" y="2011680"/>
            <a:ext cx="3566160" cy="365760"/>
          </a:xfrm>
          <a:prstGeom prst="rect">
            <a:avLst/>
          </a:prstGeom>
          <a:noFill/>
        </p:spPr>
        <p:txBody>
          <a:bodyPr wrap="square" anchor="t" lIns="0" rIns="0" tIns="0" bIns="0">
            <a:spAutoFit/>
          </a:bodyPr>
          <a:lstStyle/>
          <a:p>
            <a:pPr algn="l">
              <a:lnSpc>
                <a:spcPct val="100000"/>
              </a:lnSpc>
            </a:pPr>
            <a:r>
              <a:rPr sz="1550" b="1" i="0">
                <a:solidFill>
                  <a:srgbClr val="13251C"/>
                </a:solidFill>
                <a:latin typeface="Arial"/>
              </a:rPr>
              <a:t>Économique</a:t>
            </a:r>
          </a:p>
        </p:txBody>
      </p:sp>
      <p:sp>
        <p:nvSpPr>
          <p:cNvPr id="9" name="TextBox 8"/>
          <p:cNvSpPr txBox="1"/>
          <p:nvPr/>
        </p:nvSpPr>
        <p:spPr>
          <a:xfrm>
            <a:off x="2084831" y="2432304"/>
            <a:ext cx="3566160" cy="1188720"/>
          </a:xfrm>
          <a:prstGeom prst="rect">
            <a:avLst/>
          </a:prstGeom>
          <a:noFill/>
        </p:spPr>
        <p:txBody>
          <a:bodyPr wrap="square" anchor="t" lIns="0" rIns="0" tIns="0" bIns="0">
            <a:spAutoFit/>
          </a:bodyPr>
          <a:lstStyle/>
          <a:p>
            <a:pPr algn="l">
              <a:lnSpc>
                <a:spcPct val="125000"/>
              </a:lnSpc>
            </a:pPr>
            <a:r>
              <a:rPr sz="1100" b="0" i="0">
                <a:solidFill>
                  <a:srgbClr val="3D4A43"/>
                </a:solidFill>
                <a:latin typeface="Arial"/>
              </a:rPr>
              <a:t>Accès au marché UE sécurisé — délai et coût de conformité réduits.</a:t>
            </a:r>
          </a:p>
        </p:txBody>
      </p:sp>
      <p:sp>
        <p:nvSpPr>
          <p:cNvPr id="10" name="Rounded Rectangle 9"/>
          <p:cNvSpPr/>
          <p:nvPr/>
        </p:nvSpPr>
        <p:spPr>
          <a:xfrm>
            <a:off x="6236208" y="1627632"/>
            <a:ext cx="5394960" cy="2212848"/>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Oval 10"/>
          <p:cNvSpPr/>
          <p:nvPr/>
        </p:nvSpPr>
        <p:spPr>
          <a:xfrm>
            <a:off x="6528816" y="1956816"/>
            <a:ext cx="960120" cy="96012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Oval 11"/>
          <p:cNvSpPr/>
          <p:nvPr/>
        </p:nvSpPr>
        <p:spPr>
          <a:xfrm>
            <a:off x="6759244" y="2222906"/>
            <a:ext cx="128381" cy="128381"/>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Oval 12"/>
          <p:cNvSpPr/>
          <p:nvPr/>
        </p:nvSpPr>
        <p:spPr>
          <a:xfrm>
            <a:off x="6730715" y="2394082"/>
            <a:ext cx="185440" cy="256763"/>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Oval 13"/>
          <p:cNvSpPr/>
          <p:nvPr/>
        </p:nvSpPr>
        <p:spPr>
          <a:xfrm>
            <a:off x="6944685" y="2222906"/>
            <a:ext cx="128381" cy="128381"/>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Oval 14"/>
          <p:cNvSpPr/>
          <p:nvPr/>
        </p:nvSpPr>
        <p:spPr>
          <a:xfrm>
            <a:off x="6916155" y="2394082"/>
            <a:ext cx="185440" cy="256763"/>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Oval 15"/>
          <p:cNvSpPr/>
          <p:nvPr/>
        </p:nvSpPr>
        <p:spPr>
          <a:xfrm>
            <a:off x="7130125" y="2222906"/>
            <a:ext cx="128381" cy="128381"/>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Oval 16"/>
          <p:cNvSpPr/>
          <p:nvPr/>
        </p:nvSpPr>
        <p:spPr>
          <a:xfrm>
            <a:off x="7101596" y="2394082"/>
            <a:ext cx="185440" cy="256763"/>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7754112" y="2011680"/>
            <a:ext cx="3566160" cy="365760"/>
          </a:xfrm>
          <a:prstGeom prst="rect">
            <a:avLst/>
          </a:prstGeom>
          <a:noFill/>
        </p:spPr>
        <p:txBody>
          <a:bodyPr wrap="square" anchor="t" lIns="0" rIns="0" tIns="0" bIns="0">
            <a:spAutoFit/>
          </a:bodyPr>
          <a:lstStyle/>
          <a:p>
            <a:pPr algn="l">
              <a:lnSpc>
                <a:spcPct val="100000"/>
              </a:lnSpc>
            </a:pPr>
            <a:r>
              <a:rPr sz="1550" b="1" i="0">
                <a:solidFill>
                  <a:srgbClr val="13251C"/>
                </a:solidFill>
                <a:latin typeface="Arial"/>
              </a:rPr>
              <a:t>Social</a:t>
            </a:r>
          </a:p>
        </p:txBody>
      </p:sp>
      <p:sp>
        <p:nvSpPr>
          <p:cNvPr id="19" name="TextBox 18"/>
          <p:cNvSpPr txBox="1"/>
          <p:nvPr/>
        </p:nvSpPr>
        <p:spPr>
          <a:xfrm>
            <a:off x="7754112" y="2432304"/>
            <a:ext cx="3566160" cy="1188720"/>
          </a:xfrm>
          <a:prstGeom prst="rect">
            <a:avLst/>
          </a:prstGeom>
          <a:noFill/>
        </p:spPr>
        <p:txBody>
          <a:bodyPr wrap="square" anchor="t" lIns="0" rIns="0" tIns="0" bIns="0">
            <a:spAutoFit/>
          </a:bodyPr>
          <a:lstStyle/>
          <a:p>
            <a:pPr algn="l">
              <a:lnSpc>
                <a:spcPct val="125000"/>
              </a:lnSpc>
            </a:pPr>
            <a:r>
              <a:rPr sz="1100" b="0" i="0">
                <a:solidFill>
                  <a:srgbClr val="3D4A43"/>
                </a:solidFill>
                <a:latin typeface="Arial"/>
              </a:rPr>
              <a:t>Un outil direct pour les petites coopératives, sans intermédiaire coûteux.</a:t>
            </a:r>
          </a:p>
        </p:txBody>
      </p:sp>
      <p:sp>
        <p:nvSpPr>
          <p:cNvPr id="20" name="Rounded Rectangle 19"/>
          <p:cNvSpPr/>
          <p:nvPr/>
        </p:nvSpPr>
        <p:spPr>
          <a:xfrm>
            <a:off x="566928" y="4133087"/>
            <a:ext cx="5394960" cy="2212848"/>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Oval 20"/>
          <p:cNvSpPr/>
          <p:nvPr/>
        </p:nvSpPr>
        <p:spPr>
          <a:xfrm>
            <a:off x="859536" y="4462272"/>
            <a:ext cx="960120" cy="96012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Isosceles Triangle 21"/>
          <p:cNvSpPr/>
          <p:nvPr/>
        </p:nvSpPr>
        <p:spPr>
          <a:xfrm>
            <a:off x="1125626" y="4642774"/>
            <a:ext cx="427939" cy="442203"/>
          </a:xfrm>
          <a:prstGeom prst="triangle">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3" name="Rounded Rectangle 22"/>
          <p:cNvSpPr/>
          <p:nvPr/>
        </p:nvSpPr>
        <p:spPr>
          <a:xfrm>
            <a:off x="1300368" y="5042184"/>
            <a:ext cx="78455" cy="213969"/>
          </a:xfrm>
          <a:prstGeom prst="roundRect">
            <a:avLst>
              <a:gd name="adj" fmla="val 30000"/>
            </a:avLst>
          </a:prstGeom>
          <a:solidFill>
            <a:srgbClr val="0660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TextBox 23"/>
          <p:cNvSpPr txBox="1"/>
          <p:nvPr/>
        </p:nvSpPr>
        <p:spPr>
          <a:xfrm>
            <a:off x="2084831" y="4517136"/>
            <a:ext cx="3566160" cy="365760"/>
          </a:xfrm>
          <a:prstGeom prst="rect">
            <a:avLst/>
          </a:prstGeom>
          <a:noFill/>
        </p:spPr>
        <p:txBody>
          <a:bodyPr wrap="square" anchor="t" lIns="0" rIns="0" tIns="0" bIns="0">
            <a:spAutoFit/>
          </a:bodyPr>
          <a:lstStyle/>
          <a:p>
            <a:pPr algn="l">
              <a:lnSpc>
                <a:spcPct val="100000"/>
              </a:lnSpc>
            </a:pPr>
            <a:r>
              <a:rPr sz="1550" b="1" i="0">
                <a:solidFill>
                  <a:srgbClr val="13251C"/>
                </a:solidFill>
                <a:latin typeface="Arial"/>
              </a:rPr>
              <a:t>Environnemental</a:t>
            </a:r>
          </a:p>
        </p:txBody>
      </p:sp>
      <p:sp>
        <p:nvSpPr>
          <p:cNvPr id="25" name="TextBox 24"/>
          <p:cNvSpPr txBox="1"/>
          <p:nvPr/>
        </p:nvSpPr>
        <p:spPr>
          <a:xfrm>
            <a:off x="2084831" y="4937759"/>
            <a:ext cx="3566160" cy="1188720"/>
          </a:xfrm>
          <a:prstGeom prst="rect">
            <a:avLst/>
          </a:prstGeom>
          <a:noFill/>
        </p:spPr>
        <p:txBody>
          <a:bodyPr wrap="square" anchor="t" lIns="0" rIns="0" tIns="0" bIns="0">
            <a:spAutoFit/>
          </a:bodyPr>
          <a:lstStyle/>
          <a:p>
            <a:pPr algn="l">
              <a:lnSpc>
                <a:spcPct val="125000"/>
              </a:lnSpc>
            </a:pPr>
            <a:r>
              <a:rPr sz="1100" b="0" i="0">
                <a:solidFill>
                  <a:srgbClr val="3D4A43"/>
                </a:solidFill>
                <a:latin typeface="Arial"/>
              </a:rPr>
              <a:t>Suivi continu du couvert forestier autour des zones de production.</a:t>
            </a:r>
          </a:p>
        </p:txBody>
      </p:sp>
      <p:sp>
        <p:nvSpPr>
          <p:cNvPr id="26" name="Rounded Rectangle 25"/>
          <p:cNvSpPr/>
          <p:nvPr/>
        </p:nvSpPr>
        <p:spPr>
          <a:xfrm>
            <a:off x="6236208" y="4133087"/>
            <a:ext cx="5394960" cy="2212848"/>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7" name="Oval 26"/>
          <p:cNvSpPr/>
          <p:nvPr/>
        </p:nvSpPr>
        <p:spPr>
          <a:xfrm>
            <a:off x="6528816" y="4462272"/>
            <a:ext cx="960120" cy="96012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Rectangle 27"/>
          <p:cNvSpPr/>
          <p:nvPr/>
        </p:nvSpPr>
        <p:spPr>
          <a:xfrm>
            <a:off x="6809171" y="4685568"/>
            <a:ext cx="399409" cy="513527"/>
          </a:xfrm>
          <a:prstGeom prst="rect">
            <a:avLst/>
          </a:prstGeom>
          <a:solidFill>
            <a:srgbClr val="D9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Rectangle 28"/>
          <p:cNvSpPr/>
          <p:nvPr/>
        </p:nvSpPr>
        <p:spPr>
          <a:xfrm>
            <a:off x="6873361" y="4756891"/>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0" name="Rectangle 29"/>
          <p:cNvSpPr/>
          <p:nvPr/>
        </p:nvSpPr>
        <p:spPr>
          <a:xfrm>
            <a:off x="6873361" y="4899538"/>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1" name="Rectangle 30"/>
          <p:cNvSpPr/>
          <p:nvPr/>
        </p:nvSpPr>
        <p:spPr>
          <a:xfrm>
            <a:off x="6980346" y="4756891"/>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2" name="Rectangle 31"/>
          <p:cNvSpPr/>
          <p:nvPr/>
        </p:nvSpPr>
        <p:spPr>
          <a:xfrm>
            <a:off x="6980346" y="4899538"/>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3" name="Rectangle 32"/>
          <p:cNvSpPr/>
          <p:nvPr/>
        </p:nvSpPr>
        <p:spPr>
          <a:xfrm>
            <a:off x="7087331" y="4756891"/>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4" name="Rectangle 33"/>
          <p:cNvSpPr/>
          <p:nvPr/>
        </p:nvSpPr>
        <p:spPr>
          <a:xfrm>
            <a:off x="7087331" y="4899538"/>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5" name="TextBox 34"/>
          <p:cNvSpPr txBox="1"/>
          <p:nvPr/>
        </p:nvSpPr>
        <p:spPr>
          <a:xfrm>
            <a:off x="7754112" y="4517136"/>
            <a:ext cx="3566160" cy="365760"/>
          </a:xfrm>
          <a:prstGeom prst="rect">
            <a:avLst/>
          </a:prstGeom>
          <a:noFill/>
        </p:spPr>
        <p:txBody>
          <a:bodyPr wrap="square" anchor="t" lIns="0" rIns="0" tIns="0" bIns="0">
            <a:spAutoFit/>
          </a:bodyPr>
          <a:lstStyle/>
          <a:p>
            <a:pPr algn="l">
              <a:lnSpc>
                <a:spcPct val="100000"/>
              </a:lnSpc>
            </a:pPr>
            <a:r>
              <a:rPr sz="1550" b="1" i="0">
                <a:solidFill>
                  <a:srgbClr val="13251C"/>
                </a:solidFill>
                <a:latin typeface="Arial"/>
              </a:rPr>
              <a:t>Institutionnel</a:t>
            </a:r>
          </a:p>
        </p:txBody>
      </p:sp>
      <p:sp>
        <p:nvSpPr>
          <p:cNvPr id="36" name="TextBox 35"/>
          <p:cNvSpPr txBox="1"/>
          <p:nvPr/>
        </p:nvSpPr>
        <p:spPr>
          <a:xfrm>
            <a:off x="7754112" y="4937759"/>
            <a:ext cx="3566160" cy="1188720"/>
          </a:xfrm>
          <a:prstGeom prst="rect">
            <a:avLst/>
          </a:prstGeom>
          <a:noFill/>
        </p:spPr>
        <p:txBody>
          <a:bodyPr wrap="square" anchor="t" lIns="0" rIns="0" tIns="0" bIns="0">
            <a:spAutoFit/>
          </a:bodyPr>
          <a:lstStyle/>
          <a:p>
            <a:pPr algn="l">
              <a:lnSpc>
                <a:spcPct val="125000"/>
              </a:lnSpc>
            </a:pPr>
            <a:r>
              <a:rPr sz="1100" b="0" i="0">
                <a:solidFill>
                  <a:srgbClr val="3D4A43"/>
                </a:solidFill>
                <a:latin typeface="Arial"/>
              </a:rPr>
              <a:t>Une base nationale consolidée pour le Conseil du Café-Cacao.</a:t>
            </a:r>
          </a:p>
        </p:txBody>
      </p:sp>
      <p:sp>
        <p:nvSpPr>
          <p:cNvPr id="37" name="Rectangle 36"/>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41" name="TextBox 40"/>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10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380"/>
                                        <p:tgtEl>
                                          <p:spTgt spid="25"/>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380"/>
                                        <p:tgtEl>
                                          <p:spTgt spid="26"/>
                                        </p:tgtEl>
                                      </p:cBhvr>
                                    </p:animEffect>
                                  </p:childTnLst>
                                </p:cTn>
                              </p:par>
                              <p:par>
                                <p:cTn id="78" presetID="10" presetClass="entr" presetSubtype="0" fill="hold" grpId="0" nodeType="afterEffect">
                                  <p:stCondLst>
                                    <p:cond delay="13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380"/>
                                        <p:tgtEl>
                                          <p:spTgt spid="27"/>
                                        </p:tgtEl>
                                      </p:cBhvr>
                                    </p:animEffect>
                                  </p:childTnLst>
                                </p:cTn>
                              </p:par>
                              <p:par>
                                <p:cTn id="81" presetID="10" presetClass="entr" presetSubtype="0" fill="hold" grpId="0" nodeType="afterEffect">
                                  <p:stCondLst>
                                    <p:cond delay="13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80"/>
                                        <p:tgtEl>
                                          <p:spTgt spid="28"/>
                                        </p:tgtEl>
                                      </p:cBhvr>
                                    </p:animEffect>
                                  </p:childTnLst>
                                </p:cTn>
                              </p:par>
                              <p:par>
                                <p:cTn id="84" presetID="10" presetClass="entr" presetSubtype="0" fill="hold" grpId="0" nodeType="afterEffect">
                                  <p:stCondLst>
                                    <p:cond delay="13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380"/>
                                        <p:tgtEl>
                                          <p:spTgt spid="29"/>
                                        </p:tgtEl>
                                      </p:cBhvr>
                                    </p:animEffect>
                                  </p:childTnLst>
                                </p:cTn>
                              </p:par>
                              <p:par>
                                <p:cTn id="87" presetID="10" presetClass="entr" presetSubtype="0" fill="hold" grpId="0" nodeType="afterEffect">
                                  <p:stCondLst>
                                    <p:cond delay="13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380"/>
                                        <p:tgtEl>
                                          <p:spTgt spid="30"/>
                                        </p:tgtEl>
                                      </p:cBhvr>
                                    </p:animEffect>
                                  </p:childTnLst>
                                </p:cTn>
                              </p:par>
                              <p:par>
                                <p:cTn id="90" presetID="10" presetClass="entr" presetSubtype="0" fill="hold" grpId="0" nodeType="afterEffect">
                                  <p:stCondLst>
                                    <p:cond delay="13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380"/>
                                        <p:tgtEl>
                                          <p:spTgt spid="31"/>
                                        </p:tgtEl>
                                      </p:cBhvr>
                                    </p:animEffect>
                                  </p:childTnLst>
                                </p:cTn>
                              </p:par>
                              <p:par>
                                <p:cTn id="93" presetID="10" presetClass="entr" presetSubtype="0" fill="hold" grpId="0" nodeType="afterEffect">
                                  <p:stCondLst>
                                    <p:cond delay="13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380"/>
                                        <p:tgtEl>
                                          <p:spTgt spid="32"/>
                                        </p:tgtEl>
                                      </p:cBhvr>
                                    </p:animEffect>
                                  </p:childTnLst>
                                </p:cTn>
                              </p:par>
                              <p:par>
                                <p:cTn id="96" presetID="10" presetClass="entr" presetSubtype="0" fill="hold" grpId="0" nodeType="afterEffect">
                                  <p:stCondLst>
                                    <p:cond delay="13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380"/>
                                        <p:tgtEl>
                                          <p:spTgt spid="33"/>
                                        </p:tgtEl>
                                      </p:cBhvr>
                                    </p:animEffect>
                                  </p:childTnLst>
                                </p:cTn>
                              </p:par>
                              <p:par>
                                <p:cTn id="99" presetID="10" presetClass="entr" presetSubtype="0" fill="hold" grpId="0" nodeType="afterEffect">
                                  <p:stCondLst>
                                    <p:cond delay="13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380"/>
                                        <p:tgtEl>
                                          <p:spTgt spid="34"/>
                                        </p:tgtEl>
                                      </p:cBhvr>
                                    </p:animEffect>
                                  </p:childTnLst>
                                </p:cTn>
                              </p:par>
                              <p:par>
                                <p:cTn id="102" presetID="10" presetClass="entr" presetSubtype="0" fill="hold" grpId="0" nodeType="afterEffect">
                                  <p:stCondLst>
                                    <p:cond delay="13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380"/>
                                        <p:tgtEl>
                                          <p:spTgt spid="35"/>
                                        </p:tgtEl>
                                      </p:cBhvr>
                                    </p:animEffect>
                                  </p:childTnLst>
                                </p:cTn>
                              </p:par>
                              <p:par>
                                <p:cTn id="105" presetID="10" presetClass="entr" presetSubtype="0" fill="hold" grpId="0" nodeType="afterEffect">
                                  <p:stCondLst>
                                    <p:cond delay="13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380"/>
                                        <p:tgtEl>
                                          <p:spTgt spid="36"/>
                                        </p:tgtEl>
                                      </p:cBhvr>
                                    </p:animEffect>
                                  </p:childTnLst>
                                </p:cTn>
                              </p:par>
                              <p:par>
                                <p:cTn id="108" presetID="10" presetClass="entr" presetSubtype="0" fill="hold" grpId="0" nodeType="afterEffect">
                                  <p:stCondLst>
                                    <p:cond delay="130"/>
                                  </p:stCondLst>
                                  <p:childTnLst>
                                    <p:set>
                                      <p:cBhvr>
                                        <p:cTn id="109" dur="1" fill="hold">
                                          <p:stCondLst>
                                            <p:cond delay="0"/>
                                          </p:stCondLst>
                                        </p:cTn>
                                        <p:tgtEl>
                                          <p:spTgt spid="40"/>
                                        </p:tgtEl>
                                        <p:attrNameLst>
                                          <p:attrName>style.visibility</p:attrName>
                                        </p:attrNameLst>
                                      </p:cBhvr>
                                      <p:to>
                                        <p:strVal val="visible"/>
                                      </p:to>
                                    </p:set>
                                    <p:animEffect transition="in" filter="fade">
                                      <p:cBhvr>
                                        <p:cTn id="110" dur="380"/>
                                        <p:tgtEl>
                                          <p:spTgt spid="40"/>
                                        </p:tgtEl>
                                      </p:cBhvr>
                                    </p:animEffect>
                                  </p:childTnLst>
                                </p:cTn>
                              </p:par>
                              <p:par>
                                <p:cTn id="111" presetID="10" presetClass="entr" presetSubtype="0" fill="hold" grpId="0" nodeType="afterEffect">
                                  <p:stCondLst>
                                    <p:cond delay="130"/>
                                  </p:stCondLst>
                                  <p:childTnLst>
                                    <p:set>
                                      <p:cBhvr>
                                        <p:cTn id="112" dur="1" fill="hold">
                                          <p:stCondLst>
                                            <p:cond delay="0"/>
                                          </p:stCondLst>
                                        </p:cTn>
                                        <p:tgtEl>
                                          <p:spTgt spid="41"/>
                                        </p:tgtEl>
                                        <p:attrNameLst>
                                          <p:attrName>style.visibility</p:attrName>
                                        </p:attrNameLst>
                                      </p:cBhvr>
                                      <p:to>
                                        <p:strVal val="visible"/>
                                      </p:to>
                                    </p:set>
                                    <p:animEffect transition="in" filter="fade">
                                      <p:cBhvr>
                                        <p:cTn id="113" dur="38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CRÉDIBILITÉ</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Sous le capot : prêt pour la production</a:t>
            </a:r>
          </a:p>
        </p:txBody>
      </p:sp>
      <p:sp>
        <p:nvSpPr>
          <p:cNvPr id="4" name="Rounded Rectangle 3"/>
          <p:cNvSpPr/>
          <p:nvPr/>
        </p:nvSpPr>
        <p:spPr>
          <a:xfrm>
            <a:off x="566928" y="1572768"/>
            <a:ext cx="5852160" cy="306324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TextBox 4"/>
          <p:cNvSpPr txBox="1"/>
          <p:nvPr/>
        </p:nvSpPr>
        <p:spPr>
          <a:xfrm>
            <a:off x="841248" y="1755648"/>
            <a:ext cx="5303520" cy="274320"/>
          </a:xfrm>
          <a:prstGeom prst="rect">
            <a:avLst/>
          </a:prstGeom>
          <a:noFill/>
        </p:spPr>
        <p:txBody>
          <a:bodyPr wrap="square" anchor="t" lIns="0" rIns="0" tIns="0" bIns="0">
            <a:spAutoFit/>
          </a:bodyPr>
          <a:lstStyle/>
          <a:p>
            <a:pPr algn="l">
              <a:lnSpc>
                <a:spcPct val="100000"/>
              </a:lnSpc>
            </a:pPr>
            <a:r>
              <a:rPr sz="1250" b="1" i="0">
                <a:solidFill>
                  <a:srgbClr val="13251C"/>
                </a:solidFill>
                <a:latin typeface="Arial"/>
              </a:rPr>
              <a:t>Temps de production du dossier de conformité</a:t>
            </a:r>
          </a:p>
        </p:txBody>
      </p:sp>
      <p:pic>
        <p:nvPicPr>
          <p:cNvPr id="6" name="Picture 5" descr="delai.png"/>
          <p:cNvPicPr>
            <a:picLocks noChangeAspect="1"/>
          </p:cNvPicPr>
          <p:nvPr/>
        </p:nvPicPr>
        <p:blipFill>
          <a:blip r:embed="rId2"/>
          <a:stretch>
            <a:fillRect/>
          </a:stretch>
        </p:blipFill>
        <p:spPr>
          <a:xfrm>
            <a:off x="777240" y="2148840"/>
            <a:ext cx="5440680" cy="2029460"/>
          </a:xfrm>
          <a:prstGeom prst="rect">
            <a:avLst/>
          </a:prstGeom>
        </p:spPr>
      </p:pic>
      <p:sp>
        <p:nvSpPr>
          <p:cNvPr id="7" name="Rounded Rectangle 6"/>
          <p:cNvSpPr/>
          <p:nvPr/>
        </p:nvSpPr>
        <p:spPr>
          <a:xfrm>
            <a:off x="566928" y="4892040"/>
            <a:ext cx="5852160" cy="1280160"/>
          </a:xfrm>
          <a:prstGeom prst="roundRect">
            <a:avLst>
              <a:gd name="adj" fmla="val 8500"/>
            </a:avLst>
          </a:prstGeom>
          <a:solidFill>
            <a:srgbClr val="E2F4E9"/>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TextBox 7"/>
          <p:cNvSpPr txBox="1"/>
          <p:nvPr/>
        </p:nvSpPr>
        <p:spPr>
          <a:xfrm>
            <a:off x="868680" y="5084064"/>
            <a:ext cx="5394960" cy="365760"/>
          </a:xfrm>
          <a:prstGeom prst="rect">
            <a:avLst/>
          </a:prstGeom>
          <a:noFill/>
        </p:spPr>
        <p:txBody>
          <a:bodyPr wrap="square" anchor="t" lIns="0" rIns="0" tIns="0" bIns="0">
            <a:spAutoFit/>
          </a:bodyPr>
          <a:lstStyle/>
          <a:p>
            <a:pPr algn="l">
              <a:lnSpc>
                <a:spcPct val="100000"/>
              </a:lnSpc>
            </a:pPr>
            <a:r>
              <a:rPr sz="1200" b="1" i="0">
                <a:solidFill>
                  <a:srgbClr val="007A3D"/>
                </a:solidFill>
                <a:latin typeface="Arial"/>
              </a:rPr>
              <a:t>Mock déterministe des services satellite</a:t>
            </a:r>
          </a:p>
        </p:txBody>
      </p:sp>
      <p:sp>
        <p:nvSpPr>
          <p:cNvPr id="9" name="TextBox 8"/>
          <p:cNvSpPr txBox="1"/>
          <p:nvPr/>
        </p:nvSpPr>
        <p:spPr>
          <a:xfrm>
            <a:off x="868680" y="5440680"/>
            <a:ext cx="5394960" cy="59436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Démo reproductible ; l'architecture est prête à brancher les flux réels sans changement de contrat.</a:t>
            </a:r>
          </a:p>
        </p:txBody>
      </p:sp>
      <p:sp>
        <p:nvSpPr>
          <p:cNvPr id="10" name="TextBox 9"/>
          <p:cNvSpPr txBox="1"/>
          <p:nvPr/>
        </p:nvSpPr>
        <p:spPr>
          <a:xfrm>
            <a:off x="6766560" y="1627632"/>
            <a:ext cx="4846320" cy="292608"/>
          </a:xfrm>
          <a:prstGeom prst="rect">
            <a:avLst/>
          </a:prstGeom>
          <a:noFill/>
        </p:spPr>
        <p:txBody>
          <a:bodyPr wrap="square" anchor="t" lIns="0" rIns="0" tIns="0" bIns="0">
            <a:spAutoFit/>
          </a:bodyPr>
          <a:lstStyle/>
          <a:p>
            <a:pPr algn="l">
              <a:lnSpc>
                <a:spcPct val="100000"/>
              </a:lnSpc>
            </a:pPr>
            <a:r>
              <a:rPr sz="1000" b="1" i="0" spc="110">
                <a:solidFill>
                  <a:srgbClr val="007A3D"/>
                </a:solidFill>
                <a:latin typeface="Arial"/>
              </a:rPr>
              <a:t>UNE STACK LIBRE, TESTÉE, DÉPLOYABLE</a:t>
            </a:r>
          </a:p>
        </p:txBody>
      </p:sp>
      <p:sp>
        <p:nvSpPr>
          <p:cNvPr id="11" name="Rounded Rectangle 10"/>
          <p:cNvSpPr/>
          <p:nvPr/>
        </p:nvSpPr>
        <p:spPr>
          <a:xfrm>
            <a:off x="6766560" y="2011680"/>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Flask 3 + PostGIS</a:t>
            </a:r>
          </a:p>
        </p:txBody>
      </p:sp>
      <p:sp>
        <p:nvSpPr>
          <p:cNvPr id="12" name="Rounded Rectangle 11"/>
          <p:cNvSpPr/>
          <p:nvPr/>
        </p:nvSpPr>
        <p:spPr>
          <a:xfrm>
            <a:off x="9326880" y="2011680"/>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React 18 + Vite</a:t>
            </a:r>
          </a:p>
        </p:txBody>
      </p:sp>
      <p:sp>
        <p:nvSpPr>
          <p:cNvPr id="13" name="Rounded Rectangle 12"/>
          <p:cNvSpPr/>
          <p:nvPr/>
        </p:nvSpPr>
        <p:spPr>
          <a:xfrm>
            <a:off x="6766560" y="2615184"/>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Flutter hors-ligne</a:t>
            </a:r>
          </a:p>
        </p:txBody>
      </p:sp>
      <p:sp>
        <p:nvSpPr>
          <p:cNvPr id="14" name="Rounded Rectangle 13"/>
          <p:cNvSpPr/>
          <p:nvPr/>
        </p:nvSpPr>
        <p:spPr>
          <a:xfrm>
            <a:off x="9326880" y="2615184"/>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Docker Compose</a:t>
            </a:r>
          </a:p>
        </p:txBody>
      </p:sp>
      <p:sp>
        <p:nvSpPr>
          <p:cNvPr id="15" name="Rounded Rectangle 14"/>
          <p:cNvSpPr/>
          <p:nvPr/>
        </p:nvSpPr>
        <p:spPr>
          <a:xfrm>
            <a:off x="6766560" y="3218688"/>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GitHub Actions CI</a:t>
            </a:r>
          </a:p>
        </p:txBody>
      </p:sp>
      <p:sp>
        <p:nvSpPr>
          <p:cNvPr id="16" name="Rounded Rectangle 15"/>
          <p:cNvSpPr/>
          <p:nvPr/>
        </p:nvSpPr>
        <p:spPr>
          <a:xfrm>
            <a:off x="9326880" y="3218688"/>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ReportLab (PDF)</a:t>
            </a:r>
          </a:p>
        </p:txBody>
      </p:sp>
      <p:sp>
        <p:nvSpPr>
          <p:cNvPr id="17" name="Rounded Rectangle 16"/>
          <p:cNvSpPr/>
          <p:nvPr/>
        </p:nvSpPr>
        <p:spPr>
          <a:xfrm>
            <a:off x="6766560" y="3977639"/>
            <a:ext cx="4846320" cy="457200"/>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007A3D"/>
                </a:solidFill>
                <a:latin typeface="Arial"/>
              </a:rPr>
              <a:t>76 tests backend · 84 % de couverture</a:t>
            </a:r>
          </a:p>
        </p:txBody>
      </p:sp>
      <p:sp>
        <p:nvSpPr>
          <p:cNvPr id="18" name="Rounded Rectangle 17"/>
          <p:cNvSpPr/>
          <p:nvPr/>
        </p:nvSpPr>
        <p:spPr>
          <a:xfrm>
            <a:off x="6766560" y="4544568"/>
            <a:ext cx="4846320" cy="457200"/>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007A3D"/>
                </a:solidFill>
                <a:latin typeface="Arial"/>
              </a:rPr>
              <a:t>Smoke e2e 10/10 · CI verte sur 3 composants</a:t>
            </a:r>
          </a:p>
        </p:txBody>
      </p:sp>
      <p:sp>
        <p:nvSpPr>
          <p:cNvPr id="19" name="Rounded Rectangle 18"/>
          <p:cNvSpPr/>
          <p:nvPr/>
        </p:nvSpPr>
        <p:spPr>
          <a:xfrm>
            <a:off x="6766560" y="5111496"/>
            <a:ext cx="4846320" cy="457200"/>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D95E00"/>
                </a:solidFill>
                <a:latin typeface="Arial"/>
              </a:rPr>
              <a:t>34 routes API · JWT + journal d'audit</a:t>
            </a:r>
          </a:p>
        </p:txBody>
      </p:sp>
      <p:sp>
        <p:nvSpPr>
          <p:cNvPr id="20" name="Rounded Rectangle 19"/>
          <p:cNvSpPr/>
          <p:nvPr/>
        </p:nvSpPr>
        <p:spPr>
          <a:xfrm>
            <a:off x="6766560" y="5806440"/>
            <a:ext cx="4846320" cy="658368"/>
          </a:xfrm>
          <a:prstGeom prst="roundRect">
            <a:avLst>
              <a:gd name="adj" fmla="val 16000"/>
            </a:avLst>
          </a:prstGeom>
          <a:solidFill>
            <a:srgbClr val="13251C"/>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150" b="1">
                <a:solidFill>
                  <a:srgbClr val="FFFFFF"/>
                </a:solidFill>
                <a:latin typeface="Arial"/>
              </a:rPr>
              <a:t>Déployable en une commande :  </a:t>
            </a:r>
            <a:r>
              <a:rPr sz="1150" b="1">
                <a:solidFill>
                  <a:srgbClr val="7BD9A2"/>
                </a:solidFill>
                <a:latin typeface="Arial"/>
              </a:rPr>
              <a:t>docker compose up</a:t>
            </a:r>
          </a:p>
        </p:txBody>
      </p:sp>
      <p:sp>
        <p:nvSpPr>
          <p:cNvPr id="21" name="Rectangle 20"/>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25" name="TextBox 24"/>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11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stCondLst>
                      <p:childTnLst>
                        <p:par>
                          <p:cTn id="6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380"/>
                                        <p:tgtEl>
                                          <p:spTgt spid="24"/>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38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AU-DELÀ DU HACKATHON</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Du pilote à l'échelle nationale</a:t>
            </a:r>
          </a:p>
        </p:txBody>
      </p:sp>
      <p:sp>
        <p:nvSpPr>
          <p:cNvPr id="4" name="Rectangle 3"/>
          <p:cNvSpPr/>
          <p:nvPr/>
        </p:nvSpPr>
        <p:spPr>
          <a:xfrm>
            <a:off x="868680" y="2331720"/>
            <a:ext cx="10469880" cy="32004"/>
          </a:xfrm>
          <a:prstGeom prst="rect">
            <a:avLst/>
          </a:prstGeom>
          <a:solidFill>
            <a:srgbClr val="E3E8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Rounded Rectangle 4"/>
          <p:cNvSpPr/>
          <p:nvPr/>
        </p:nvSpPr>
        <p:spPr>
          <a:xfrm>
            <a:off x="566928" y="1627632"/>
            <a:ext cx="2377440" cy="402336"/>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007A3D"/>
                </a:solidFill>
                <a:latin typeface="Arial"/>
              </a:rPr>
              <a:t>Sept. 2026 · Ivoire Spacehack</a:t>
            </a:r>
          </a:p>
        </p:txBody>
      </p:sp>
      <p:sp>
        <p:nvSpPr>
          <p:cNvPr id="6" name="Oval 5"/>
          <p:cNvSpPr/>
          <p:nvPr/>
        </p:nvSpPr>
        <p:spPr>
          <a:xfrm>
            <a:off x="2180844" y="2244851"/>
            <a:ext cx="201168" cy="201168"/>
          </a:xfrm>
          <a:prstGeom prst="ellipse">
            <a:avLst/>
          </a:prstGeom>
          <a:solidFill>
            <a:srgbClr val="FF7A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Rounded Rectangle 6"/>
          <p:cNvSpPr/>
          <p:nvPr/>
        </p:nvSpPr>
        <p:spPr>
          <a:xfrm>
            <a:off x="566928" y="2743200"/>
            <a:ext cx="3429000" cy="237744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804672" y="2962656"/>
            <a:ext cx="365760" cy="5486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804672" y="3108960"/>
            <a:ext cx="2971800" cy="274320"/>
          </a:xfrm>
          <a:prstGeom prst="rect">
            <a:avLst/>
          </a:prstGeom>
          <a:noFill/>
        </p:spPr>
        <p:txBody>
          <a:bodyPr wrap="square" anchor="t" lIns="0" rIns="0" tIns="0" bIns="0">
            <a:spAutoFit/>
          </a:bodyPr>
          <a:lstStyle/>
          <a:p>
            <a:pPr algn="l">
              <a:lnSpc>
                <a:spcPct val="100000"/>
              </a:lnSpc>
            </a:pPr>
            <a:r>
              <a:rPr sz="1050" b="1" i="0" spc="110">
                <a:solidFill>
                  <a:srgbClr val="FF7A00"/>
                </a:solidFill>
                <a:latin typeface="Arial"/>
              </a:rPr>
              <a:t>FIN 2026</a:t>
            </a:r>
          </a:p>
        </p:txBody>
      </p:sp>
      <p:sp>
        <p:nvSpPr>
          <p:cNvPr id="10" name="TextBox 9"/>
          <p:cNvSpPr txBox="1"/>
          <p:nvPr/>
        </p:nvSpPr>
        <p:spPr>
          <a:xfrm>
            <a:off x="804672" y="3401568"/>
            <a:ext cx="2971800" cy="365760"/>
          </a:xfrm>
          <a:prstGeom prst="rect">
            <a:avLst/>
          </a:prstGeom>
          <a:noFill/>
        </p:spPr>
        <p:txBody>
          <a:bodyPr wrap="square" anchor="t" lIns="0" rIns="0" tIns="0" bIns="0">
            <a:spAutoFit/>
          </a:bodyPr>
          <a:lstStyle/>
          <a:p>
            <a:pPr algn="l">
              <a:lnSpc>
                <a:spcPct val="100000"/>
              </a:lnSpc>
            </a:pPr>
            <a:r>
              <a:rPr sz="1450" b="1" i="0">
                <a:solidFill>
                  <a:srgbClr val="13251C"/>
                </a:solidFill>
                <a:latin typeface="Arial"/>
              </a:rPr>
              <a:t>Pilote terrain</a:t>
            </a:r>
          </a:p>
        </p:txBody>
      </p:sp>
      <p:sp>
        <p:nvSpPr>
          <p:cNvPr id="11" name="TextBox 10"/>
          <p:cNvSpPr txBox="1"/>
          <p:nvPr/>
        </p:nvSpPr>
        <p:spPr>
          <a:xfrm>
            <a:off x="804672" y="3840480"/>
            <a:ext cx="2971800" cy="1143000"/>
          </a:xfrm>
          <a:prstGeom prst="rect">
            <a:avLst/>
          </a:prstGeom>
          <a:noFill/>
        </p:spPr>
        <p:txBody>
          <a:bodyPr wrap="square" anchor="t" lIns="0" rIns="0" tIns="0" bIns="0">
            <a:spAutoFit/>
          </a:bodyPr>
          <a:lstStyle/>
          <a:p>
            <a:pPr algn="l">
              <a:lnSpc>
                <a:spcPct val="120000"/>
              </a:lnSpc>
            </a:pPr>
            <a:r>
              <a:rPr sz="1000" b="0" i="0">
                <a:solidFill>
                  <a:srgbClr val="3D4A43"/>
                </a:solidFill>
                <a:latin typeface="Arial"/>
              </a:rPr>
              <a:t>Une coopérative volontaire de la région du Cavally : relevés réels, feedback des agents, premières analyses satellite en production.</a:t>
            </a:r>
          </a:p>
        </p:txBody>
      </p:sp>
      <p:sp>
        <p:nvSpPr>
          <p:cNvPr id="12" name="Oval 11"/>
          <p:cNvSpPr/>
          <p:nvPr/>
        </p:nvSpPr>
        <p:spPr>
          <a:xfrm>
            <a:off x="5993892" y="2244851"/>
            <a:ext cx="201168" cy="201168"/>
          </a:xfrm>
          <a:prstGeom prst="ellipse">
            <a:avLst/>
          </a:prstGeom>
          <a:solidFill>
            <a:srgbClr val="00A65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Rounded Rectangle 12"/>
          <p:cNvSpPr/>
          <p:nvPr/>
        </p:nvSpPr>
        <p:spPr>
          <a:xfrm>
            <a:off x="4379976" y="2743200"/>
            <a:ext cx="3429000" cy="237744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Rectangle 13"/>
          <p:cNvSpPr/>
          <p:nvPr/>
        </p:nvSpPr>
        <p:spPr>
          <a:xfrm>
            <a:off x="4617720" y="2962656"/>
            <a:ext cx="365760" cy="54864"/>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4617720" y="3108960"/>
            <a:ext cx="2971800" cy="274320"/>
          </a:xfrm>
          <a:prstGeom prst="rect">
            <a:avLst/>
          </a:prstGeom>
          <a:noFill/>
        </p:spPr>
        <p:txBody>
          <a:bodyPr wrap="square" anchor="t" lIns="0" rIns="0" tIns="0" bIns="0">
            <a:spAutoFit/>
          </a:bodyPr>
          <a:lstStyle/>
          <a:p>
            <a:pPr algn="l">
              <a:lnSpc>
                <a:spcPct val="100000"/>
              </a:lnSpc>
            </a:pPr>
            <a:r>
              <a:rPr sz="1050" b="1" i="0" spc="110">
                <a:solidFill>
                  <a:srgbClr val="00A651"/>
                </a:solidFill>
                <a:latin typeface="Arial"/>
              </a:rPr>
              <a:t>2027</a:t>
            </a:r>
          </a:p>
        </p:txBody>
      </p:sp>
      <p:sp>
        <p:nvSpPr>
          <p:cNvPr id="16" name="TextBox 15"/>
          <p:cNvSpPr txBox="1"/>
          <p:nvPr/>
        </p:nvSpPr>
        <p:spPr>
          <a:xfrm>
            <a:off x="4617720" y="3401568"/>
            <a:ext cx="2971800" cy="365760"/>
          </a:xfrm>
          <a:prstGeom prst="rect">
            <a:avLst/>
          </a:prstGeom>
          <a:noFill/>
        </p:spPr>
        <p:txBody>
          <a:bodyPr wrap="square" anchor="t" lIns="0" rIns="0" tIns="0" bIns="0">
            <a:spAutoFit/>
          </a:bodyPr>
          <a:lstStyle/>
          <a:p>
            <a:pPr algn="l">
              <a:lnSpc>
                <a:spcPct val="100000"/>
              </a:lnSpc>
            </a:pPr>
            <a:r>
              <a:rPr sz="1450" b="1" i="0">
                <a:solidFill>
                  <a:srgbClr val="13251C"/>
                </a:solidFill>
                <a:latin typeface="Arial"/>
              </a:rPr>
              <a:t>Partenariat institutionnel</a:t>
            </a:r>
          </a:p>
        </p:txBody>
      </p:sp>
      <p:sp>
        <p:nvSpPr>
          <p:cNvPr id="17" name="TextBox 16"/>
          <p:cNvSpPr txBox="1"/>
          <p:nvPr/>
        </p:nvSpPr>
        <p:spPr>
          <a:xfrm>
            <a:off x="4617720" y="3840480"/>
            <a:ext cx="2971800" cy="1143000"/>
          </a:xfrm>
          <a:prstGeom prst="rect">
            <a:avLst/>
          </a:prstGeom>
          <a:noFill/>
        </p:spPr>
        <p:txBody>
          <a:bodyPr wrap="square" anchor="t" lIns="0" rIns="0" tIns="0" bIns="0">
            <a:spAutoFit/>
          </a:bodyPr>
          <a:lstStyle/>
          <a:p>
            <a:pPr algn="l">
              <a:lnSpc>
                <a:spcPct val="120000"/>
              </a:lnSpc>
            </a:pPr>
            <a:r>
              <a:rPr sz="1000" b="0" i="0">
                <a:solidFill>
                  <a:srgbClr val="3D4A43"/>
                </a:solidFill>
                <a:latin typeface="Arial"/>
              </a:rPr>
              <a:t>Validation avec le Conseil du Café-Cacao en conditions réelles ; interconnexion avec les exportateurs.</a:t>
            </a:r>
          </a:p>
        </p:txBody>
      </p:sp>
      <p:sp>
        <p:nvSpPr>
          <p:cNvPr id="18" name="Oval 17"/>
          <p:cNvSpPr/>
          <p:nvPr/>
        </p:nvSpPr>
        <p:spPr>
          <a:xfrm>
            <a:off x="9806940" y="2244851"/>
            <a:ext cx="201168" cy="201168"/>
          </a:xfrm>
          <a:prstGeom prst="ellipse">
            <a:avLst/>
          </a:prstGeom>
          <a:solidFill>
            <a:srgbClr val="007A3D"/>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Rounded Rectangle 18"/>
          <p:cNvSpPr/>
          <p:nvPr/>
        </p:nvSpPr>
        <p:spPr>
          <a:xfrm>
            <a:off x="8193024" y="2743200"/>
            <a:ext cx="3429000" cy="237744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Rectangle 19"/>
          <p:cNvSpPr/>
          <p:nvPr/>
        </p:nvSpPr>
        <p:spPr>
          <a:xfrm>
            <a:off x="8430768" y="2962656"/>
            <a:ext cx="365760" cy="54864"/>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TextBox 20"/>
          <p:cNvSpPr txBox="1"/>
          <p:nvPr/>
        </p:nvSpPr>
        <p:spPr>
          <a:xfrm>
            <a:off x="8430768" y="3108960"/>
            <a:ext cx="2971800" cy="274320"/>
          </a:xfrm>
          <a:prstGeom prst="rect">
            <a:avLst/>
          </a:prstGeom>
          <a:noFill/>
        </p:spPr>
        <p:txBody>
          <a:bodyPr wrap="square" anchor="t" lIns="0" rIns="0" tIns="0" bIns="0">
            <a:spAutoFit/>
          </a:bodyPr>
          <a:lstStyle/>
          <a:p>
            <a:pPr algn="l">
              <a:lnSpc>
                <a:spcPct val="100000"/>
              </a:lnSpc>
            </a:pPr>
            <a:r>
              <a:rPr sz="1050" b="1" i="0" spc="110">
                <a:solidFill>
                  <a:srgbClr val="007A3D"/>
                </a:solidFill>
                <a:latin typeface="Arial"/>
              </a:rPr>
              <a:t>2028+</a:t>
            </a:r>
          </a:p>
        </p:txBody>
      </p:sp>
      <p:sp>
        <p:nvSpPr>
          <p:cNvPr id="22" name="TextBox 21"/>
          <p:cNvSpPr txBox="1"/>
          <p:nvPr/>
        </p:nvSpPr>
        <p:spPr>
          <a:xfrm>
            <a:off x="8430768" y="3401568"/>
            <a:ext cx="2971800" cy="365760"/>
          </a:xfrm>
          <a:prstGeom prst="rect">
            <a:avLst/>
          </a:prstGeom>
          <a:noFill/>
        </p:spPr>
        <p:txBody>
          <a:bodyPr wrap="square" anchor="t" lIns="0" rIns="0" tIns="0" bIns="0">
            <a:spAutoFit/>
          </a:bodyPr>
          <a:lstStyle/>
          <a:p>
            <a:pPr algn="l">
              <a:lnSpc>
                <a:spcPct val="100000"/>
              </a:lnSpc>
            </a:pPr>
            <a:r>
              <a:rPr sz="1450" b="1" i="0">
                <a:solidFill>
                  <a:srgbClr val="13251C"/>
                </a:solidFill>
                <a:latin typeface="Arial"/>
              </a:rPr>
              <a:t>Échelle nationale</a:t>
            </a:r>
          </a:p>
        </p:txBody>
      </p:sp>
      <p:sp>
        <p:nvSpPr>
          <p:cNvPr id="23" name="TextBox 22"/>
          <p:cNvSpPr txBox="1"/>
          <p:nvPr/>
        </p:nvSpPr>
        <p:spPr>
          <a:xfrm>
            <a:off x="8430768" y="3840480"/>
            <a:ext cx="2971800" cy="1143000"/>
          </a:xfrm>
          <a:prstGeom prst="rect">
            <a:avLst/>
          </a:prstGeom>
          <a:noFill/>
        </p:spPr>
        <p:txBody>
          <a:bodyPr wrap="square" anchor="t" lIns="0" rIns="0" tIns="0" bIns="0">
            <a:spAutoFit/>
          </a:bodyPr>
          <a:lstStyle/>
          <a:p>
            <a:pPr algn="l">
              <a:lnSpc>
                <a:spcPct val="120000"/>
              </a:lnSpc>
            </a:pPr>
            <a:r>
              <a:rPr sz="1000" b="0" i="0">
                <a:solidFill>
                  <a:srgbClr val="3D4A43"/>
                </a:solidFill>
                <a:latin typeface="Arial"/>
              </a:rPr>
              <a:t>Déploiement progressif sur les principales zones de production ; base nationale de conformité.</a:t>
            </a:r>
          </a:p>
        </p:txBody>
      </p:sp>
      <p:sp>
        <p:nvSpPr>
          <p:cNvPr id="24" name="Rounded Rectangle 23"/>
          <p:cNvSpPr/>
          <p:nvPr/>
        </p:nvSpPr>
        <p:spPr>
          <a:xfrm>
            <a:off x="566928" y="5486400"/>
            <a:ext cx="11064240" cy="713232"/>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200" b="1">
                <a:solidFill>
                  <a:srgbClr val="13251C"/>
                </a:solidFill>
                <a:latin typeface="Arial"/>
              </a:rPr>
              <a:t>Objectif : faire de la conformité EUDR un avantage pour la filière ivoirienne, pas une barrière.</a:t>
            </a:r>
          </a:p>
        </p:txBody>
      </p:sp>
      <p:sp>
        <p:nvSpPr>
          <p:cNvPr id="25" name="Rectangle 24"/>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29" name="TextBox 28"/>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12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8" fill="hold">
                      <p:stCondLst>
                        <p:cond delay="indefinite"/>
                      </p:stCondLst>
                      <p:childTnLst>
                        <p:par>
                          <p:cTn id="7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par>
                                <p:cTn id="33" presetID="10" presetClass="entr" presetSubtype="0" fill="hold" grpId="0" nodeType="afterEffect">
                                  <p:stCondLst>
                                    <p:cond delay="1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80"/>
                                        <p:tgtEl>
                                          <p:spTgt spid="12"/>
                                        </p:tgtEl>
                                      </p:cBhvr>
                                    </p:animEffect>
                                  </p:childTnLst>
                                </p:cTn>
                              </p:par>
                              <p:par>
                                <p:cTn id="36" presetID="10" presetClass="entr" presetSubtype="0" fill="hold" grpId="0" nodeType="afterEffect">
                                  <p:stCondLst>
                                    <p:cond delay="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380"/>
                                        <p:tgtEl>
                                          <p:spTgt spid="13"/>
                                        </p:tgtEl>
                                      </p:cBhvr>
                                    </p:animEffect>
                                  </p:childTnLst>
                                </p:cTn>
                              </p:par>
                              <p:par>
                                <p:cTn id="39" presetID="10" presetClass="entr" presetSubtype="0" fill="hold" grpId="0" nodeType="afterEffect">
                                  <p:stCondLst>
                                    <p:cond delay="1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80"/>
                                        <p:tgtEl>
                                          <p:spTgt spid="14"/>
                                        </p:tgtEl>
                                      </p:cBhvr>
                                    </p:animEffect>
                                  </p:childTnLst>
                                </p:cTn>
                              </p:par>
                              <p:par>
                                <p:cTn id="42" presetID="10" presetClass="entr" presetSubtype="0" fill="hold" grpId="0" nodeType="afterEffect">
                                  <p:stCondLst>
                                    <p:cond delay="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80"/>
                                        <p:tgtEl>
                                          <p:spTgt spid="15"/>
                                        </p:tgtEl>
                                      </p:cBhvr>
                                    </p:animEffect>
                                  </p:childTnLst>
                                </p:cTn>
                              </p:par>
                              <p:par>
                                <p:cTn id="45" presetID="10" presetClass="entr" presetSubtype="0" fill="hold" grpId="0" nodeType="afterEffect">
                                  <p:stCondLst>
                                    <p:cond delay="13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80"/>
                                        <p:tgtEl>
                                          <p:spTgt spid="16"/>
                                        </p:tgtEl>
                                      </p:cBhvr>
                                    </p:animEffect>
                                  </p:childTnLst>
                                </p:cTn>
                              </p:par>
                              <p:par>
                                <p:cTn id="48" presetID="10" presetClass="entr" presetSubtype="0" fill="hold" grpId="0" nodeType="afterEffect">
                                  <p:stCondLst>
                                    <p:cond delay="1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380"/>
                                        <p:tgtEl>
                                          <p:spTgt spid="17"/>
                                        </p:tgtEl>
                                      </p:cBhvr>
                                    </p:animEffect>
                                  </p:childTnLst>
                                </p:cTn>
                              </p:par>
                              <p:par>
                                <p:cTn id="51" presetID="10" presetClass="entr" presetSubtype="0" fill="hold" grpId="0" nodeType="afterEffect">
                                  <p:stCondLst>
                                    <p:cond delay="13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80"/>
                                        <p:tgtEl>
                                          <p:spTgt spid="18"/>
                                        </p:tgtEl>
                                      </p:cBhvr>
                                    </p:animEffect>
                                  </p:childTnLst>
                                </p:cTn>
                              </p:par>
                              <p:par>
                                <p:cTn id="54" presetID="10" presetClass="entr" presetSubtype="0" fill="hold" grpId="0" nodeType="afterEffect">
                                  <p:stCondLst>
                                    <p:cond delay="13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80"/>
                                        <p:tgtEl>
                                          <p:spTgt spid="19"/>
                                        </p:tgtEl>
                                      </p:cBhvr>
                                    </p:animEffect>
                                  </p:childTnLst>
                                </p:cTn>
                              </p:par>
                              <p:par>
                                <p:cTn id="57" presetID="10" presetClass="entr" presetSubtype="0" fill="hold" grpId="0" nodeType="afterEffect">
                                  <p:stCondLst>
                                    <p:cond delay="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380"/>
                                        <p:tgtEl>
                                          <p:spTgt spid="20"/>
                                        </p:tgtEl>
                                      </p:cBhvr>
                                    </p:animEffect>
                                  </p:childTnLst>
                                </p:cTn>
                              </p:par>
                              <p:par>
                                <p:cTn id="60" presetID="10" presetClass="entr" presetSubtype="0" fill="hold" grpId="0" nodeType="afterEffect">
                                  <p:stCondLst>
                                    <p:cond delay="13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380"/>
                                        <p:tgtEl>
                                          <p:spTgt spid="21"/>
                                        </p:tgtEl>
                                      </p:cBhvr>
                                    </p:animEffect>
                                  </p:childTnLst>
                                </p:cTn>
                              </p:par>
                              <p:par>
                                <p:cTn id="63" presetID="10" presetClass="entr" presetSubtype="0" fill="hold" grpId="0" nodeType="afterEffect">
                                  <p:stCondLst>
                                    <p:cond delay="13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380"/>
                                        <p:tgtEl>
                                          <p:spTgt spid="22"/>
                                        </p:tgtEl>
                                      </p:cBhvr>
                                    </p:animEffect>
                                  </p:childTnLst>
                                </p:cTn>
                              </p:par>
                              <p:par>
                                <p:cTn id="66" presetID="10" presetClass="entr" presetSubtype="0" fill="hold" grpId="0" nodeType="afterEffect">
                                  <p:stCondLst>
                                    <p:cond delay="13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80"/>
                                        <p:tgtEl>
                                          <p:spTgt spid="23"/>
                                        </p:tgtEl>
                                      </p:cBhvr>
                                    </p:animEffect>
                                  </p:childTnLst>
                                </p:cTn>
                              </p:par>
                              <p:par>
                                <p:cTn id="69" presetID="10" presetClass="entr" presetSubtype="0" fill="hold" grpId="0" nodeType="afterEffect">
                                  <p:stCondLst>
                                    <p:cond delay="13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380"/>
                                        <p:tgtEl>
                                          <p:spTgt spid="24"/>
                                        </p:tgtEl>
                                      </p:cBhvr>
                                    </p:animEffect>
                                  </p:childTnLst>
                                </p:cTn>
                              </p:par>
                              <p:par>
                                <p:cTn id="72" presetID="10" presetClass="entr" presetSubtype="0" fill="hold" grpId="0" nodeType="afterEffect">
                                  <p:stCondLst>
                                    <p:cond delay="13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80"/>
                                        <p:tgtEl>
                                          <p:spTgt spid="28"/>
                                        </p:tgtEl>
                                      </p:cBhvr>
                                    </p:animEffect>
                                  </p:childTnLst>
                                </p:cTn>
                              </p:par>
                              <p:par>
                                <p:cTn id="75" presetID="10" presetClass="entr" presetSubtype="0" fill="hold" grpId="0" nodeType="afterEffect">
                                  <p:stCondLst>
                                    <p:cond delay="13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8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1188720" y="-1371600"/>
            <a:ext cx="3291840" cy="329184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Oval 2"/>
          <p:cNvSpPr/>
          <p:nvPr/>
        </p:nvSpPr>
        <p:spPr>
          <a:xfrm>
            <a:off x="10332720" y="5120640"/>
            <a:ext cx="2377440" cy="237744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pic>
        <p:nvPicPr>
          <p:cNvPr id="4" name="Picture 3" descr="logo-cacaosat.png"/>
          <p:cNvPicPr>
            <a:picLocks noChangeAspect="1"/>
          </p:cNvPicPr>
          <p:nvPr/>
        </p:nvPicPr>
        <p:blipFill>
          <a:blip r:embed="rId2"/>
          <a:stretch>
            <a:fillRect/>
          </a:stretch>
        </p:blipFill>
        <p:spPr>
          <a:xfrm>
            <a:off x="5367528" y="685800"/>
            <a:ext cx="1463040" cy="1463040"/>
          </a:xfrm>
          <a:prstGeom prst="rect">
            <a:avLst/>
          </a:prstGeom>
        </p:spPr>
      </p:pic>
      <p:sp>
        <p:nvSpPr>
          <p:cNvPr id="5" name="TextBox 4"/>
          <p:cNvSpPr txBox="1"/>
          <p:nvPr/>
        </p:nvSpPr>
        <p:spPr>
          <a:xfrm>
            <a:off x="1097280" y="2606040"/>
            <a:ext cx="9994392" cy="1051560"/>
          </a:xfrm>
          <a:prstGeom prst="rect">
            <a:avLst/>
          </a:prstGeom>
          <a:noFill/>
        </p:spPr>
        <p:txBody>
          <a:bodyPr wrap="square" anchor="t" lIns="0" rIns="0" tIns="0" bIns="0">
            <a:spAutoFit/>
          </a:bodyPr>
          <a:lstStyle/>
          <a:p>
            <a:pPr algn="ctr">
              <a:lnSpc>
                <a:spcPct val="105000"/>
              </a:lnSpc>
            </a:pPr>
            <a:r>
              <a:rPr sz="3000" b="1" i="0">
                <a:solidFill>
                  <a:srgbClr val="13251C"/>
                </a:solidFill>
                <a:latin typeface="Arial"/>
              </a:rPr>
              <a:t>Le spatial, entre les mains de la jeunesse ivoirienne.</a:t>
            </a:r>
          </a:p>
        </p:txBody>
      </p:sp>
      <p:sp>
        <p:nvSpPr>
          <p:cNvPr id="6" name="TextBox 5"/>
          <p:cNvSpPr txBox="1"/>
          <p:nvPr/>
        </p:nvSpPr>
        <p:spPr>
          <a:xfrm>
            <a:off x="2011680" y="3749039"/>
            <a:ext cx="8165592" cy="594360"/>
          </a:xfrm>
          <a:prstGeom prst="rect">
            <a:avLst/>
          </a:prstGeom>
          <a:noFill/>
        </p:spPr>
        <p:txBody>
          <a:bodyPr wrap="square" anchor="t" lIns="0" rIns="0" tIns="0" bIns="0">
            <a:spAutoFit/>
          </a:bodyPr>
          <a:lstStyle/>
          <a:p>
            <a:pPr algn="ctr">
              <a:lnSpc>
                <a:spcPct val="115000"/>
              </a:lnSpc>
            </a:pPr>
            <a:r>
              <a:rPr sz="1350" b="0" i="0">
                <a:solidFill>
                  <a:srgbClr val="3D4A43"/>
                </a:solidFill>
                <a:latin typeface="Arial"/>
              </a:rPr>
              <a:t>CacaoSat répond à une exigence déjà en vigueur, qui touche des millions de foyers.</a:t>
            </a:r>
          </a:p>
        </p:txBody>
      </p:sp>
      <p:sp>
        <p:nvSpPr>
          <p:cNvPr id="7" name="Rectangle 6"/>
          <p:cNvSpPr/>
          <p:nvPr/>
        </p:nvSpPr>
        <p:spPr>
          <a:xfrm>
            <a:off x="5367528" y="4553712"/>
            <a:ext cx="713232" cy="5486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6080760" y="4553712"/>
            <a:ext cx="713232" cy="54864"/>
          </a:xfrm>
          <a:prstGeom prst="rect">
            <a:avLst/>
          </a:prstGeom>
          <a:solidFill>
            <a:srgbClr val="EC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ectangle 8"/>
          <p:cNvSpPr/>
          <p:nvPr/>
        </p:nvSpPr>
        <p:spPr>
          <a:xfrm>
            <a:off x="6793992" y="4553712"/>
            <a:ext cx="713232" cy="54864"/>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0" name="TextBox 9"/>
          <p:cNvSpPr txBox="1"/>
          <p:nvPr/>
        </p:nvSpPr>
        <p:spPr>
          <a:xfrm>
            <a:off x="1097280" y="4892040"/>
            <a:ext cx="9994392" cy="320040"/>
          </a:xfrm>
          <a:prstGeom prst="rect">
            <a:avLst/>
          </a:prstGeom>
          <a:noFill/>
        </p:spPr>
        <p:txBody>
          <a:bodyPr wrap="square" anchor="t" lIns="0" rIns="0" tIns="0" bIns="0">
            <a:spAutoFit/>
          </a:bodyPr>
          <a:lstStyle/>
          <a:p>
            <a:pPr algn="ctr">
              <a:lnSpc>
                <a:spcPct val="100000"/>
              </a:lnSpc>
            </a:pPr>
            <a:r>
              <a:rPr sz="1300" b="1" i="0">
                <a:solidFill>
                  <a:srgbClr val="007A3D"/>
                </a:solidFill>
                <a:latin typeface="Arial"/>
              </a:rPr>
              <a:t>github.com/daniel10027/CacaoSat</a:t>
            </a:r>
          </a:p>
        </p:txBody>
      </p:sp>
      <p:sp>
        <p:nvSpPr>
          <p:cNvPr id="11" name="TextBox 10"/>
          <p:cNvSpPr txBox="1"/>
          <p:nvPr/>
        </p:nvSpPr>
        <p:spPr>
          <a:xfrm>
            <a:off x="1097280" y="5285232"/>
            <a:ext cx="9994392" cy="274320"/>
          </a:xfrm>
          <a:prstGeom prst="rect">
            <a:avLst/>
          </a:prstGeom>
          <a:noFill/>
        </p:spPr>
        <p:txBody>
          <a:bodyPr wrap="square" anchor="t" lIns="0" rIns="0" tIns="0" bIns="0">
            <a:spAutoFit/>
          </a:bodyPr>
          <a:lstStyle/>
          <a:p>
            <a:pPr algn="ctr">
              <a:lnSpc>
                <a:spcPct val="100000"/>
              </a:lnSpc>
            </a:pPr>
            <a:r>
              <a:rPr sz="1050" b="0" i="0">
                <a:solidFill>
                  <a:srgbClr val="6B7A70"/>
                </a:solidFill>
                <a:latin typeface="Arial"/>
              </a:rPr>
              <a:t>Akandji Timothé · Elie Konan · Daniel Guedegbe — Ivoire Spacehack 2026</a:t>
            </a:r>
          </a:p>
        </p:txBody>
      </p:sp>
      <p:sp>
        <p:nvSpPr>
          <p:cNvPr id="12" name="Rectangle 11"/>
          <p:cNvSpPr/>
          <p:nvPr/>
        </p:nvSpPr>
        <p:spPr>
          <a:xfrm>
            <a:off x="0" y="6775704"/>
            <a:ext cx="4063898" cy="8229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63898" y="6775704"/>
            <a:ext cx="4063898" cy="8229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7796" y="6775704"/>
            <a:ext cx="4063898" cy="8229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38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380"/>
                                        <p:tgtEl>
                                          <p:spTgt spid="3"/>
                                        </p:tgtEl>
                                      </p:cBhvr>
                                    </p:animEffect>
                                  </p:childTnLst>
                                </p:cTn>
                              </p:par>
                              <p:par>
                                <p:cTn id="9" presetID="10" presetClass="entr" presetSubtype="0" fill="hold" grpId="0" nodeType="afterEffect">
                                  <p:stCondLst>
                                    <p:cond delay="13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380"/>
                                        <p:tgtEl>
                                          <p:spTgt spid="4"/>
                                        </p:tgtEl>
                                      </p:cBhvr>
                                    </p:animEffect>
                                  </p:childTnLst>
                                </p:cTn>
                              </p:par>
                              <p:par>
                                <p:cTn id="12" presetID="10" presetClass="entr" presetSubtype="0" fill="hold" grpId="0" nodeType="afterEffect">
                                  <p:stCondLst>
                                    <p:cond delay="13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80"/>
                                        <p:tgtEl>
                                          <p:spTgt spid="5"/>
                                        </p:tgtEl>
                                      </p:cBhvr>
                                    </p:animEffect>
                                  </p:childTnLst>
                                </p:cTn>
                              </p:par>
                              <p:par>
                                <p:cTn id="15" presetID="10" presetClass="entr" presetSubtype="0" fill="hold" grpId="0" nodeType="afterEffect">
                                  <p:stCondLst>
                                    <p:cond delay="1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80"/>
                                        <p:tgtEl>
                                          <p:spTgt spid="6"/>
                                        </p:tgtEl>
                                      </p:cBhvr>
                                    </p:animEffect>
                                  </p:childTnLst>
                                </p:cTn>
                              </p:par>
                              <p:par>
                                <p:cTn id="18" presetID="10" presetClass="entr" presetSubtype="0" fill="hold" grpId="0" nodeType="afterEffect">
                                  <p:stCondLst>
                                    <p:cond delay="13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80"/>
                                        <p:tgtEl>
                                          <p:spTgt spid="7"/>
                                        </p:tgtEl>
                                      </p:cBhvr>
                                    </p:animEffect>
                                  </p:childTnLst>
                                </p:cTn>
                              </p:par>
                              <p:par>
                                <p:cTn id="21" presetID="10" presetClass="entr" presetSubtype="0" fill="hold" grpId="0" nodeType="afterEffect">
                                  <p:stCondLst>
                                    <p:cond delay="13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80"/>
                                        <p:tgtEl>
                                          <p:spTgt spid="8"/>
                                        </p:tgtEl>
                                      </p:cBhvr>
                                    </p:animEffect>
                                  </p:childTnLst>
                                </p:cTn>
                              </p:par>
                              <p:par>
                                <p:cTn id="24" presetID="10" presetClass="entr" presetSubtype="0" fill="hold" grpId="0" nodeType="afterEffect">
                                  <p:stCondLst>
                                    <p:cond delay="1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80"/>
                                        <p:tgtEl>
                                          <p:spTgt spid="9"/>
                                        </p:tgtEl>
                                      </p:cBhvr>
                                    </p:animEffect>
                                  </p:childTnLst>
                                </p:cTn>
                              </p:par>
                              <p:par>
                                <p:cTn id="27" presetID="10" presetClass="entr" presetSubtype="0" fill="hold" grpId="0" nodeType="afterEffect">
                                  <p:stCondLst>
                                    <p:cond delay="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80"/>
                                        <p:tgtEl>
                                          <p:spTgt spid="10"/>
                                        </p:tgtEl>
                                      </p:cBhvr>
                                    </p:animEffect>
                                  </p:childTnLst>
                                </p:cTn>
                              </p:par>
                              <p:par>
                                <p:cTn id="30" presetID="10" presetClass="entr" presetSubtype="0" fill="hold" grpId="0" nodeType="afterEffect">
                                  <p:stCondLst>
                                    <p:cond delay="1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8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CacaoSat — Pitch Ivoire Spacehack 2026</dc:title>
  <dc:subject>Traçabilité géospatiale du cacao ivoirien (EUDR)</dc:subject>
  <dc:creator>Équipe CacaoSat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