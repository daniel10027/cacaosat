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Nous sommes l'équipe CacaoSat. En 5 minutes, comment le spatial peut sécuriser l'accès de milliers de coopératives ivoiriennes au marché européen.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L'Europe impose une preuve géospatiale. La Côte d'Ivoire est n°1 mondial, mais seulement 82 % du cacao était traçable à la parcelle, et près de 30 % des surfaces sont en zone protégée. L'enjeu est énorme, et l'échéance est déjà là.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petites coopératives qui doivent produire cette preuve, à la main, sans moyens. Si elles échouent, leurs producteurs sont exclus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L'imagerie satellite nécessaire est déjà publique et gratuite. Le problème n'est pas la donnée globale : c'est le pipeline qui la connecte à chaque parcelle de chaque coopérative. C'est ce pipeline que nous avons construit.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étapes : du relevé terrain hors-ligne, à l'ingestion, au croisement satellite, au scoring, au certificat exportable, jusqu'à l'alerte précoce. Tout est automatisé de bout en 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brique : un agent de coopérative, sur le terrain, sans réseau. Il marche autour de la parcelle, la surface s'affiche en direct, et l'app l'alerte si la parcelle touche une aire protégée. Tout part ensuite en un seul lot, sans doublon.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brique : le socle. Les trois sources satellites arrivent dans une base PostGIS unique ; le moteur d'analyse et le scoring y tournent. Tout est open source, containerisé, et prêt à brancher les flux réels.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brique : le croisement satellite. Chaque parcelle reçoit un score sur 100, construit sur cinq facteurs pondérés et affichés avec leur calcul. Ce n'est pas une boîte noire : un exportateur ou un régulateur peut auditer chaque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brique : le tableau de bord. Sur fond satellite, on voit chaque parcelle, son statut, les KPIs de la coopérative et les alertes. C'est un outil digne d'un niveau national, mis entre les mains d'une coopérative.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Cinquième brique : la preuve. La coopérative génère son certificat de conformité : PDF signé par une empreinte cryptographique, export GeoJSON pour les acheteurs. Et le système continue de veiller après la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sur quatre plans : économique, social, environnemental et institutionnel — jusqu'à une base nationale consolidée pour le pilotage des politiques agricoles.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n'est pas un prototype sur papier : c'est un produit testé, containerisé, déployable. Les fournisseurs satellite sont simulés de façon déterministe pour la démo ; l'architecture est prête à brancher les flux réels sans changement de contrat.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Après le hackathon : un pilote réel avec une coopérative volontaire et le Conseil du Café-Cacao, puis un déploiement progressif jusqu'à une base nationale.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CacaoSat n'est pas un projet théorique : c'est une réponse concrète à un défi national. Merci.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6812280" y="502920"/>
            <a:ext cx="4892040" cy="48920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Oval 2"/>
          <p:cNvSpPr/>
          <p:nvPr/>
        </p:nvSpPr>
        <p:spPr>
          <a:xfrm>
            <a:off x="10744200" y="4526280"/>
            <a:ext cx="1554480" cy="15544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Oval 3"/>
          <p:cNvSpPr/>
          <p:nvPr/>
        </p:nvSpPr>
        <p:spPr>
          <a:xfrm>
            <a:off x="6309360" y="5120640"/>
            <a:ext cx="502920" cy="502920"/>
          </a:xfrm>
          <a:prstGeom prst="ellipse">
            <a:avLst/>
          </a:prstGeom>
          <a:no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6812280" y="502920"/>
            <a:ext cx="4892040" cy="48920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10744200" y="4526280"/>
            <a:ext cx="1554480" cy="15544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7" name="Picture 6" descr="logo-cacaosat.png"/>
          <p:cNvPicPr>
            <a:picLocks noChangeAspect="1"/>
          </p:cNvPicPr>
          <p:nvPr/>
        </p:nvPicPr>
        <p:blipFill>
          <a:blip r:embed="rId2"/>
          <a:stretch>
            <a:fillRect/>
          </a:stretch>
        </p:blipFill>
        <p:spPr>
          <a:xfrm>
            <a:off x="7543800" y="868680"/>
            <a:ext cx="3429000" cy="3429000"/>
          </a:xfrm>
          <a:prstGeom prst="rect">
            <a:avLst/>
          </a:prstGeom>
        </p:spPr>
      </p:pic>
      <p:sp>
        <p:nvSpPr>
          <p:cNvPr id="8" name="Rounded Rectangle 7"/>
          <p:cNvSpPr/>
          <p:nvPr/>
        </p:nvSpPr>
        <p:spPr>
          <a:xfrm>
            <a:off x="566928" y="1417320"/>
            <a:ext cx="4224528" cy="402336"/>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IVOIRE SPACEHACK 2026 · ABIDJAN · AFRICA SPACE EXPO</a:t>
            </a:r>
          </a:p>
        </p:txBody>
      </p:sp>
      <p:sp>
        <p:nvSpPr>
          <p:cNvPr id="9" name="TextBox 8"/>
          <p:cNvSpPr txBox="1"/>
          <p:nvPr/>
        </p:nvSpPr>
        <p:spPr>
          <a:xfrm>
            <a:off x="530352" y="1847088"/>
            <a:ext cx="6583680" cy="1051560"/>
          </a:xfrm>
          <a:prstGeom prst="rect">
            <a:avLst/>
          </a:prstGeom>
          <a:noFill/>
        </p:spPr>
        <p:txBody>
          <a:bodyPr wrap="square" anchor="t" lIns="0" rIns="0" tIns="0" bIns="0">
            <a:spAutoFit/>
          </a:bodyPr>
          <a:lstStyle/>
          <a:p>
            <a:pPr algn="l">
              <a:lnSpc>
                <a:spcPct val="100000"/>
              </a:lnSpc>
            </a:pPr>
            <a:r>
              <a:rPr sz="5800" b="1" i="0">
                <a:solidFill>
                  <a:srgbClr val="FF7A00"/>
                </a:solidFill>
                <a:latin typeface="Arial"/>
              </a:rPr>
              <a:t>Cacao</a:t>
            </a:r>
            <a:r>
              <a:rPr sz="5800" b="1" i="0">
                <a:solidFill>
                  <a:srgbClr val="00A651"/>
                </a:solidFill>
                <a:latin typeface="Arial"/>
              </a:rPr>
              <a:t>Sat</a:t>
            </a:r>
          </a:p>
        </p:txBody>
      </p:sp>
      <p:sp>
        <p:nvSpPr>
          <p:cNvPr id="10" name="Rectangle 9"/>
          <p:cNvSpPr/>
          <p:nvPr/>
        </p:nvSpPr>
        <p:spPr>
          <a:xfrm>
            <a:off x="585216" y="2999232"/>
            <a:ext cx="1051560"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Rectangle 10"/>
          <p:cNvSpPr/>
          <p:nvPr/>
        </p:nvSpPr>
        <p:spPr>
          <a:xfrm>
            <a:off x="1636776" y="2999232"/>
            <a:ext cx="1051560" cy="64008"/>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TextBox 11"/>
          <p:cNvSpPr txBox="1"/>
          <p:nvPr/>
        </p:nvSpPr>
        <p:spPr>
          <a:xfrm>
            <a:off x="566928" y="3218688"/>
            <a:ext cx="6309360" cy="868680"/>
          </a:xfrm>
          <a:prstGeom prst="rect">
            <a:avLst/>
          </a:prstGeom>
          <a:noFill/>
        </p:spPr>
        <p:txBody>
          <a:bodyPr wrap="square" anchor="t" lIns="0" rIns="0" tIns="0" bIns="0">
            <a:spAutoFit/>
          </a:bodyPr>
          <a:lstStyle/>
          <a:p>
            <a:pPr algn="l">
              <a:lnSpc>
                <a:spcPct val="112000"/>
              </a:lnSpc>
              <a:spcAft>
                <a:spcPts val="400"/>
              </a:spcAft>
            </a:pPr>
            <a:r>
              <a:rPr sz="1800" b="1" i="0">
                <a:solidFill>
                  <a:srgbClr val="13251C"/>
                </a:solidFill>
                <a:latin typeface="Arial"/>
              </a:rPr>
              <a:t>Traçabilité géospatiale du cacao ivoirien</a:t>
            </a:r>
          </a:p>
          <a:p>
            <a:pPr algn="l">
              <a:lnSpc>
                <a:spcPct val="112000"/>
              </a:lnSpc>
              <a:spcAft>
                <a:spcPts val="400"/>
              </a:spcAft>
            </a:pPr>
            <a:r>
              <a:rPr sz="1250" b="0" i="0">
                <a:solidFill>
                  <a:srgbClr val="3D4A43"/>
                </a:solidFill>
                <a:latin typeface="Arial"/>
              </a:rPr>
              <a:t>Mettre la donnée satellite libre au service des coopératives</a:t>
            </a:r>
          </a:p>
        </p:txBody>
      </p:sp>
      <p:sp>
        <p:nvSpPr>
          <p:cNvPr id="13" name="Rounded Rectangle 12"/>
          <p:cNvSpPr/>
          <p:nvPr/>
        </p:nvSpPr>
        <p:spPr>
          <a:xfrm>
            <a:off x="566928" y="4526280"/>
            <a:ext cx="5989320" cy="1143000"/>
          </a:xfrm>
          <a:prstGeom prst="roundRect">
            <a:avLst>
              <a:gd name="adj" fmla="val 8500"/>
            </a:avLst>
          </a:prstGeom>
          <a:solidFill>
            <a:srgbClr val="F7F9F7"/>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TextBox 13"/>
          <p:cNvSpPr txBox="1"/>
          <p:nvPr/>
        </p:nvSpPr>
        <p:spPr>
          <a:xfrm>
            <a:off x="804672" y="4700016"/>
            <a:ext cx="5486400" cy="256032"/>
          </a:xfrm>
          <a:prstGeom prst="rect">
            <a:avLst/>
          </a:prstGeom>
          <a:noFill/>
        </p:spPr>
        <p:txBody>
          <a:bodyPr wrap="square" anchor="t" lIns="0" rIns="0" tIns="0" bIns="0">
            <a:spAutoFit/>
          </a:bodyPr>
          <a:lstStyle/>
          <a:p>
            <a:pPr algn="l">
              <a:lnSpc>
                <a:spcPct val="100000"/>
              </a:lnSpc>
            </a:pPr>
            <a:r>
              <a:rPr sz="900" b="1" i="0" spc="140">
                <a:solidFill>
                  <a:srgbClr val="007A3D"/>
                </a:solidFill>
                <a:latin typeface="Arial"/>
              </a:rPr>
              <a:t>ÉQUIPE CACAOSAT</a:t>
            </a:r>
          </a:p>
        </p:txBody>
      </p:sp>
      <p:sp>
        <p:nvSpPr>
          <p:cNvPr id="15" name="TextBox 14"/>
          <p:cNvSpPr txBox="1"/>
          <p:nvPr/>
        </p:nvSpPr>
        <p:spPr>
          <a:xfrm>
            <a:off x="804672" y="4974336"/>
            <a:ext cx="5486400" cy="320040"/>
          </a:xfrm>
          <a:prstGeom prst="rect">
            <a:avLst/>
          </a:prstGeom>
          <a:noFill/>
        </p:spPr>
        <p:txBody>
          <a:bodyPr wrap="square" anchor="t" lIns="0" rIns="0" tIns="0" bIns="0">
            <a:spAutoFit/>
          </a:bodyPr>
          <a:lstStyle/>
          <a:p>
            <a:pPr algn="l">
              <a:lnSpc>
                <a:spcPct val="100000"/>
              </a:lnSpc>
            </a:pPr>
            <a:r>
              <a:rPr sz="1300" b="1" i="0">
                <a:solidFill>
                  <a:srgbClr val="13251C"/>
                </a:solidFill>
                <a:latin typeface="Arial"/>
              </a:rPr>
              <a:t>Akandji Timothé · Elie Konan · Daniel Guedegbe</a:t>
            </a:r>
          </a:p>
        </p:txBody>
      </p:sp>
      <p:sp>
        <p:nvSpPr>
          <p:cNvPr id="16" name="TextBox 15"/>
          <p:cNvSpPr txBox="1"/>
          <p:nvPr/>
        </p:nvSpPr>
        <p:spPr>
          <a:xfrm>
            <a:off x="804672" y="5303520"/>
            <a:ext cx="548640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Data engineering · Traitement géospatial · Mobile &amp; terrain</a:t>
            </a:r>
          </a:p>
        </p:txBody>
      </p:sp>
      <p:sp>
        <p:nvSpPr>
          <p:cNvPr id="17" name="TextBox 16"/>
          <p:cNvSpPr txBox="1"/>
          <p:nvPr/>
        </p:nvSpPr>
        <p:spPr>
          <a:xfrm>
            <a:off x="566928" y="5989320"/>
            <a:ext cx="7315200" cy="274320"/>
          </a:xfrm>
          <a:prstGeom prst="rect">
            <a:avLst/>
          </a:prstGeom>
          <a:noFill/>
        </p:spPr>
        <p:txBody>
          <a:bodyPr wrap="square" anchor="t" lIns="0" rIns="0" tIns="0" bIns="0">
            <a:spAutoFit/>
          </a:bodyPr>
          <a:lstStyle/>
          <a:p>
            <a:pPr algn="l">
              <a:lnSpc>
                <a:spcPct val="100000"/>
              </a:lnSpc>
            </a:pPr>
            <a:r>
              <a:rPr sz="1000" b="0" i="0">
                <a:solidFill>
                  <a:srgbClr val="6B7A70"/>
                </a:solidFill>
                <a:latin typeface="Arial"/>
              </a:rPr>
              <a:t>github.com/daniel10027/CacaoSat   ·   Abidjan — 24–26 septembre 2026</a:t>
            </a:r>
          </a:p>
        </p:txBody>
      </p:sp>
      <p:sp>
        <p:nvSpPr>
          <p:cNvPr id="18" name="Rectangle 17"/>
          <p:cNvSpPr/>
          <p:nvPr/>
        </p:nvSpPr>
        <p:spPr>
          <a:xfrm>
            <a:off x="0" y="6775704"/>
            <a:ext cx="4063898" cy="8229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63898" y="6775704"/>
            <a:ext cx="4063898" cy="8229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7796" y="6775704"/>
            <a:ext cx="4063898" cy="8229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CONTEXTE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choc réglementaire EUDR</a:t>
            </a:r>
          </a:p>
        </p:txBody>
      </p:sp>
      <p:sp>
        <p:nvSpPr>
          <p:cNvPr id="4" name="TextBox 3"/>
          <p:cNvSpPr txBox="1"/>
          <p:nvPr/>
        </p:nvSpPr>
        <p:spPr>
          <a:xfrm>
            <a:off x="566928" y="1115568"/>
            <a:ext cx="10972800" cy="502920"/>
          </a:xfrm>
          <a:prstGeom prst="rect">
            <a:avLst/>
          </a:prstGeom>
          <a:noFill/>
        </p:spPr>
        <p:txBody>
          <a:bodyPr wrap="square" anchor="t" lIns="0" rIns="0" tIns="0" bIns="0">
            <a:spAutoFit/>
          </a:bodyPr>
          <a:lstStyle/>
          <a:p>
            <a:pPr algn="l">
              <a:lnSpc>
                <a:spcPct val="108000"/>
              </a:lnSpc>
            </a:pPr>
            <a:r>
              <a:rPr sz="1200" b="0" i="0">
                <a:solidFill>
                  <a:srgbClr val="3D4A43"/>
                </a:solidFill>
                <a:latin typeface="Arial"/>
              </a:rPr>
              <a:t>Chaque cargaison exportée vers l'UE doit fournir les coordonnées GPS de chaque parcelle et prouver l'absence de déforestation depuis le 31 décembre 2020.</a:t>
            </a:r>
          </a:p>
        </p:txBody>
      </p:sp>
      <p:sp>
        <p:nvSpPr>
          <p:cNvPr id="5" name="Rounded Rectangle 4"/>
          <p:cNvSpPr/>
          <p:nvPr/>
        </p:nvSpPr>
        <p:spPr>
          <a:xfrm>
            <a:off x="566928" y="1627632"/>
            <a:ext cx="5532120" cy="452628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TextBox 5"/>
          <p:cNvSpPr txBox="1"/>
          <p:nvPr/>
        </p:nvSpPr>
        <p:spPr>
          <a:xfrm>
            <a:off x="841248" y="1810512"/>
            <a:ext cx="4937760" cy="274320"/>
          </a:xfrm>
          <a:prstGeom prst="rect">
            <a:avLst/>
          </a:prstGeom>
          <a:noFill/>
        </p:spPr>
        <p:txBody>
          <a:bodyPr wrap="square" anchor="t" lIns="0" rIns="0" tIns="0" bIns="0">
            <a:spAutoFit/>
          </a:bodyPr>
          <a:lstStyle/>
          <a:p>
            <a:pPr algn="l">
              <a:lnSpc>
                <a:spcPct val="100000"/>
              </a:lnSpc>
            </a:pPr>
            <a:r>
              <a:rPr sz="950" b="1" i="0" spc="120">
                <a:solidFill>
                  <a:srgbClr val="007A3D"/>
                </a:solidFill>
                <a:latin typeface="Arial"/>
              </a:rPr>
              <a:t>L'EXIGENCE, ÉTAPE PAR ÉTAPE</a:t>
            </a:r>
          </a:p>
        </p:txBody>
      </p:sp>
      <p:sp>
        <p:nvSpPr>
          <p:cNvPr id="7" name="Rectangle 6"/>
          <p:cNvSpPr/>
          <p:nvPr/>
        </p:nvSpPr>
        <p:spPr>
          <a:xfrm>
            <a:off x="960120" y="2304288"/>
            <a:ext cx="25603" cy="3337560"/>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882396" y="2304288"/>
            <a:ext cx="173736" cy="173736"/>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1261872" y="2212848"/>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31 déc. 2020</a:t>
            </a:r>
          </a:p>
          <a:p>
            <a:pPr algn="l">
              <a:lnSpc>
                <a:spcPct val="105000"/>
              </a:lnSpc>
              <a:spcAft>
                <a:spcPts val="400"/>
              </a:spcAft>
            </a:pPr>
            <a:r>
              <a:rPr sz="1000" b="0" i="0">
                <a:solidFill>
                  <a:srgbClr val="3D4A43"/>
                </a:solidFill>
                <a:latin typeface="Arial"/>
              </a:rPr>
              <a:t>Date de référence : aucune déforestation après cette date</a:t>
            </a:r>
          </a:p>
        </p:txBody>
      </p:sp>
      <p:sp>
        <p:nvSpPr>
          <p:cNvPr id="10" name="Oval 9"/>
          <p:cNvSpPr/>
          <p:nvPr/>
        </p:nvSpPr>
        <p:spPr>
          <a:xfrm>
            <a:off x="882396" y="3163824"/>
            <a:ext cx="173736" cy="173736"/>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extBox 10"/>
          <p:cNvSpPr txBox="1"/>
          <p:nvPr/>
        </p:nvSpPr>
        <p:spPr>
          <a:xfrm>
            <a:off x="1261872" y="3072384"/>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Fin 2024</a:t>
            </a:r>
          </a:p>
          <a:p>
            <a:pPr algn="l">
              <a:lnSpc>
                <a:spcPct val="105000"/>
              </a:lnSpc>
              <a:spcAft>
                <a:spcPts val="400"/>
              </a:spcAft>
            </a:pPr>
            <a:r>
              <a:rPr sz="1000" b="0" i="0">
                <a:solidFill>
                  <a:srgbClr val="3D4A43"/>
                </a:solidFill>
                <a:latin typeface="Arial"/>
              </a:rPr>
              <a:t>EUDR entre en vigueur — preuve géospatiale obligatoire</a:t>
            </a:r>
          </a:p>
        </p:txBody>
      </p:sp>
      <p:sp>
        <p:nvSpPr>
          <p:cNvPr id="12" name="Oval 11"/>
          <p:cNvSpPr/>
          <p:nvPr/>
        </p:nvSpPr>
        <p:spPr>
          <a:xfrm>
            <a:off x="882396" y="4023359"/>
            <a:ext cx="173736" cy="173736"/>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1261872" y="3931920"/>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2025</a:t>
            </a:r>
          </a:p>
          <a:p>
            <a:pPr algn="l">
              <a:lnSpc>
                <a:spcPct val="105000"/>
              </a:lnSpc>
              <a:spcAft>
                <a:spcPts val="400"/>
              </a:spcAft>
            </a:pPr>
            <a:r>
              <a:rPr sz="1000" b="0" i="0">
                <a:solidFill>
                  <a:srgbClr val="3D4A43"/>
                </a:solidFill>
                <a:latin typeface="Arial"/>
              </a:rPr>
              <a:t>Application stricte : contrôles, sanctions, exclusion possible</a:t>
            </a:r>
          </a:p>
        </p:txBody>
      </p:sp>
      <p:sp>
        <p:nvSpPr>
          <p:cNvPr id="14" name="Oval 13"/>
          <p:cNvSpPr/>
          <p:nvPr/>
        </p:nvSpPr>
        <p:spPr>
          <a:xfrm>
            <a:off x="882396" y="4882896"/>
            <a:ext cx="173736" cy="173736"/>
          </a:xfrm>
          <a:prstGeom prst="ellipse">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1261872" y="4791456"/>
            <a:ext cx="4663440" cy="777240"/>
          </a:xfrm>
          <a:prstGeom prst="rect">
            <a:avLst/>
          </a:prstGeom>
          <a:noFill/>
        </p:spPr>
        <p:txBody>
          <a:bodyPr wrap="square" anchor="t" lIns="0" rIns="0" tIns="0" bIns="0">
            <a:spAutoFit/>
          </a:bodyPr>
          <a:lstStyle/>
          <a:p>
            <a:pPr algn="l">
              <a:lnSpc>
                <a:spcPct val="105000"/>
              </a:lnSpc>
              <a:spcAft>
                <a:spcPts val="400"/>
              </a:spcAft>
            </a:pPr>
            <a:r>
              <a:rPr sz="1200" b="1" i="0">
                <a:solidFill>
                  <a:srgbClr val="13251C"/>
                </a:solidFill>
                <a:latin typeface="Arial"/>
              </a:rPr>
              <a:t>Aujourd'hui</a:t>
            </a:r>
          </a:p>
          <a:p>
            <a:pPr algn="l">
              <a:lnSpc>
                <a:spcPct val="105000"/>
              </a:lnSpc>
              <a:spcAft>
                <a:spcPts val="400"/>
              </a:spcAft>
            </a:pPr>
            <a:r>
              <a:rPr sz="1000" b="0" i="0">
                <a:solidFill>
                  <a:srgbClr val="3D4A43"/>
                </a:solidFill>
                <a:latin typeface="Arial"/>
              </a:rPr>
              <a:t>Chaque export : coordonnées GPS + preuve, parcelle par parcelle</a:t>
            </a:r>
          </a:p>
        </p:txBody>
      </p:sp>
      <p:sp>
        <p:nvSpPr>
          <p:cNvPr id="16" name="Rounded Rectangle 15"/>
          <p:cNvSpPr/>
          <p:nvPr/>
        </p:nvSpPr>
        <p:spPr>
          <a:xfrm>
            <a:off x="6400800" y="1627632"/>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ectangle 16"/>
          <p:cNvSpPr/>
          <p:nvPr/>
        </p:nvSpPr>
        <p:spPr>
          <a:xfrm>
            <a:off x="6656832" y="1901952"/>
            <a:ext cx="384048"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6656832" y="2103120"/>
            <a:ext cx="2121408" cy="685800"/>
          </a:xfrm>
          <a:prstGeom prst="rect">
            <a:avLst/>
          </a:prstGeom>
          <a:noFill/>
        </p:spPr>
        <p:txBody>
          <a:bodyPr wrap="square" anchor="t" lIns="0" rIns="0" tIns="0" bIns="0">
            <a:spAutoFit/>
          </a:bodyPr>
          <a:lstStyle/>
          <a:p>
            <a:pPr algn="l">
              <a:lnSpc>
                <a:spcPct val="100000"/>
              </a:lnSpc>
            </a:pPr>
            <a:r>
              <a:rPr sz="3000" b="1" i="0">
                <a:solidFill>
                  <a:srgbClr val="FF7A00"/>
                </a:solidFill>
                <a:latin typeface="Arial"/>
              </a:rPr>
              <a:t>N°1</a:t>
            </a:r>
          </a:p>
        </p:txBody>
      </p:sp>
      <p:sp>
        <p:nvSpPr>
          <p:cNvPr id="19" name="TextBox 18"/>
          <p:cNvSpPr txBox="1"/>
          <p:nvPr/>
        </p:nvSpPr>
        <p:spPr>
          <a:xfrm>
            <a:off x="6656832" y="2999232"/>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producteur mondial de cacao</a:t>
            </a:r>
          </a:p>
        </p:txBody>
      </p:sp>
      <p:sp>
        <p:nvSpPr>
          <p:cNvPr id="20" name="Rounded Rectangle 19"/>
          <p:cNvSpPr/>
          <p:nvPr/>
        </p:nvSpPr>
        <p:spPr>
          <a:xfrm>
            <a:off x="9235440" y="1627632"/>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Rectangle 20"/>
          <p:cNvSpPr/>
          <p:nvPr/>
        </p:nvSpPr>
        <p:spPr>
          <a:xfrm>
            <a:off x="9491472" y="1901952"/>
            <a:ext cx="384048" cy="64008"/>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9491472" y="2103120"/>
            <a:ext cx="2121408" cy="685800"/>
          </a:xfrm>
          <a:prstGeom prst="rect">
            <a:avLst/>
          </a:prstGeom>
          <a:noFill/>
        </p:spPr>
        <p:txBody>
          <a:bodyPr wrap="square" anchor="t" lIns="0" rIns="0" tIns="0" bIns="0">
            <a:spAutoFit/>
          </a:bodyPr>
          <a:lstStyle/>
          <a:p>
            <a:pPr algn="l">
              <a:lnSpc>
                <a:spcPct val="100000"/>
              </a:lnSpc>
            </a:pPr>
            <a:r>
              <a:rPr sz="3000" b="1" i="0">
                <a:solidFill>
                  <a:srgbClr val="00A651"/>
                </a:solidFill>
                <a:latin typeface="Arial"/>
              </a:rPr>
              <a:t>82 %</a:t>
            </a:r>
          </a:p>
        </p:txBody>
      </p:sp>
      <p:sp>
        <p:nvSpPr>
          <p:cNvPr id="23" name="TextBox 22"/>
          <p:cNvSpPr txBox="1"/>
          <p:nvPr/>
        </p:nvSpPr>
        <p:spPr>
          <a:xfrm>
            <a:off x="9491472" y="2999232"/>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traçable à la parcelle en 2023</a:t>
            </a:r>
          </a:p>
        </p:txBody>
      </p:sp>
      <p:sp>
        <p:nvSpPr>
          <p:cNvPr id="24" name="Rounded Rectangle 23"/>
          <p:cNvSpPr/>
          <p:nvPr/>
        </p:nvSpPr>
        <p:spPr>
          <a:xfrm>
            <a:off x="6400800" y="3968496"/>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Rectangle 24"/>
          <p:cNvSpPr/>
          <p:nvPr/>
        </p:nvSpPr>
        <p:spPr>
          <a:xfrm>
            <a:off x="6656832" y="4242816"/>
            <a:ext cx="384048" cy="6400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TextBox 25"/>
          <p:cNvSpPr txBox="1"/>
          <p:nvPr/>
        </p:nvSpPr>
        <p:spPr>
          <a:xfrm>
            <a:off x="6656832" y="4443983"/>
            <a:ext cx="2121408" cy="685800"/>
          </a:xfrm>
          <a:prstGeom prst="rect">
            <a:avLst/>
          </a:prstGeom>
          <a:noFill/>
        </p:spPr>
        <p:txBody>
          <a:bodyPr wrap="square" anchor="t" lIns="0" rIns="0" tIns="0" bIns="0">
            <a:spAutoFit/>
          </a:bodyPr>
          <a:lstStyle/>
          <a:p>
            <a:pPr algn="l">
              <a:lnSpc>
                <a:spcPct val="100000"/>
              </a:lnSpc>
            </a:pPr>
            <a:r>
              <a:rPr sz="3000" b="1" i="0">
                <a:solidFill>
                  <a:srgbClr val="FF7A00"/>
                </a:solidFill>
                <a:latin typeface="Arial"/>
              </a:rPr>
              <a:t>~30 %</a:t>
            </a:r>
          </a:p>
        </p:txBody>
      </p:sp>
      <p:sp>
        <p:nvSpPr>
          <p:cNvPr id="27" name="TextBox 26"/>
          <p:cNvSpPr txBox="1"/>
          <p:nvPr/>
        </p:nvSpPr>
        <p:spPr>
          <a:xfrm>
            <a:off x="6656832" y="5340096"/>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de la surface en zone protégée</a:t>
            </a:r>
          </a:p>
        </p:txBody>
      </p:sp>
      <p:sp>
        <p:nvSpPr>
          <p:cNvPr id="28" name="Rounded Rectangle 27"/>
          <p:cNvSpPr/>
          <p:nvPr/>
        </p:nvSpPr>
        <p:spPr>
          <a:xfrm>
            <a:off x="9235440" y="3968496"/>
            <a:ext cx="2578608" cy="2084831"/>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9491472" y="4242816"/>
            <a:ext cx="384048" cy="64008"/>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TextBox 29"/>
          <p:cNvSpPr txBox="1"/>
          <p:nvPr/>
        </p:nvSpPr>
        <p:spPr>
          <a:xfrm>
            <a:off x="9491472" y="4443983"/>
            <a:ext cx="2121408" cy="685800"/>
          </a:xfrm>
          <a:prstGeom prst="rect">
            <a:avLst/>
          </a:prstGeom>
          <a:noFill/>
        </p:spPr>
        <p:txBody>
          <a:bodyPr wrap="square" anchor="t" lIns="0" rIns="0" tIns="0" bIns="0">
            <a:spAutoFit/>
          </a:bodyPr>
          <a:lstStyle/>
          <a:p>
            <a:pPr algn="l">
              <a:lnSpc>
                <a:spcPct val="100000"/>
              </a:lnSpc>
            </a:pPr>
            <a:r>
              <a:rPr sz="3000" b="1" i="0">
                <a:solidFill>
                  <a:srgbClr val="007A3D"/>
                </a:solidFill>
                <a:latin typeface="Arial"/>
              </a:rPr>
              <a:t>2 M+</a:t>
            </a:r>
          </a:p>
        </p:txBody>
      </p:sp>
      <p:sp>
        <p:nvSpPr>
          <p:cNvPr id="31" name="TextBox 30"/>
          <p:cNvSpPr txBox="1"/>
          <p:nvPr/>
        </p:nvSpPr>
        <p:spPr>
          <a:xfrm>
            <a:off x="9491472" y="5340096"/>
            <a:ext cx="2103120" cy="594360"/>
          </a:xfrm>
          <a:prstGeom prst="rect">
            <a:avLst/>
          </a:prstGeom>
          <a:noFill/>
        </p:spPr>
        <p:txBody>
          <a:bodyPr wrap="square" anchor="t" lIns="0" rIns="0" tIns="0" bIns="0">
            <a:spAutoFit/>
          </a:bodyPr>
          <a:lstStyle/>
          <a:p>
            <a:pPr algn="l">
              <a:lnSpc>
                <a:spcPct val="110000"/>
              </a:lnSpc>
            </a:pPr>
            <a:r>
              <a:rPr sz="1100" b="0" i="0">
                <a:solidFill>
                  <a:srgbClr val="3D4A43"/>
                </a:solidFill>
                <a:latin typeface="Arial"/>
              </a:rPr>
              <a:t>foyers dépendant de la filière</a:t>
            </a:r>
          </a:p>
        </p:txBody>
      </p:sp>
      <p:sp>
        <p:nvSpPr>
          <p:cNvPr id="32" name="Rectangle 31"/>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6" name="TextBox 35"/>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02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380"/>
                                        <p:tgtEl>
                                          <p:spTgt spid="35"/>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38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PROBLÈME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Qui porte le poids ? Les petites coopératives.</a:t>
            </a:r>
          </a:p>
        </p:txBody>
      </p:sp>
      <p:sp>
        <p:nvSpPr>
          <p:cNvPr id="4" name="Rounded Rectangle 3"/>
          <p:cNvSpPr/>
          <p:nvPr/>
        </p:nvSpPr>
        <p:spPr>
          <a:xfrm>
            <a:off x="566928" y="1645920"/>
            <a:ext cx="3429000" cy="1874519"/>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TextBox 4"/>
          <p:cNvSpPr txBox="1"/>
          <p:nvPr/>
        </p:nvSpPr>
        <p:spPr>
          <a:xfrm>
            <a:off x="804672" y="1828800"/>
            <a:ext cx="2971800" cy="256032"/>
          </a:xfrm>
          <a:prstGeom prst="rect">
            <a:avLst/>
          </a:prstGeom>
          <a:noFill/>
        </p:spPr>
        <p:txBody>
          <a:bodyPr wrap="square" anchor="t" lIns="0" rIns="0" tIns="0" bIns="0">
            <a:spAutoFit/>
          </a:bodyPr>
          <a:lstStyle/>
          <a:p>
            <a:pPr algn="l">
              <a:lnSpc>
                <a:spcPct val="100000"/>
              </a:lnSpc>
            </a:pPr>
            <a:r>
              <a:rPr sz="900" b="1" i="0" spc="120">
                <a:solidFill>
                  <a:srgbClr val="007A3D"/>
                </a:solidFill>
                <a:latin typeface="Arial"/>
              </a:rPr>
              <a:t>L'UE EXIGE</a:t>
            </a:r>
          </a:p>
        </p:txBody>
      </p:sp>
      <p:sp>
        <p:nvSpPr>
          <p:cNvPr id="6" name="TextBox 5"/>
          <p:cNvSpPr txBox="1"/>
          <p:nvPr/>
        </p:nvSpPr>
        <p:spPr>
          <a:xfrm>
            <a:off x="804672"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Une preuve géospatiale par parcelle</a:t>
            </a:r>
          </a:p>
        </p:txBody>
      </p:sp>
      <p:sp>
        <p:nvSpPr>
          <p:cNvPr id="7" name="TextBox 6"/>
          <p:cNvSpPr txBox="1"/>
          <p:nvPr/>
        </p:nvSpPr>
        <p:spPr>
          <a:xfrm>
            <a:off x="804672"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Coordonnées GPS + absence de déforestation post-2020, pour chaque cargaison.</a:t>
            </a:r>
          </a:p>
        </p:txBody>
      </p:sp>
      <p:sp>
        <p:nvSpPr>
          <p:cNvPr id="8" name="Rounded Rectangle 7"/>
          <p:cNvSpPr/>
          <p:nvPr/>
        </p:nvSpPr>
        <p:spPr>
          <a:xfrm>
            <a:off x="4379976" y="1645920"/>
            <a:ext cx="3429000" cy="1874519"/>
          </a:xfrm>
          <a:prstGeom prst="roundRect">
            <a:avLst>
              <a:gd name="adj" fmla="val 8500"/>
            </a:avLst>
          </a:prstGeom>
          <a:solidFill>
            <a:srgbClr val="FFF1E1"/>
          </a:solidFill>
          <a:ln w="9525">
            <a:solidFill>
              <a:srgbClr val="FF7A00"/>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4617720" y="1828800"/>
            <a:ext cx="2971800" cy="256032"/>
          </a:xfrm>
          <a:prstGeom prst="rect">
            <a:avLst/>
          </a:prstGeom>
          <a:noFill/>
        </p:spPr>
        <p:txBody>
          <a:bodyPr wrap="square" anchor="t" lIns="0" rIns="0" tIns="0" bIns="0">
            <a:spAutoFit/>
          </a:bodyPr>
          <a:lstStyle/>
          <a:p>
            <a:pPr algn="l">
              <a:lnSpc>
                <a:spcPct val="100000"/>
              </a:lnSpc>
            </a:pPr>
            <a:r>
              <a:rPr sz="900" b="1" i="0" spc="120">
                <a:solidFill>
                  <a:srgbClr val="D95E00"/>
                </a:solidFill>
                <a:latin typeface="Arial"/>
              </a:rPr>
              <a:t>LA RÉALITÉ TERRAIN</a:t>
            </a:r>
          </a:p>
        </p:txBody>
      </p:sp>
      <p:sp>
        <p:nvSpPr>
          <p:cNvPr id="10" name="TextBox 9"/>
          <p:cNvSpPr txBox="1"/>
          <p:nvPr/>
        </p:nvSpPr>
        <p:spPr>
          <a:xfrm>
            <a:off x="4617720"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Des milliers de parcelles à cartographier… à la main</a:t>
            </a:r>
          </a:p>
        </p:txBody>
      </p:sp>
      <p:sp>
        <p:nvSpPr>
          <p:cNvPr id="11" name="TextBox 10"/>
          <p:cNvSpPr txBox="1"/>
          <p:nvPr/>
        </p:nvSpPr>
        <p:spPr>
          <a:xfrm>
            <a:off x="4617720"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Sans outil numérique, sans expertise juridique, avec un papier et un crayon.</a:t>
            </a:r>
          </a:p>
        </p:txBody>
      </p:sp>
      <p:sp>
        <p:nvSpPr>
          <p:cNvPr id="12" name="Rounded Rectangle 11"/>
          <p:cNvSpPr/>
          <p:nvPr/>
        </p:nvSpPr>
        <p:spPr>
          <a:xfrm>
            <a:off x="8193024" y="1645920"/>
            <a:ext cx="3429000" cy="1874519"/>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8430768" y="1828800"/>
            <a:ext cx="2971800" cy="256032"/>
          </a:xfrm>
          <a:prstGeom prst="rect">
            <a:avLst/>
          </a:prstGeom>
          <a:noFill/>
        </p:spPr>
        <p:txBody>
          <a:bodyPr wrap="square" anchor="t" lIns="0" rIns="0" tIns="0" bIns="0">
            <a:spAutoFit/>
          </a:bodyPr>
          <a:lstStyle/>
          <a:p>
            <a:pPr algn="l">
              <a:lnSpc>
                <a:spcPct val="100000"/>
              </a:lnSpc>
            </a:pPr>
            <a:r>
              <a:rPr sz="900" b="1" i="0" spc="120">
                <a:solidFill>
                  <a:srgbClr val="D9482B"/>
                </a:solidFill>
                <a:latin typeface="Arial"/>
              </a:rPr>
              <a:t>LA CONSÉQUENCE</a:t>
            </a:r>
          </a:p>
        </p:txBody>
      </p:sp>
      <p:sp>
        <p:nvSpPr>
          <p:cNvPr id="14" name="TextBox 13"/>
          <p:cNvSpPr txBox="1"/>
          <p:nvPr/>
        </p:nvSpPr>
        <p:spPr>
          <a:xfrm>
            <a:off x="8430768" y="2103120"/>
            <a:ext cx="2971800" cy="566928"/>
          </a:xfrm>
          <a:prstGeom prst="rect">
            <a:avLst/>
          </a:prstGeom>
          <a:noFill/>
        </p:spPr>
        <p:txBody>
          <a:bodyPr wrap="square" anchor="t" lIns="0" rIns="0" tIns="0" bIns="0">
            <a:spAutoFit/>
          </a:bodyPr>
          <a:lstStyle/>
          <a:p>
            <a:pPr algn="l">
              <a:lnSpc>
                <a:spcPct val="105000"/>
              </a:lnSpc>
            </a:pPr>
            <a:r>
              <a:rPr sz="1350" b="1" i="0">
                <a:solidFill>
                  <a:srgbClr val="13251C"/>
                </a:solidFill>
                <a:latin typeface="Arial"/>
              </a:rPr>
              <a:t>Exclusion du marché européen</a:t>
            </a:r>
          </a:p>
        </p:txBody>
      </p:sp>
      <p:sp>
        <p:nvSpPr>
          <p:cNvPr id="15" name="TextBox 14"/>
          <p:cNvSpPr txBox="1"/>
          <p:nvPr/>
        </p:nvSpPr>
        <p:spPr>
          <a:xfrm>
            <a:off x="8430768" y="2761488"/>
            <a:ext cx="2971800" cy="64008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Des milliers de foyers perdent leur débouché principal faute de dossier.</a:t>
            </a:r>
          </a:p>
        </p:txBody>
      </p:sp>
      <p:sp>
        <p:nvSpPr>
          <p:cNvPr id="16" name="Right Arrow 15"/>
          <p:cNvSpPr/>
          <p:nvPr/>
        </p:nvSpPr>
        <p:spPr>
          <a:xfrm>
            <a:off x="4041648" y="2395728"/>
            <a:ext cx="292608" cy="365760"/>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ight Arrow 16"/>
          <p:cNvSpPr/>
          <p:nvPr/>
        </p:nvSpPr>
        <p:spPr>
          <a:xfrm>
            <a:off x="7854696" y="2395728"/>
            <a:ext cx="292608" cy="365760"/>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Rounded Rectangle 17"/>
          <p:cNvSpPr/>
          <p:nvPr/>
        </p:nvSpPr>
        <p:spPr>
          <a:xfrm>
            <a:off x="566928" y="3913632"/>
            <a:ext cx="11064240" cy="100584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TextBox 18"/>
          <p:cNvSpPr txBox="1"/>
          <p:nvPr/>
        </p:nvSpPr>
        <p:spPr>
          <a:xfrm>
            <a:off x="914400" y="4087368"/>
            <a:ext cx="10424160" cy="411480"/>
          </a:xfrm>
          <a:prstGeom prst="rect">
            <a:avLst/>
          </a:prstGeom>
          <a:noFill/>
        </p:spPr>
        <p:txBody>
          <a:bodyPr wrap="square" anchor="t" lIns="0" rIns="0" tIns="0" bIns="0">
            <a:spAutoFit/>
          </a:bodyPr>
          <a:lstStyle/>
          <a:p>
            <a:pPr algn="l">
              <a:lnSpc>
                <a:spcPct val="100000"/>
              </a:lnSpc>
            </a:pPr>
            <a:r>
              <a:rPr sz="1500" b="1" i="0">
                <a:solidFill>
                  <a:srgbClr val="13251C"/>
                </a:solidFill>
                <a:latin typeface="Arial"/>
              </a:rPr>
              <a:t>Une charge disproportionnée pour ceux qui font tourner la filière.</a:t>
            </a:r>
          </a:p>
        </p:txBody>
      </p:sp>
      <p:sp>
        <p:nvSpPr>
          <p:cNvPr id="20" name="TextBox 19"/>
          <p:cNvSpPr txBox="1"/>
          <p:nvPr/>
        </p:nvSpPr>
        <p:spPr>
          <a:xfrm>
            <a:off x="914400" y="4498848"/>
            <a:ext cx="10424160" cy="320040"/>
          </a:xfrm>
          <a:prstGeom prst="rect">
            <a:avLst/>
          </a:prstGeom>
          <a:noFill/>
        </p:spPr>
        <p:txBody>
          <a:bodyPr wrap="square" anchor="t" lIns="0" rIns="0" tIns="0" bIns="0">
            <a:spAutoFit/>
          </a:bodyPr>
          <a:lstStyle/>
          <a:p>
            <a:pPr algn="l">
              <a:lnSpc>
                <a:spcPct val="100000"/>
              </a:lnSpc>
            </a:pPr>
            <a:r>
              <a:rPr sz="1050" b="0" i="0">
                <a:solidFill>
                  <a:srgbClr val="007A3D"/>
                </a:solidFill>
                <a:latin typeface="Arial"/>
              </a:rPr>
              <a:t>Le coût de mise en conformité menace directement les petites coopératives.</a:t>
            </a:r>
          </a:p>
        </p:txBody>
      </p:sp>
      <p:sp>
        <p:nvSpPr>
          <p:cNvPr id="21" name="Rounded Rectangle 20"/>
          <p:cNvSpPr/>
          <p:nvPr/>
        </p:nvSpPr>
        <p:spPr>
          <a:xfrm>
            <a:off x="566928"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786384"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CHARGE</a:t>
            </a:r>
          </a:p>
        </p:txBody>
      </p:sp>
      <p:sp>
        <p:nvSpPr>
          <p:cNvPr id="23" name="TextBox 22"/>
          <p:cNvSpPr txBox="1"/>
          <p:nvPr/>
        </p:nvSpPr>
        <p:spPr>
          <a:xfrm>
            <a:off x="786384"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des milliers de relevés à produire et documenter</a:t>
            </a:r>
          </a:p>
        </p:txBody>
      </p:sp>
      <p:sp>
        <p:nvSpPr>
          <p:cNvPr id="24" name="Rounded Rectangle 23"/>
          <p:cNvSpPr/>
          <p:nvPr/>
        </p:nvSpPr>
        <p:spPr>
          <a:xfrm>
            <a:off x="4379976"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4599432"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MOYENS</a:t>
            </a:r>
          </a:p>
        </p:txBody>
      </p:sp>
      <p:sp>
        <p:nvSpPr>
          <p:cNvPr id="26" name="TextBox 25"/>
          <p:cNvSpPr txBox="1"/>
          <p:nvPr/>
        </p:nvSpPr>
        <p:spPr>
          <a:xfrm>
            <a:off x="4599432"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ni outil numérique, ni budget, ni expertise</a:t>
            </a:r>
          </a:p>
        </p:txBody>
      </p:sp>
      <p:sp>
        <p:nvSpPr>
          <p:cNvPr id="27" name="Rounded Rectangle 26"/>
          <p:cNvSpPr/>
          <p:nvPr/>
        </p:nvSpPr>
        <p:spPr>
          <a:xfrm>
            <a:off x="8193023" y="5230368"/>
            <a:ext cx="3529584" cy="91440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TextBox 27"/>
          <p:cNvSpPr txBox="1"/>
          <p:nvPr/>
        </p:nvSpPr>
        <p:spPr>
          <a:xfrm>
            <a:off x="8412480" y="5394960"/>
            <a:ext cx="3108960" cy="274320"/>
          </a:xfrm>
          <a:prstGeom prst="rect">
            <a:avLst/>
          </a:prstGeom>
          <a:noFill/>
        </p:spPr>
        <p:txBody>
          <a:bodyPr wrap="square" anchor="t" lIns="0" rIns="0" tIns="0" bIns="0">
            <a:spAutoFit/>
          </a:bodyPr>
          <a:lstStyle/>
          <a:p>
            <a:pPr algn="l">
              <a:lnSpc>
                <a:spcPct val="100000"/>
              </a:lnSpc>
            </a:pPr>
            <a:r>
              <a:rPr sz="1000" b="1" i="0" spc="100">
                <a:solidFill>
                  <a:srgbClr val="D95E00"/>
                </a:solidFill>
                <a:latin typeface="Arial"/>
              </a:rPr>
              <a:t>RISQUE</a:t>
            </a:r>
          </a:p>
        </p:txBody>
      </p:sp>
      <p:sp>
        <p:nvSpPr>
          <p:cNvPr id="29" name="TextBox 28"/>
          <p:cNvSpPr txBox="1"/>
          <p:nvPr/>
        </p:nvSpPr>
        <p:spPr>
          <a:xfrm>
            <a:off x="8412480" y="5522976"/>
            <a:ext cx="3108960" cy="502920"/>
          </a:xfrm>
          <a:prstGeom prst="rect">
            <a:avLst/>
          </a:prstGeom>
          <a:noFill/>
        </p:spPr>
        <p:txBody>
          <a:bodyPr wrap="square" anchor="t" lIns="0" rIns="0" tIns="0" bIns="0">
            <a:spAutoFit/>
          </a:bodyPr>
          <a:lstStyle/>
          <a:p>
            <a:pPr algn="l">
              <a:lnSpc>
                <a:spcPct val="110000"/>
              </a:lnSpc>
            </a:pPr>
            <a:r>
              <a:rPr sz="950" b="0" i="0">
                <a:solidFill>
                  <a:srgbClr val="3D4A43"/>
                </a:solidFill>
                <a:latin typeface="Arial"/>
              </a:rPr>
              <a:t>perte d'accès au marché UE dès 2025</a:t>
            </a:r>
          </a:p>
        </p:txBody>
      </p:sp>
      <p:sp>
        <p:nvSpPr>
          <p:cNvPr id="30" name="Rectangle 2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4" name="TextBox 3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03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380"/>
                                        <p:tgtEl>
                                          <p:spTgt spid="33"/>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38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INSIGHT</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La donnée existe déjà. Gratuitement.</a:t>
            </a:r>
          </a:p>
        </p:txBody>
      </p:sp>
      <p:sp>
        <p:nvSpPr>
          <p:cNvPr id="4" name="Rounded Rectangle 3"/>
          <p:cNvSpPr/>
          <p:nvPr/>
        </p:nvSpPr>
        <p:spPr>
          <a:xfrm>
            <a:off x="56692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841247" y="1947672"/>
            <a:ext cx="868680" cy="86868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ounded Rectangle 5"/>
          <p:cNvSpPr/>
          <p:nvPr/>
        </p:nvSpPr>
        <p:spPr>
          <a:xfrm>
            <a:off x="1170249" y="2276673"/>
            <a:ext cx="210677" cy="210677"/>
          </a:xfrm>
          <a:prstGeom prst="roundRect">
            <a:avLst>
              <a:gd name="adj" fmla="val 25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ectangle 6"/>
          <p:cNvSpPr/>
          <p:nvPr/>
        </p:nvSpPr>
        <p:spPr>
          <a:xfrm>
            <a:off x="933236" y="2309591"/>
            <a:ext cx="197510" cy="14484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1420428" y="2309591"/>
            <a:ext cx="197510" cy="14484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Oval 8"/>
          <p:cNvSpPr/>
          <p:nvPr/>
        </p:nvSpPr>
        <p:spPr>
          <a:xfrm>
            <a:off x="1236085" y="2513685"/>
            <a:ext cx="79004" cy="79004"/>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TextBox 9"/>
          <p:cNvSpPr txBox="1"/>
          <p:nvPr/>
        </p:nvSpPr>
        <p:spPr>
          <a:xfrm>
            <a:off x="841247"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Sentinel-2</a:t>
            </a:r>
          </a:p>
        </p:txBody>
      </p:sp>
      <p:sp>
        <p:nvSpPr>
          <p:cNvPr id="11" name="TextBox 10"/>
          <p:cNvSpPr txBox="1"/>
          <p:nvPr/>
        </p:nvSpPr>
        <p:spPr>
          <a:xfrm>
            <a:off x="841247"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Copernicus — Union européenne</a:t>
            </a:r>
          </a:p>
        </p:txBody>
      </p:sp>
      <p:sp>
        <p:nvSpPr>
          <p:cNvPr id="12" name="TextBox 11"/>
          <p:cNvSpPr txBox="1"/>
          <p:nvPr/>
        </p:nvSpPr>
        <p:spPr>
          <a:xfrm>
            <a:off x="841247"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Imagerie optique 10 m, revisitée tous les 5 jours : état du couvert végétal.</a:t>
            </a:r>
          </a:p>
        </p:txBody>
      </p:sp>
      <p:sp>
        <p:nvSpPr>
          <p:cNvPr id="13" name="Rounded Rectangle 12"/>
          <p:cNvSpPr/>
          <p:nvPr/>
        </p:nvSpPr>
        <p:spPr>
          <a:xfrm>
            <a:off x="841247"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14" name="Rounded Rectangle 13"/>
          <p:cNvSpPr/>
          <p:nvPr/>
        </p:nvSpPr>
        <p:spPr>
          <a:xfrm>
            <a:off x="431596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4590288" y="1947672"/>
            <a:ext cx="868680" cy="86868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Isosceles Triangle 15"/>
          <p:cNvSpPr/>
          <p:nvPr/>
        </p:nvSpPr>
        <p:spPr>
          <a:xfrm>
            <a:off x="4827117" y="2105497"/>
            <a:ext cx="395020" cy="408188"/>
          </a:xfrm>
          <a:prstGeom prst="triangl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ounded Rectangle 16"/>
          <p:cNvSpPr/>
          <p:nvPr/>
        </p:nvSpPr>
        <p:spPr>
          <a:xfrm>
            <a:off x="4988417" y="2474183"/>
            <a:ext cx="72420" cy="197510"/>
          </a:xfrm>
          <a:prstGeom prst="roundRect">
            <a:avLst>
              <a:gd name="adj" fmla="val 30000"/>
            </a:avLst>
          </a:prstGeom>
          <a:solidFill>
            <a:srgbClr val="067F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4590288"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Hansen / Global Forest Watch</a:t>
            </a:r>
          </a:p>
        </p:txBody>
      </p:sp>
      <p:sp>
        <p:nvSpPr>
          <p:cNvPr id="19" name="TextBox 18"/>
          <p:cNvSpPr txBox="1"/>
          <p:nvPr/>
        </p:nvSpPr>
        <p:spPr>
          <a:xfrm>
            <a:off x="4590288"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Université du Maryland + WRI</a:t>
            </a:r>
          </a:p>
        </p:txBody>
      </p:sp>
      <p:sp>
        <p:nvSpPr>
          <p:cNvPr id="20" name="TextBox 19"/>
          <p:cNvSpPr txBox="1"/>
          <p:nvPr/>
        </p:nvSpPr>
        <p:spPr>
          <a:xfrm>
            <a:off x="4590288"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Couvert forestier et perte annuelle, depuis 2000, à 30 m.</a:t>
            </a:r>
          </a:p>
        </p:txBody>
      </p:sp>
      <p:sp>
        <p:nvSpPr>
          <p:cNvPr id="21" name="Rounded Rectangle 20"/>
          <p:cNvSpPr/>
          <p:nvPr/>
        </p:nvSpPr>
        <p:spPr>
          <a:xfrm>
            <a:off x="4590288"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22" name="Rounded Rectangle 21"/>
          <p:cNvSpPr/>
          <p:nvPr/>
        </p:nvSpPr>
        <p:spPr>
          <a:xfrm>
            <a:off x="8065008" y="1691640"/>
            <a:ext cx="3566160" cy="278892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Oval 22"/>
          <p:cNvSpPr/>
          <p:nvPr/>
        </p:nvSpPr>
        <p:spPr>
          <a:xfrm>
            <a:off x="8339328" y="1947672"/>
            <a:ext cx="868680" cy="86868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Oval 23"/>
          <p:cNvSpPr/>
          <p:nvPr/>
        </p:nvSpPr>
        <p:spPr>
          <a:xfrm>
            <a:off x="8562990" y="2171334"/>
            <a:ext cx="421355" cy="421355"/>
          </a:xfrm>
          <a:prstGeom prst="ellipse">
            <a:avLst/>
          </a:prstGeom>
          <a:noFill/>
          <a:ln w="2794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Oval 24"/>
          <p:cNvSpPr/>
          <p:nvPr/>
        </p:nvSpPr>
        <p:spPr>
          <a:xfrm>
            <a:off x="8562990" y="2316175"/>
            <a:ext cx="421355" cy="131673"/>
          </a:xfrm>
          <a:prstGeom prst="ellipse">
            <a:avLst/>
          </a:prstGeom>
          <a:noFill/>
          <a:ln w="1778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Rectangle 25"/>
          <p:cNvSpPr/>
          <p:nvPr/>
        </p:nvSpPr>
        <p:spPr>
          <a:xfrm>
            <a:off x="8765767" y="2171334"/>
            <a:ext cx="15800" cy="421355"/>
          </a:xfrm>
          <a:prstGeom prst="rect">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TextBox 26"/>
          <p:cNvSpPr txBox="1"/>
          <p:nvPr/>
        </p:nvSpPr>
        <p:spPr>
          <a:xfrm>
            <a:off x="8339328" y="2990088"/>
            <a:ext cx="301752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Digital Earth Africa</a:t>
            </a:r>
          </a:p>
        </p:txBody>
      </p:sp>
      <p:sp>
        <p:nvSpPr>
          <p:cNvPr id="28" name="TextBox 27"/>
          <p:cNvSpPr txBox="1"/>
          <p:nvPr/>
        </p:nvSpPr>
        <p:spPr>
          <a:xfrm>
            <a:off x="8339328" y="3319272"/>
            <a:ext cx="30175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Programme continental ouvert</a:t>
            </a:r>
          </a:p>
        </p:txBody>
      </p:sp>
      <p:sp>
        <p:nvSpPr>
          <p:cNvPr id="29" name="TextBox 28"/>
          <p:cNvSpPr txBox="1"/>
          <p:nvPr/>
        </p:nvSpPr>
        <p:spPr>
          <a:xfrm>
            <a:off x="8339328" y="3611880"/>
            <a:ext cx="3017520" cy="68580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Dégradation des terres et services d'analyse prêts à l'emploi.</a:t>
            </a:r>
          </a:p>
        </p:txBody>
      </p:sp>
      <p:sp>
        <p:nvSpPr>
          <p:cNvPr id="30" name="Rounded Rectangle 29"/>
          <p:cNvSpPr/>
          <p:nvPr/>
        </p:nvSpPr>
        <p:spPr>
          <a:xfrm>
            <a:off x="8339328" y="4087368"/>
            <a:ext cx="2286000" cy="292608"/>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007A3D"/>
                </a:solidFill>
                <a:latin typeface="Arial"/>
              </a:rPr>
              <a:t>Gratuit · données ouvertes</a:t>
            </a:r>
          </a:p>
        </p:txBody>
      </p:sp>
      <p:sp>
        <p:nvSpPr>
          <p:cNvPr id="31" name="Down Arrow 30"/>
          <p:cNvSpPr/>
          <p:nvPr/>
        </p:nvSpPr>
        <p:spPr>
          <a:xfrm>
            <a:off x="5989320" y="4645152"/>
            <a:ext cx="219456" cy="274320"/>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ounded Rectangle 31"/>
          <p:cNvSpPr/>
          <p:nvPr/>
        </p:nvSpPr>
        <p:spPr>
          <a:xfrm>
            <a:off x="566928" y="5029200"/>
            <a:ext cx="11064240" cy="1097280"/>
          </a:xfrm>
          <a:prstGeom prst="roundRect">
            <a:avLst>
              <a:gd name="adj" fmla="val 85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TextBox 32"/>
          <p:cNvSpPr txBox="1"/>
          <p:nvPr/>
        </p:nvSpPr>
        <p:spPr>
          <a:xfrm>
            <a:off x="960120" y="5230368"/>
            <a:ext cx="10332720" cy="365760"/>
          </a:xfrm>
          <a:prstGeom prst="rect">
            <a:avLst/>
          </a:prstGeom>
          <a:noFill/>
        </p:spPr>
        <p:txBody>
          <a:bodyPr wrap="square" anchor="t" lIns="0" rIns="0" tIns="0" bIns="0">
            <a:spAutoFit/>
          </a:bodyPr>
          <a:lstStyle/>
          <a:p>
            <a:pPr algn="l">
              <a:lnSpc>
                <a:spcPct val="100000"/>
              </a:lnSpc>
            </a:pPr>
            <a:r>
              <a:rPr sz="1450" b="1" i="0">
                <a:solidFill>
                  <a:srgbClr val="FFFFFF"/>
                </a:solidFill>
                <a:latin typeface="Arial"/>
              </a:rPr>
              <a:t>Ce qui manque n'est pas la donnée — c'est le </a:t>
            </a:r>
            <a:r>
              <a:rPr sz="1450" b="1" i="0">
                <a:solidFill>
                  <a:srgbClr val="7BD9A2"/>
                </a:solidFill>
                <a:latin typeface="Arial"/>
              </a:rPr>
              <a:t>pipeline</a:t>
            </a:r>
            <a:r>
              <a:rPr sz="1450" b="1" i="0">
                <a:solidFill>
                  <a:srgbClr val="FFFFFF"/>
                </a:solidFill>
                <a:latin typeface="Arial"/>
              </a:rPr>
              <a:t> qui la relie au terrain.</a:t>
            </a:r>
          </a:p>
        </p:txBody>
      </p:sp>
      <p:sp>
        <p:nvSpPr>
          <p:cNvPr id="34" name="TextBox 33"/>
          <p:cNvSpPr txBox="1"/>
          <p:nvPr/>
        </p:nvSpPr>
        <p:spPr>
          <a:xfrm>
            <a:off x="960120" y="5650992"/>
            <a:ext cx="10332720" cy="320040"/>
          </a:xfrm>
          <a:prstGeom prst="rect">
            <a:avLst/>
          </a:prstGeom>
          <a:noFill/>
        </p:spPr>
        <p:txBody>
          <a:bodyPr wrap="square" anchor="t" lIns="0" rIns="0" tIns="0" bIns="0">
            <a:spAutoFit/>
          </a:bodyPr>
          <a:lstStyle/>
          <a:p>
            <a:pPr algn="l">
              <a:lnSpc>
                <a:spcPct val="100000"/>
              </a:lnSpc>
            </a:pPr>
            <a:r>
              <a:rPr sz="1050" b="0" i="0">
                <a:solidFill>
                  <a:srgbClr val="9DB5A8"/>
                </a:solidFill>
                <a:latin typeface="Arial"/>
              </a:rPr>
              <a:t>C'est exactement ce que CacaoSat construit.</a:t>
            </a:r>
          </a:p>
        </p:txBody>
      </p:sp>
      <p:sp>
        <p:nvSpPr>
          <p:cNvPr id="35" name="Rectangle 3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9" name="TextBox 3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04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380"/>
                                        <p:tgtEl>
                                          <p:spTgt spid="38"/>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38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NOTRE SOLUTION</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pipeline complet, de la parcelle au certificat</a:t>
            </a:r>
          </a:p>
        </p:txBody>
      </p:sp>
      <p:sp>
        <p:nvSpPr>
          <p:cNvPr id="4" name="Chevron 3"/>
          <p:cNvSpPr/>
          <p:nvPr/>
        </p:nvSpPr>
        <p:spPr>
          <a:xfrm>
            <a:off x="566928" y="1755648"/>
            <a:ext cx="2048256" cy="896112"/>
          </a:xfrm>
          <a:prstGeom prst="chevron">
            <a:avLst>
              <a:gd name="adj" fmla="val 42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01</a:t>
            </a:r>
          </a:p>
          <a:p>
            <a:pPr algn="ctr">
              <a:lnSpc>
                <a:spcPct val="100000"/>
              </a:lnSpc>
              <a:spcAft>
                <a:spcPts val="300"/>
              </a:spcAft>
            </a:pPr>
            <a:r>
              <a:rPr sz="1050" b="1">
                <a:solidFill>
                  <a:srgbClr val="FFFFFF"/>
                </a:solidFill>
                <a:latin typeface="Arial"/>
              </a:rPr>
              <a:t>Cartographie</a:t>
            </a:r>
          </a:p>
        </p:txBody>
      </p:sp>
      <p:sp>
        <p:nvSpPr>
          <p:cNvPr id="5" name="Rounded Rectangle 4"/>
          <p:cNvSpPr/>
          <p:nvPr/>
        </p:nvSpPr>
        <p:spPr>
          <a:xfrm>
            <a:off x="621792"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Relevé GPS hors-ligne des parcelles — app mobile</a:t>
            </a:r>
          </a:p>
        </p:txBody>
      </p:sp>
      <p:sp>
        <p:nvSpPr>
          <p:cNvPr id="6" name="Chevron 5"/>
          <p:cNvSpPr/>
          <p:nvPr/>
        </p:nvSpPr>
        <p:spPr>
          <a:xfrm>
            <a:off x="2370124" y="1755648"/>
            <a:ext cx="2048256" cy="896112"/>
          </a:xfrm>
          <a:prstGeom prst="chevron">
            <a:avLst>
              <a:gd name="adj" fmla="val 42000"/>
            </a:avLst>
          </a:prstGeom>
          <a:solidFill>
            <a:srgbClr val="CC83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02</a:t>
            </a:r>
          </a:p>
          <a:p>
            <a:pPr algn="ctr">
              <a:lnSpc>
                <a:spcPct val="100000"/>
              </a:lnSpc>
              <a:spcAft>
                <a:spcPts val="300"/>
              </a:spcAft>
            </a:pPr>
            <a:r>
              <a:rPr sz="1050" b="1">
                <a:solidFill>
                  <a:srgbClr val="FFFFFF"/>
                </a:solidFill>
                <a:latin typeface="Arial"/>
              </a:rPr>
              <a:t>Ingestion</a:t>
            </a:r>
          </a:p>
        </p:txBody>
      </p:sp>
      <p:sp>
        <p:nvSpPr>
          <p:cNvPr id="7" name="Rounded Rectangle 6"/>
          <p:cNvSpPr/>
          <p:nvPr/>
        </p:nvSpPr>
        <p:spPr>
          <a:xfrm>
            <a:off x="2424988"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Base géospatiale PostGIS unique et interopérable</a:t>
            </a:r>
          </a:p>
        </p:txBody>
      </p:sp>
      <p:sp>
        <p:nvSpPr>
          <p:cNvPr id="8" name="Chevron 7"/>
          <p:cNvSpPr/>
          <p:nvPr/>
        </p:nvSpPr>
        <p:spPr>
          <a:xfrm>
            <a:off x="4173321" y="1755648"/>
            <a:ext cx="2048256" cy="896112"/>
          </a:xfrm>
          <a:prstGeom prst="chevron">
            <a:avLst>
              <a:gd name="adj" fmla="val 42000"/>
            </a:avLst>
          </a:prstGeom>
          <a:solidFill>
            <a:srgbClr val="998C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03</a:t>
            </a:r>
          </a:p>
          <a:p>
            <a:pPr algn="ctr">
              <a:lnSpc>
                <a:spcPct val="100000"/>
              </a:lnSpc>
              <a:spcAft>
                <a:spcPts val="300"/>
              </a:spcAft>
            </a:pPr>
            <a:r>
              <a:rPr sz="1050" b="1">
                <a:solidFill>
                  <a:srgbClr val="FFFFFF"/>
                </a:solidFill>
                <a:latin typeface="Arial"/>
              </a:rPr>
              <a:t>Croisement satellite</a:t>
            </a:r>
          </a:p>
        </p:txBody>
      </p:sp>
      <p:sp>
        <p:nvSpPr>
          <p:cNvPr id="9" name="Rounded Rectangle 8"/>
          <p:cNvSpPr/>
          <p:nvPr/>
        </p:nvSpPr>
        <p:spPr>
          <a:xfrm>
            <a:off x="4228185"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Sentinel-2 + Hansen/GFW + DEA, depuis 2020</a:t>
            </a:r>
          </a:p>
        </p:txBody>
      </p:sp>
      <p:sp>
        <p:nvSpPr>
          <p:cNvPr id="10" name="Chevron 9"/>
          <p:cNvSpPr/>
          <p:nvPr/>
        </p:nvSpPr>
        <p:spPr>
          <a:xfrm>
            <a:off x="5976518" y="1755648"/>
            <a:ext cx="2048256" cy="896112"/>
          </a:xfrm>
          <a:prstGeom prst="chevron">
            <a:avLst>
              <a:gd name="adj" fmla="val 42000"/>
            </a:avLst>
          </a:prstGeom>
          <a:solidFill>
            <a:srgbClr val="6694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04</a:t>
            </a:r>
          </a:p>
          <a:p>
            <a:pPr algn="ctr">
              <a:lnSpc>
                <a:spcPct val="100000"/>
              </a:lnSpc>
              <a:spcAft>
                <a:spcPts val="300"/>
              </a:spcAft>
            </a:pPr>
            <a:r>
              <a:rPr sz="1050" b="1">
                <a:solidFill>
                  <a:srgbClr val="FFFFFF"/>
                </a:solidFill>
                <a:latin typeface="Arial"/>
              </a:rPr>
              <a:t>Scoring EUDR</a:t>
            </a:r>
          </a:p>
        </p:txBody>
      </p:sp>
      <p:sp>
        <p:nvSpPr>
          <p:cNvPr id="11" name="Rounded Rectangle 10"/>
          <p:cNvSpPr/>
          <p:nvPr/>
        </p:nvSpPr>
        <p:spPr>
          <a:xfrm>
            <a:off x="6031382"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Score /100 pondéré et explicable, par parcelle</a:t>
            </a:r>
          </a:p>
        </p:txBody>
      </p:sp>
      <p:sp>
        <p:nvSpPr>
          <p:cNvPr id="12" name="Chevron 11"/>
          <p:cNvSpPr/>
          <p:nvPr/>
        </p:nvSpPr>
        <p:spPr>
          <a:xfrm>
            <a:off x="7779715" y="1755648"/>
            <a:ext cx="2048256" cy="896112"/>
          </a:xfrm>
          <a:prstGeom prst="chevron">
            <a:avLst>
              <a:gd name="adj" fmla="val 42000"/>
            </a:avLst>
          </a:prstGeom>
          <a:solidFill>
            <a:srgbClr val="339D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05</a:t>
            </a:r>
          </a:p>
          <a:p>
            <a:pPr algn="ctr">
              <a:lnSpc>
                <a:spcPct val="100000"/>
              </a:lnSpc>
              <a:spcAft>
                <a:spcPts val="300"/>
              </a:spcAft>
            </a:pPr>
            <a:r>
              <a:rPr sz="1050" b="1">
                <a:solidFill>
                  <a:srgbClr val="FFFFFF"/>
                </a:solidFill>
                <a:latin typeface="Arial"/>
              </a:rPr>
              <a:t>Certificat</a:t>
            </a:r>
          </a:p>
        </p:txBody>
      </p:sp>
      <p:sp>
        <p:nvSpPr>
          <p:cNvPr id="13" name="Rounded Rectangle 12"/>
          <p:cNvSpPr/>
          <p:nvPr/>
        </p:nvSpPr>
        <p:spPr>
          <a:xfrm>
            <a:off x="7834579"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Rapport PDF + GeoJSON, empreinte SHA-256</a:t>
            </a:r>
          </a:p>
        </p:txBody>
      </p:sp>
      <p:sp>
        <p:nvSpPr>
          <p:cNvPr id="14" name="Chevron 13"/>
          <p:cNvSpPr/>
          <p:nvPr/>
        </p:nvSpPr>
        <p:spPr>
          <a:xfrm>
            <a:off x="9582911" y="1755648"/>
            <a:ext cx="2048256" cy="896112"/>
          </a:xfrm>
          <a:prstGeom prst="chevron">
            <a:avLst>
              <a:gd name="adj" fmla="val 42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spcAft>
                <a:spcPts val="300"/>
              </a:spcAft>
            </a:pPr>
            <a:r>
              <a:rPr sz="900" b="1">
                <a:solidFill>
                  <a:srgbClr val="FFFFFF"/>
                </a:solidFill>
                <a:latin typeface="Arial"/>
              </a:rPr>
              <a:t>06</a:t>
            </a:r>
          </a:p>
          <a:p>
            <a:pPr algn="ctr">
              <a:lnSpc>
                <a:spcPct val="100000"/>
              </a:lnSpc>
              <a:spcAft>
                <a:spcPts val="300"/>
              </a:spcAft>
            </a:pPr>
            <a:r>
              <a:rPr sz="1050" b="1">
                <a:solidFill>
                  <a:srgbClr val="FFFFFF"/>
                </a:solidFill>
                <a:latin typeface="Arial"/>
              </a:rPr>
              <a:t>Alerte précoce</a:t>
            </a:r>
          </a:p>
        </p:txBody>
      </p:sp>
      <p:sp>
        <p:nvSpPr>
          <p:cNvPr id="15" name="Rounded Rectangle 14"/>
          <p:cNvSpPr/>
          <p:nvPr/>
        </p:nvSpPr>
        <p:spPr>
          <a:xfrm>
            <a:off x="9637776" y="2871215"/>
            <a:ext cx="1938528" cy="1325880"/>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lnSpc>
                <a:spcPct val="112000"/>
              </a:lnSpc>
            </a:pPr>
            <a:r>
              <a:rPr sz="950" b="0">
                <a:solidFill>
                  <a:srgbClr val="3D4A43"/>
                </a:solidFill>
                <a:latin typeface="Arial"/>
              </a:rPr>
              <a:t>Détection continue, notification coopérative</a:t>
            </a:r>
          </a:p>
        </p:txBody>
      </p:sp>
      <p:sp>
        <p:nvSpPr>
          <p:cNvPr id="16" name="Rounded Rectangle 15"/>
          <p:cNvSpPr/>
          <p:nvPr/>
        </p:nvSpPr>
        <p:spPr>
          <a:xfrm>
            <a:off x="566928" y="4617720"/>
            <a:ext cx="11064240" cy="1371600"/>
          </a:xfrm>
          <a:prstGeom prst="roundRect">
            <a:avLst>
              <a:gd name="adj" fmla="val 8500"/>
            </a:avLst>
          </a:prstGeom>
          <a:solidFill>
            <a:srgbClr val="FFFFFF"/>
          </a:solidFill>
          <a:ln w="15240">
            <a:solidFill>
              <a:srgbClr val="00A651"/>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914400" y="4828032"/>
            <a:ext cx="10332720" cy="411480"/>
          </a:xfrm>
          <a:prstGeom prst="rect">
            <a:avLst/>
          </a:prstGeom>
          <a:noFill/>
        </p:spPr>
        <p:txBody>
          <a:bodyPr wrap="square" anchor="t" lIns="0" rIns="0" tIns="0" bIns="0">
            <a:spAutoFit/>
          </a:bodyPr>
          <a:lstStyle/>
          <a:p>
            <a:pPr algn="l">
              <a:lnSpc>
                <a:spcPct val="100000"/>
              </a:lnSpc>
            </a:pPr>
            <a:r>
              <a:rPr sz="1500" b="1" i="0">
                <a:solidFill>
                  <a:srgbClr val="13251C"/>
                </a:solidFill>
                <a:latin typeface="Arial"/>
              </a:rPr>
              <a:t>Automatisé de bout en bout : </a:t>
            </a:r>
            <a:r>
              <a:rPr sz="1500" b="1" i="0">
                <a:solidFill>
                  <a:srgbClr val="007A3D"/>
                </a:solidFill>
                <a:latin typeface="Arial"/>
              </a:rPr>
              <a:t>quelques minutes au lieu de plusieurs semaines</a:t>
            </a:r>
            <a:r>
              <a:rPr sz="1500" b="1" i="0">
                <a:solidFill>
                  <a:srgbClr val="13251C"/>
                </a:solidFill>
                <a:latin typeface="Arial"/>
              </a:rPr>
              <a:t>.</a:t>
            </a:r>
          </a:p>
        </p:txBody>
      </p:sp>
      <p:sp>
        <p:nvSpPr>
          <p:cNvPr id="18" name="TextBox 17"/>
          <p:cNvSpPr txBox="1"/>
          <p:nvPr/>
        </p:nvSpPr>
        <p:spPr>
          <a:xfrm>
            <a:off x="914400" y="5321808"/>
            <a:ext cx="10332720" cy="365760"/>
          </a:xfrm>
          <a:prstGeom prst="rect">
            <a:avLst/>
          </a:prstGeom>
          <a:noFill/>
        </p:spPr>
        <p:txBody>
          <a:bodyPr wrap="square" anchor="t" lIns="0" rIns="0" tIns="0" bIns="0">
            <a:spAutoFit/>
          </a:bodyPr>
          <a:lstStyle/>
          <a:p>
            <a:pPr algn="l">
              <a:lnSpc>
                <a:spcPct val="100000"/>
              </a:lnSpc>
            </a:pPr>
            <a:r>
              <a:rPr sz="1100" b="0" i="0">
                <a:solidFill>
                  <a:srgbClr val="6B7A70"/>
                </a:solidFill>
                <a:latin typeface="Arial"/>
              </a:rPr>
              <a:t>Du relevé terrain au document exportable — sans étape manuelle, sans intermédiaire coûteux.</a:t>
            </a:r>
          </a:p>
        </p:txBody>
      </p:sp>
      <p:sp>
        <p:nvSpPr>
          <p:cNvPr id="19" name="Rectangle 18"/>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3" name="TextBox 22"/>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05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380"/>
                                        <p:tgtEl>
                                          <p:spTgt spid="22"/>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38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01 · APP MOBILE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L'app terrain — cartographier sans réseau</a:t>
            </a:r>
          </a:p>
        </p:txBody>
      </p:sp>
      <p:sp>
        <p:nvSpPr>
          <p:cNvPr id="4" name="Rounded Rectangle 3"/>
          <p:cNvSpPr/>
          <p:nvPr/>
        </p:nvSpPr>
        <p:spPr>
          <a:xfrm>
            <a:off x="777240" y="1536192"/>
            <a:ext cx="2560320" cy="4846320"/>
          </a:xfrm>
          <a:prstGeom prst="roundRect">
            <a:avLst>
              <a:gd name="adj" fmla="val 140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5" name="Picture 4" descr="map_satellite.png"/>
          <p:cNvPicPr>
            <a:picLocks noChangeAspect="1"/>
          </p:cNvPicPr>
          <p:nvPr/>
        </p:nvPicPr>
        <p:blipFill>
          <a:blip r:embed="rId2"/>
          <a:stretch>
            <a:fillRect/>
          </a:stretch>
        </p:blipFill>
        <p:spPr>
          <a:xfrm>
            <a:off x="877824" y="1810512"/>
            <a:ext cx="2359151" cy="1327022"/>
          </a:xfrm>
          <a:prstGeom prst="rect">
            <a:avLst/>
          </a:prstGeom>
          <a:effectLst>
            <a:outerShdw blurRad="27432" dist="9144" dir="5400000" rotWithShape="0">
              <a:srgbClr val="13251C">
                <a:alpha val="8000"/>
              </a:srgbClr>
            </a:outerShdw>
          </a:effectLst>
        </p:spPr>
      </p:pic>
      <p:sp>
        <p:nvSpPr>
          <p:cNvPr id="6" name="Oval 5"/>
          <p:cNvSpPr/>
          <p:nvPr/>
        </p:nvSpPr>
        <p:spPr>
          <a:xfrm>
            <a:off x="1591056" y="2468880"/>
            <a:ext cx="457200" cy="457200"/>
          </a:xfrm>
          <a:prstGeom prst="ellipse">
            <a:avLst/>
          </a:prstGeom>
          <a:noFill/>
          <a:ln w="2032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1755648" y="2633472"/>
            <a:ext cx="137160" cy="137160"/>
          </a:xfrm>
          <a:prstGeom prst="ellipse">
            <a:avLst/>
          </a:prstGeom>
          <a:solidFill>
            <a:srgbClr val="FF7A00"/>
          </a:solidFill>
          <a:ln w="152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2176272" y="2066543"/>
            <a:ext cx="658368" cy="457200"/>
          </a:xfrm>
          <a:prstGeom prst="rect">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987552" y="3465576"/>
            <a:ext cx="2176271" cy="274320"/>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Parcelle #0042</a:t>
            </a:r>
          </a:p>
        </p:txBody>
      </p:sp>
      <p:sp>
        <p:nvSpPr>
          <p:cNvPr id="10" name="TextBox 9"/>
          <p:cNvSpPr txBox="1"/>
          <p:nvPr/>
        </p:nvSpPr>
        <p:spPr>
          <a:xfrm>
            <a:off x="987552" y="3739896"/>
            <a:ext cx="2176271" cy="237744"/>
          </a:xfrm>
          <a:prstGeom prst="rect">
            <a:avLst/>
          </a:prstGeom>
          <a:noFill/>
        </p:spPr>
        <p:txBody>
          <a:bodyPr wrap="square" anchor="t" lIns="0" rIns="0" tIns="0" bIns="0">
            <a:spAutoFit/>
          </a:bodyPr>
          <a:lstStyle/>
          <a:p>
            <a:pPr algn="l">
              <a:lnSpc>
                <a:spcPct val="100000"/>
              </a:lnSpc>
            </a:pPr>
            <a:r>
              <a:rPr sz="850" b="0" i="0">
                <a:solidFill>
                  <a:srgbClr val="AEBBB2"/>
                </a:solidFill>
                <a:latin typeface="Arial"/>
              </a:rPr>
              <a:t>4,2 ha · relevé GPS terminé</a:t>
            </a:r>
          </a:p>
        </p:txBody>
      </p:sp>
      <p:sp>
        <p:nvSpPr>
          <p:cNvPr id="11" name="Rounded Rectangle 10"/>
          <p:cNvSpPr/>
          <p:nvPr/>
        </p:nvSpPr>
        <p:spPr>
          <a:xfrm>
            <a:off x="987552" y="4032504"/>
            <a:ext cx="1554480" cy="36576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007A3D"/>
                </a:solidFill>
                <a:latin typeface="Arial"/>
              </a:rPr>
              <a:t>Score 87 · Conforme</a:t>
            </a:r>
          </a:p>
        </p:txBody>
      </p:sp>
      <p:sp>
        <p:nvSpPr>
          <p:cNvPr id="12" name="Rounded Rectangle 11"/>
          <p:cNvSpPr/>
          <p:nvPr/>
        </p:nvSpPr>
        <p:spPr>
          <a:xfrm>
            <a:off x="987552" y="4507992"/>
            <a:ext cx="2139696" cy="384048"/>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FFFFFF"/>
                </a:solidFill>
                <a:latin typeface="Arial"/>
              </a:rPr>
              <a:t>Synchroniser le lot</a:t>
            </a:r>
          </a:p>
        </p:txBody>
      </p:sp>
      <p:sp>
        <p:nvSpPr>
          <p:cNvPr id="13" name="Rounded Rectangle 12"/>
          <p:cNvSpPr/>
          <p:nvPr/>
        </p:nvSpPr>
        <p:spPr>
          <a:xfrm>
            <a:off x="1828800" y="6254496"/>
            <a:ext cx="457200" cy="45720"/>
          </a:xfrm>
          <a:prstGeom prst="roundRect">
            <a:avLst>
              <a:gd name="adj" fmla="val 50000"/>
            </a:avLst>
          </a:prstGeom>
          <a:solidFill>
            <a:srgbClr val="3A4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ounded Rectangle 13"/>
          <p:cNvSpPr/>
          <p:nvPr/>
        </p:nvSpPr>
        <p:spPr>
          <a:xfrm>
            <a:off x="3794760" y="1627632"/>
            <a:ext cx="457200" cy="457200"/>
          </a:xfrm>
          <a:prstGeom prst="roundRect">
            <a:avLst>
              <a:gd name="adj" fmla="val 30000"/>
            </a:avLst>
          </a:prstGeom>
          <a:solidFill>
            <a:srgbClr val="FFFFFF"/>
          </a:solidFill>
          <a:ln w="17780">
            <a:solidFill>
              <a:srgbClr val="00A65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3895344" y="1728216"/>
            <a:ext cx="256032" cy="256032"/>
          </a:xfrm>
          <a:prstGeom prst="ellipse">
            <a:avLst/>
          </a:prstGeom>
          <a:noFill/>
          <a:ln w="20320">
            <a:solidFill>
              <a:srgbClr val="00A65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val 15"/>
          <p:cNvSpPr/>
          <p:nvPr/>
        </p:nvSpPr>
        <p:spPr>
          <a:xfrm>
            <a:off x="3982212" y="1815084"/>
            <a:ext cx="82296" cy="82296"/>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4453128" y="1645920"/>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Contour relevé en marchant, par sommets ou saisie manuelle</a:t>
            </a:r>
          </a:p>
        </p:txBody>
      </p:sp>
      <p:sp>
        <p:nvSpPr>
          <p:cNvPr id="18" name="Rounded Rectangle 17"/>
          <p:cNvSpPr/>
          <p:nvPr/>
        </p:nvSpPr>
        <p:spPr>
          <a:xfrm>
            <a:off x="3794760" y="2340864"/>
            <a:ext cx="457200" cy="457200"/>
          </a:xfrm>
          <a:prstGeom prst="roundRect">
            <a:avLst>
              <a:gd name="adj" fmla="val 30000"/>
            </a:avLst>
          </a:prstGeom>
          <a:solidFill>
            <a:srgbClr val="FFFFFF"/>
          </a:solidFill>
          <a:ln w="1778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Isosceles Triangle 18"/>
          <p:cNvSpPr/>
          <p:nvPr/>
        </p:nvSpPr>
        <p:spPr>
          <a:xfrm>
            <a:off x="3911437" y="2457541"/>
            <a:ext cx="223845" cy="204094"/>
          </a:xfrm>
          <a:prstGeom prst="triangl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TextBox 19"/>
          <p:cNvSpPr txBox="1"/>
          <p:nvPr/>
        </p:nvSpPr>
        <p:spPr>
          <a:xfrm>
            <a:off x="3957523" y="2529961"/>
            <a:ext cx="131673" cy="98755"/>
          </a:xfrm>
          <a:prstGeom prst="rect">
            <a:avLst/>
          </a:prstGeom>
          <a:noFill/>
        </p:spPr>
        <p:txBody>
          <a:bodyPr wrap="square" anchor="ctr" lIns="0" rIns="0" tIns="0" bIns="0">
            <a:spAutoFit/>
          </a:bodyPr>
          <a:lstStyle/>
          <a:p>
            <a:pPr algn="ctr">
              <a:lnSpc>
                <a:spcPct val="100000"/>
              </a:lnSpc>
            </a:pPr>
            <a:r>
              <a:rPr sz="576" b="1" i="0">
                <a:solidFill>
                  <a:srgbClr val="FFFFFF"/>
                </a:solidFill>
                <a:latin typeface="Arial"/>
              </a:rPr>
              <a:t>!</a:t>
            </a:r>
          </a:p>
        </p:txBody>
      </p:sp>
      <p:sp>
        <p:nvSpPr>
          <p:cNvPr id="21" name="TextBox 20"/>
          <p:cNvSpPr txBox="1"/>
          <p:nvPr/>
        </p:nvSpPr>
        <p:spPr>
          <a:xfrm>
            <a:off x="4453128" y="2359152"/>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Surface calculée en direct — alerte si aire protégée touchée</a:t>
            </a:r>
          </a:p>
        </p:txBody>
      </p:sp>
      <p:sp>
        <p:nvSpPr>
          <p:cNvPr id="22" name="Rounded Rectangle 21"/>
          <p:cNvSpPr/>
          <p:nvPr/>
        </p:nvSpPr>
        <p:spPr>
          <a:xfrm>
            <a:off x="3794760" y="3054096"/>
            <a:ext cx="457200" cy="457200"/>
          </a:xfrm>
          <a:prstGeom prst="roundRect">
            <a:avLst>
              <a:gd name="adj" fmla="val 30000"/>
            </a:avLst>
          </a:prstGeom>
          <a:solidFill>
            <a:srgbClr val="FFFFFF"/>
          </a:solidFill>
          <a:ln w="17780">
            <a:solidFill>
              <a:srgbClr val="007A3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Rectangle 22"/>
          <p:cNvSpPr/>
          <p:nvPr/>
        </p:nvSpPr>
        <p:spPr>
          <a:xfrm>
            <a:off x="3895344" y="3236976"/>
            <a:ext cx="256032" cy="91440"/>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Rectangle 23"/>
          <p:cNvSpPr/>
          <p:nvPr/>
        </p:nvSpPr>
        <p:spPr>
          <a:xfrm>
            <a:off x="4012387" y="3328415"/>
            <a:ext cx="21945"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Rectangle 24"/>
          <p:cNvSpPr/>
          <p:nvPr/>
        </p:nvSpPr>
        <p:spPr>
          <a:xfrm rot="2700000">
            <a:off x="3877056" y="3136391"/>
            <a:ext cx="27432" cy="310896"/>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TextBox 25"/>
          <p:cNvSpPr txBox="1"/>
          <p:nvPr/>
        </p:nvSpPr>
        <p:spPr>
          <a:xfrm>
            <a:off x="4453128" y="3072384"/>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100 % hors-ligne : tout est stocké en local (SQLite)</a:t>
            </a:r>
          </a:p>
        </p:txBody>
      </p:sp>
      <p:sp>
        <p:nvSpPr>
          <p:cNvPr id="27" name="Rounded Rectangle 26"/>
          <p:cNvSpPr/>
          <p:nvPr/>
        </p:nvSpPr>
        <p:spPr>
          <a:xfrm>
            <a:off x="3794760" y="3767328"/>
            <a:ext cx="457200" cy="457200"/>
          </a:xfrm>
          <a:prstGeom prst="roundRect">
            <a:avLst>
              <a:gd name="adj" fmla="val 30000"/>
            </a:avLst>
          </a:prstGeom>
          <a:solidFill>
            <a:srgbClr val="FFFFFF"/>
          </a:solidFill>
          <a:ln w="17780">
            <a:solidFill>
              <a:srgbClr val="D95E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Up Arrow 27"/>
          <p:cNvSpPr/>
          <p:nvPr/>
        </p:nvSpPr>
        <p:spPr>
          <a:xfrm>
            <a:off x="3950208" y="3867912"/>
            <a:ext cx="146304" cy="256032"/>
          </a:xfrm>
          <a:prstGeom prst="upArrow">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TextBox 28"/>
          <p:cNvSpPr txBox="1"/>
          <p:nvPr/>
        </p:nvSpPr>
        <p:spPr>
          <a:xfrm>
            <a:off x="4453128" y="3785615"/>
            <a:ext cx="7178040" cy="502920"/>
          </a:xfrm>
          <a:prstGeom prst="rect">
            <a:avLst/>
          </a:prstGeom>
          <a:noFill/>
        </p:spPr>
        <p:txBody>
          <a:bodyPr wrap="square" anchor="ctr" lIns="0" rIns="0" tIns="0" bIns="0">
            <a:spAutoFit/>
          </a:bodyPr>
          <a:lstStyle/>
          <a:p>
            <a:pPr algn="l">
              <a:lnSpc>
                <a:spcPct val="108000"/>
              </a:lnSpc>
            </a:pPr>
            <a:r>
              <a:rPr sz="1200" b="0" i="0">
                <a:solidFill>
                  <a:srgbClr val="13251C"/>
                </a:solidFill>
                <a:latin typeface="Arial"/>
              </a:rPr>
              <a:t>Sync en un lot idempotent dès que le réseau revient — zéro doublon</a:t>
            </a:r>
          </a:p>
        </p:txBody>
      </p:sp>
      <p:sp>
        <p:nvSpPr>
          <p:cNvPr id="30" name="TextBox 29"/>
          <p:cNvSpPr txBox="1"/>
          <p:nvPr/>
        </p:nvSpPr>
        <p:spPr>
          <a:xfrm>
            <a:off x="3794760" y="4617720"/>
            <a:ext cx="7772400" cy="274320"/>
          </a:xfrm>
          <a:prstGeom prst="rect">
            <a:avLst/>
          </a:prstGeom>
          <a:noFill/>
        </p:spPr>
        <p:txBody>
          <a:bodyPr wrap="square" anchor="t" lIns="0" rIns="0" tIns="0" bIns="0">
            <a:spAutoFit/>
          </a:bodyPr>
          <a:lstStyle/>
          <a:p>
            <a:pPr algn="l">
              <a:lnSpc>
                <a:spcPct val="100000"/>
              </a:lnSpc>
            </a:pPr>
            <a:r>
              <a:rPr sz="950" b="1" i="0" spc="120">
                <a:solidFill>
                  <a:srgbClr val="007A3D"/>
                </a:solidFill>
                <a:latin typeface="Arial"/>
              </a:rPr>
              <a:t>LE PARCOURS D'UNE DONNÉE TERRAIN</a:t>
            </a:r>
          </a:p>
        </p:txBody>
      </p:sp>
      <p:sp>
        <p:nvSpPr>
          <p:cNvPr id="31" name="Rounded Rectangle 30"/>
          <p:cNvSpPr/>
          <p:nvPr/>
        </p:nvSpPr>
        <p:spPr>
          <a:xfrm>
            <a:off x="3794760"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Terrain sans réseau</a:t>
            </a:r>
          </a:p>
        </p:txBody>
      </p:sp>
      <p:sp>
        <p:nvSpPr>
          <p:cNvPr id="32" name="Right Arrow 31"/>
          <p:cNvSpPr/>
          <p:nvPr/>
        </p:nvSpPr>
        <p:spPr>
          <a:xfrm>
            <a:off x="5564124"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ounded Rectangle 32"/>
          <p:cNvSpPr/>
          <p:nvPr/>
        </p:nvSpPr>
        <p:spPr>
          <a:xfrm>
            <a:off x="5879592"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SQLite locale</a:t>
            </a:r>
          </a:p>
        </p:txBody>
      </p:sp>
      <p:sp>
        <p:nvSpPr>
          <p:cNvPr id="34" name="Right Arrow 33"/>
          <p:cNvSpPr/>
          <p:nvPr/>
        </p:nvSpPr>
        <p:spPr>
          <a:xfrm>
            <a:off x="7648956"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Rounded Rectangle 34"/>
          <p:cNvSpPr/>
          <p:nvPr/>
        </p:nvSpPr>
        <p:spPr>
          <a:xfrm>
            <a:off x="7964424" y="4956048"/>
            <a:ext cx="175564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3D4A43"/>
                </a:solidFill>
                <a:latin typeface="Arial"/>
              </a:rPr>
              <a:t>Lot idempotent</a:t>
            </a:r>
          </a:p>
        </p:txBody>
      </p:sp>
      <p:sp>
        <p:nvSpPr>
          <p:cNvPr id="36" name="Right Arrow 35"/>
          <p:cNvSpPr/>
          <p:nvPr/>
        </p:nvSpPr>
        <p:spPr>
          <a:xfrm>
            <a:off x="9733788" y="5102352"/>
            <a:ext cx="192024" cy="164592"/>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7" name="Rounded Rectangle 36"/>
          <p:cNvSpPr/>
          <p:nvPr/>
        </p:nvSpPr>
        <p:spPr>
          <a:xfrm>
            <a:off x="10049256" y="4956048"/>
            <a:ext cx="1755648"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1">
                <a:solidFill>
                  <a:srgbClr val="007A3D"/>
                </a:solidFill>
                <a:latin typeface="Arial"/>
              </a:rPr>
              <a:t>API + PostGIS</a:t>
            </a:r>
          </a:p>
        </p:txBody>
      </p:sp>
      <p:sp>
        <p:nvSpPr>
          <p:cNvPr id="38" name="Rounded Rectangle 37"/>
          <p:cNvSpPr/>
          <p:nvPr/>
        </p:nvSpPr>
        <p:spPr>
          <a:xfrm>
            <a:off x="379476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3 modes de relevé</a:t>
            </a:r>
          </a:p>
        </p:txBody>
      </p:sp>
      <p:sp>
        <p:nvSpPr>
          <p:cNvPr id="39" name="Rounded Rectangle 38"/>
          <p:cNvSpPr/>
          <p:nvPr/>
        </p:nvSpPr>
        <p:spPr>
          <a:xfrm>
            <a:off x="649224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0 réseau requis</a:t>
            </a:r>
          </a:p>
        </p:txBody>
      </p:sp>
      <p:sp>
        <p:nvSpPr>
          <p:cNvPr id="40" name="Rounded Rectangle 39"/>
          <p:cNvSpPr/>
          <p:nvPr/>
        </p:nvSpPr>
        <p:spPr>
          <a:xfrm>
            <a:off x="9189720" y="5650992"/>
            <a:ext cx="2514600" cy="402336"/>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1 lot de sync</a:t>
            </a:r>
          </a:p>
        </p:txBody>
      </p:sp>
      <p:sp>
        <p:nvSpPr>
          <p:cNvPr id="41" name="Rectangle 40"/>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45" name="TextBox 44"/>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06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380"/>
                                        <p:tgtEl>
                                          <p:spTgt spid="35"/>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380"/>
                                        <p:tgtEl>
                                          <p:spTgt spid="36"/>
                                        </p:tgtEl>
                                      </p:cBhvr>
                                    </p:animEffect>
                                  </p:childTnLst>
                                </p:cTn>
                              </p:par>
                              <p:par>
                                <p:cTn id="110" presetID="10" presetClass="entr" presetSubtype="0" fill="hold" grpId="0" nodeType="afterEffect">
                                  <p:stCondLst>
                                    <p:cond delay="13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380"/>
                                        <p:tgtEl>
                                          <p:spTgt spid="37"/>
                                        </p:tgtEl>
                                      </p:cBhvr>
                                    </p:animEffect>
                                  </p:childTnLst>
                                </p:cTn>
                              </p:par>
                              <p:par>
                                <p:cTn id="113" presetID="10" presetClass="entr" presetSubtype="0" fill="hold" grpId="0" nodeType="afterEffect">
                                  <p:stCondLst>
                                    <p:cond delay="13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380"/>
                                        <p:tgtEl>
                                          <p:spTgt spid="38"/>
                                        </p:tgtEl>
                                      </p:cBhvr>
                                    </p:animEffect>
                                  </p:childTnLst>
                                </p:cTn>
                              </p:par>
                              <p:par>
                                <p:cTn id="116" presetID="10" presetClass="entr" presetSubtype="0" fill="hold" grpId="0" nodeType="afterEffect">
                                  <p:stCondLst>
                                    <p:cond delay="13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380"/>
                                        <p:tgtEl>
                                          <p:spTgt spid="39"/>
                                        </p:tgtEl>
                                      </p:cBhvr>
                                    </p:animEffect>
                                  </p:childTnLst>
                                </p:cTn>
                              </p:par>
                              <p:par>
                                <p:cTn id="119" presetID="10" presetClass="entr" presetSubtype="0" fill="hold" grpId="0" nodeType="afterEffect">
                                  <p:stCondLst>
                                    <p:cond delay="13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380"/>
                                        <p:tgtEl>
                                          <p:spTgt spid="40"/>
                                        </p:tgtEl>
                                      </p:cBhvr>
                                    </p:animEffect>
                                  </p:childTnLst>
                                </p:cTn>
                              </p:par>
                              <p:par>
                                <p:cTn id="122" presetID="10" presetClass="entr" presetSubtype="0" fill="hold" grpId="0" nodeType="afterEffect">
                                  <p:stCondLst>
                                    <p:cond delay="130"/>
                                  </p:stCondLst>
                                  <p:childTnLst>
                                    <p:set>
                                      <p:cBhvr>
                                        <p:cTn id="123" dur="1" fill="hold">
                                          <p:stCondLst>
                                            <p:cond delay="0"/>
                                          </p:stCondLst>
                                        </p:cTn>
                                        <p:tgtEl>
                                          <p:spTgt spid="44"/>
                                        </p:tgtEl>
                                        <p:attrNameLst>
                                          <p:attrName>style.visibility</p:attrName>
                                        </p:attrNameLst>
                                      </p:cBhvr>
                                      <p:to>
                                        <p:strVal val="visible"/>
                                      </p:to>
                                    </p:set>
                                    <p:animEffect transition="in" filter="fade">
                                      <p:cBhvr>
                                        <p:cTn id="124" dur="380"/>
                                        <p:tgtEl>
                                          <p:spTgt spid="44"/>
                                        </p:tgtEl>
                                      </p:cBhvr>
                                    </p:animEffect>
                                  </p:childTnLst>
                                </p:cTn>
                              </p:par>
                              <p:par>
                                <p:cTn id="125" presetID="10" presetClass="entr" presetSubtype="0" fill="hold" grpId="0" nodeType="afterEffect">
                                  <p:stCondLst>
                                    <p:cond delay="13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38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02 · BACKEND &amp; DONNÉES</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socle géospatial ouvert et interopérable</a:t>
            </a:r>
          </a:p>
        </p:txBody>
      </p:sp>
      <p:sp>
        <p:nvSpPr>
          <p:cNvPr id="4" name="TextBox 3"/>
          <p:cNvSpPr txBox="1"/>
          <p:nvPr/>
        </p:nvSpPr>
        <p:spPr>
          <a:xfrm>
            <a:off x="3218688" y="1481328"/>
            <a:ext cx="5486400" cy="256032"/>
          </a:xfrm>
          <a:prstGeom prst="rect">
            <a:avLst/>
          </a:prstGeom>
          <a:noFill/>
        </p:spPr>
        <p:txBody>
          <a:bodyPr wrap="square" anchor="t" lIns="0" rIns="0" tIns="0" bIns="0">
            <a:spAutoFit/>
          </a:bodyPr>
          <a:lstStyle/>
          <a:p>
            <a:pPr algn="ctr">
              <a:lnSpc>
                <a:spcPct val="100000"/>
              </a:lnSpc>
            </a:pPr>
            <a:r>
              <a:rPr sz="950" b="1" i="0" spc="120">
                <a:solidFill>
                  <a:srgbClr val="007A3D"/>
                </a:solidFill>
                <a:latin typeface="Arial"/>
              </a:rPr>
              <a:t>SOURCES SATELLITE PUBLIQUES</a:t>
            </a:r>
          </a:p>
        </p:txBody>
      </p:sp>
      <p:sp>
        <p:nvSpPr>
          <p:cNvPr id="5" name="Rounded Rectangle 4"/>
          <p:cNvSpPr/>
          <p:nvPr/>
        </p:nvSpPr>
        <p:spPr>
          <a:xfrm>
            <a:off x="2532888"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Sentinel-2 (Copernicus)</a:t>
            </a:r>
          </a:p>
        </p:txBody>
      </p:sp>
      <p:sp>
        <p:nvSpPr>
          <p:cNvPr id="6" name="Down Arrow 5"/>
          <p:cNvSpPr/>
          <p:nvPr/>
        </p:nvSpPr>
        <p:spPr>
          <a:xfrm>
            <a:off x="3566160"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ounded Rectangle 6"/>
          <p:cNvSpPr/>
          <p:nvPr/>
        </p:nvSpPr>
        <p:spPr>
          <a:xfrm>
            <a:off x="4855464"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Hansen / Global Forest Watch</a:t>
            </a:r>
          </a:p>
        </p:txBody>
      </p:sp>
      <p:sp>
        <p:nvSpPr>
          <p:cNvPr id="8" name="Down Arrow 7"/>
          <p:cNvSpPr/>
          <p:nvPr/>
        </p:nvSpPr>
        <p:spPr>
          <a:xfrm>
            <a:off x="5888736"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7178040" y="1783080"/>
            <a:ext cx="2212848" cy="420624"/>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D95E00"/>
                </a:solidFill>
                <a:latin typeface="Arial"/>
              </a:rPr>
              <a:t>Digital Earth Africa</a:t>
            </a:r>
          </a:p>
        </p:txBody>
      </p:sp>
      <p:sp>
        <p:nvSpPr>
          <p:cNvPr id="10" name="Down Arrow 9"/>
          <p:cNvSpPr/>
          <p:nvPr/>
        </p:nvSpPr>
        <p:spPr>
          <a:xfrm>
            <a:off x="8211311" y="2249424"/>
            <a:ext cx="146304" cy="256032"/>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Rounded Rectangle 10"/>
          <p:cNvSpPr/>
          <p:nvPr/>
        </p:nvSpPr>
        <p:spPr>
          <a:xfrm>
            <a:off x="566928" y="2788920"/>
            <a:ext cx="2286000" cy="128016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TextBox 11"/>
          <p:cNvSpPr txBox="1"/>
          <p:nvPr/>
        </p:nvSpPr>
        <p:spPr>
          <a:xfrm>
            <a:off x="749808" y="2953512"/>
            <a:ext cx="1920240" cy="292608"/>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App mobile</a:t>
            </a:r>
          </a:p>
        </p:txBody>
      </p:sp>
      <p:sp>
        <p:nvSpPr>
          <p:cNvPr id="13" name="TextBox 12"/>
          <p:cNvSpPr txBox="1"/>
          <p:nvPr/>
        </p:nvSpPr>
        <p:spPr>
          <a:xfrm>
            <a:off x="749808" y="3264408"/>
            <a:ext cx="1920240" cy="685800"/>
          </a:xfrm>
          <a:prstGeom prst="rect">
            <a:avLst/>
          </a:prstGeom>
          <a:noFill/>
        </p:spPr>
        <p:txBody>
          <a:bodyPr wrap="square" anchor="t" lIns="0" rIns="0" tIns="0" bIns="0">
            <a:spAutoFit/>
          </a:bodyPr>
          <a:lstStyle/>
          <a:p>
            <a:pPr algn="l">
              <a:lnSpc>
                <a:spcPct val="110000"/>
              </a:lnSpc>
            </a:pPr>
            <a:r>
              <a:rPr sz="900" b="0" i="0">
                <a:solidFill>
                  <a:srgbClr val="3D4A43"/>
                </a:solidFill>
                <a:latin typeface="Arial"/>
              </a:rPr>
              <a:t>relevés GPS hors-ligne, sync par lot</a:t>
            </a:r>
          </a:p>
        </p:txBody>
      </p:sp>
      <p:sp>
        <p:nvSpPr>
          <p:cNvPr id="14" name="Right Arrow 13"/>
          <p:cNvSpPr/>
          <p:nvPr/>
        </p:nvSpPr>
        <p:spPr>
          <a:xfrm>
            <a:off x="2926080" y="3246120"/>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Rounded Rectangle 14"/>
          <p:cNvSpPr/>
          <p:nvPr/>
        </p:nvSpPr>
        <p:spPr>
          <a:xfrm>
            <a:off x="566928" y="4270248"/>
            <a:ext cx="2286000" cy="128016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TextBox 15"/>
          <p:cNvSpPr txBox="1"/>
          <p:nvPr/>
        </p:nvSpPr>
        <p:spPr>
          <a:xfrm>
            <a:off x="749808" y="4434840"/>
            <a:ext cx="1920240" cy="292608"/>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Dashboard web</a:t>
            </a:r>
          </a:p>
        </p:txBody>
      </p:sp>
      <p:sp>
        <p:nvSpPr>
          <p:cNvPr id="17" name="TextBox 16"/>
          <p:cNvSpPr txBox="1"/>
          <p:nvPr/>
        </p:nvSpPr>
        <p:spPr>
          <a:xfrm>
            <a:off x="749808" y="4745736"/>
            <a:ext cx="1920240" cy="685800"/>
          </a:xfrm>
          <a:prstGeom prst="rect">
            <a:avLst/>
          </a:prstGeom>
          <a:noFill/>
        </p:spPr>
        <p:txBody>
          <a:bodyPr wrap="square" anchor="t" lIns="0" rIns="0" tIns="0" bIns="0">
            <a:spAutoFit/>
          </a:bodyPr>
          <a:lstStyle/>
          <a:p>
            <a:pPr algn="l">
              <a:lnSpc>
                <a:spcPct val="110000"/>
              </a:lnSpc>
            </a:pPr>
            <a:r>
              <a:rPr sz="900" b="0" i="0">
                <a:solidFill>
                  <a:srgbClr val="3D4A43"/>
                </a:solidFill>
                <a:latin typeface="Arial"/>
              </a:rPr>
              <a:t>consultation, KPIs, rapports</a:t>
            </a:r>
          </a:p>
        </p:txBody>
      </p:sp>
      <p:sp>
        <p:nvSpPr>
          <p:cNvPr id="18" name="Right Arrow 17"/>
          <p:cNvSpPr/>
          <p:nvPr/>
        </p:nvSpPr>
        <p:spPr>
          <a:xfrm>
            <a:off x="2926080" y="4727448"/>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Rounded Rectangle 18"/>
          <p:cNvSpPr/>
          <p:nvPr/>
        </p:nvSpPr>
        <p:spPr>
          <a:xfrm>
            <a:off x="3218688" y="2724912"/>
            <a:ext cx="5486400" cy="3017520"/>
          </a:xfrm>
          <a:prstGeom prst="roundRect">
            <a:avLst>
              <a:gd name="adj" fmla="val 5000"/>
            </a:avLst>
          </a:prstGeom>
          <a:solidFill>
            <a:srgbClr val="FFFFFF"/>
          </a:solidFill>
          <a:ln w="19050">
            <a:solidFill>
              <a:srgbClr val="00A651"/>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ounded Rectangle 19"/>
          <p:cNvSpPr/>
          <p:nvPr/>
        </p:nvSpPr>
        <p:spPr>
          <a:xfrm>
            <a:off x="3346704" y="2834640"/>
            <a:ext cx="5230368" cy="402336"/>
          </a:xfrm>
          <a:prstGeom prst="roundRect">
            <a:avLst>
              <a:gd name="adj" fmla="val 16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50" b="1">
                <a:solidFill>
                  <a:srgbClr val="007A3D"/>
                </a:solidFill>
                <a:latin typeface="Arial"/>
              </a:rPr>
              <a:t>API Flask + PostGIS — le socle CacaoSat</a:t>
            </a:r>
          </a:p>
        </p:txBody>
      </p:sp>
      <p:sp>
        <p:nvSpPr>
          <p:cNvPr id="21" name="Rounded Rectangle 20"/>
          <p:cNvSpPr/>
          <p:nvPr/>
        </p:nvSpPr>
        <p:spPr>
          <a:xfrm>
            <a:off x="3346704" y="3346704"/>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3493008" y="3456432"/>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Moteur satellite</a:t>
            </a:r>
          </a:p>
        </p:txBody>
      </p:sp>
      <p:sp>
        <p:nvSpPr>
          <p:cNvPr id="23" name="TextBox 22"/>
          <p:cNvSpPr txBox="1"/>
          <p:nvPr/>
        </p:nvSpPr>
        <p:spPr>
          <a:xfrm>
            <a:off x="3493008" y="3749040"/>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analyse Sentinel-2 / Hansen / DEA</a:t>
            </a:r>
          </a:p>
        </p:txBody>
      </p:sp>
      <p:sp>
        <p:nvSpPr>
          <p:cNvPr id="24" name="Rounded Rectangle 23"/>
          <p:cNvSpPr/>
          <p:nvPr/>
        </p:nvSpPr>
        <p:spPr>
          <a:xfrm>
            <a:off x="6016752" y="3346704"/>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6163056" y="3456432"/>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Scoring EUDR</a:t>
            </a:r>
          </a:p>
        </p:txBody>
      </p:sp>
      <p:sp>
        <p:nvSpPr>
          <p:cNvPr id="26" name="TextBox 25"/>
          <p:cNvSpPr txBox="1"/>
          <p:nvPr/>
        </p:nvSpPr>
        <p:spPr>
          <a:xfrm>
            <a:off x="6163056" y="3749040"/>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5 facteurs pondérés, score /100</a:t>
            </a:r>
          </a:p>
        </p:txBody>
      </p:sp>
      <p:sp>
        <p:nvSpPr>
          <p:cNvPr id="27" name="Rounded Rectangle 26"/>
          <p:cNvSpPr/>
          <p:nvPr/>
        </p:nvSpPr>
        <p:spPr>
          <a:xfrm>
            <a:off x="3346704" y="4480560"/>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TextBox 27"/>
          <p:cNvSpPr txBox="1"/>
          <p:nvPr/>
        </p:nvSpPr>
        <p:spPr>
          <a:xfrm>
            <a:off x="3493008" y="4590288"/>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Rapports</a:t>
            </a:r>
          </a:p>
        </p:txBody>
      </p:sp>
      <p:sp>
        <p:nvSpPr>
          <p:cNvPr id="29" name="TextBox 28"/>
          <p:cNvSpPr txBox="1"/>
          <p:nvPr/>
        </p:nvSpPr>
        <p:spPr>
          <a:xfrm>
            <a:off x="3493008" y="4882896"/>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PDF + GeoJSON + empreinte SHA-256</a:t>
            </a:r>
          </a:p>
        </p:txBody>
      </p:sp>
      <p:sp>
        <p:nvSpPr>
          <p:cNvPr id="30" name="Rounded Rectangle 29"/>
          <p:cNvSpPr/>
          <p:nvPr/>
        </p:nvSpPr>
        <p:spPr>
          <a:xfrm>
            <a:off x="6016752" y="4480560"/>
            <a:ext cx="2560320" cy="1024128"/>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TextBox 30"/>
          <p:cNvSpPr txBox="1"/>
          <p:nvPr/>
        </p:nvSpPr>
        <p:spPr>
          <a:xfrm>
            <a:off x="6163056" y="4590288"/>
            <a:ext cx="228600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Alertes</a:t>
            </a:r>
          </a:p>
        </p:txBody>
      </p:sp>
      <p:sp>
        <p:nvSpPr>
          <p:cNvPr id="32" name="TextBox 31"/>
          <p:cNvSpPr txBox="1"/>
          <p:nvPr/>
        </p:nvSpPr>
        <p:spPr>
          <a:xfrm>
            <a:off x="6163056" y="4882896"/>
            <a:ext cx="2286000" cy="548640"/>
          </a:xfrm>
          <a:prstGeom prst="rect">
            <a:avLst/>
          </a:prstGeom>
          <a:noFill/>
        </p:spPr>
        <p:txBody>
          <a:bodyPr wrap="square" anchor="t" lIns="0" rIns="0" tIns="0" bIns="0">
            <a:spAutoFit/>
          </a:bodyPr>
          <a:lstStyle/>
          <a:p>
            <a:pPr algn="l">
              <a:lnSpc>
                <a:spcPct val="108000"/>
              </a:lnSpc>
            </a:pPr>
            <a:r>
              <a:rPr sz="850" b="0" i="0">
                <a:solidFill>
                  <a:srgbClr val="3D4A43"/>
                </a:solidFill>
                <a:latin typeface="Arial"/>
              </a:rPr>
              <a:t>détection continue, notifications</a:t>
            </a:r>
          </a:p>
        </p:txBody>
      </p:sp>
      <p:sp>
        <p:nvSpPr>
          <p:cNvPr id="33" name="Right Arrow 32"/>
          <p:cNvSpPr/>
          <p:nvPr/>
        </p:nvSpPr>
        <p:spPr>
          <a:xfrm>
            <a:off x="8778240" y="3044952"/>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ounded Rectangle 33"/>
          <p:cNvSpPr/>
          <p:nvPr/>
        </p:nvSpPr>
        <p:spPr>
          <a:xfrm>
            <a:off x="9089136" y="2788920"/>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TextBox 34"/>
          <p:cNvSpPr txBox="1"/>
          <p:nvPr/>
        </p:nvSpPr>
        <p:spPr>
          <a:xfrm>
            <a:off x="9272016" y="2880360"/>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Certificat</a:t>
            </a:r>
          </a:p>
        </p:txBody>
      </p:sp>
      <p:sp>
        <p:nvSpPr>
          <p:cNvPr id="36" name="TextBox 35"/>
          <p:cNvSpPr txBox="1"/>
          <p:nvPr/>
        </p:nvSpPr>
        <p:spPr>
          <a:xfrm>
            <a:off x="9272016" y="3154679"/>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PDF + GeoJSON exportables</a:t>
            </a:r>
          </a:p>
        </p:txBody>
      </p:sp>
      <p:sp>
        <p:nvSpPr>
          <p:cNvPr id="37" name="Right Arrow 36"/>
          <p:cNvSpPr/>
          <p:nvPr/>
        </p:nvSpPr>
        <p:spPr>
          <a:xfrm>
            <a:off x="8778240" y="4069080"/>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8" name="Rounded Rectangle 37"/>
          <p:cNvSpPr/>
          <p:nvPr/>
        </p:nvSpPr>
        <p:spPr>
          <a:xfrm>
            <a:off x="9089136" y="3813048"/>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9" name="TextBox 38"/>
          <p:cNvSpPr txBox="1"/>
          <p:nvPr/>
        </p:nvSpPr>
        <p:spPr>
          <a:xfrm>
            <a:off x="9272016" y="3904487"/>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Tableaux de bord</a:t>
            </a:r>
          </a:p>
        </p:txBody>
      </p:sp>
      <p:sp>
        <p:nvSpPr>
          <p:cNvPr id="40" name="TextBox 39"/>
          <p:cNvSpPr txBox="1"/>
          <p:nvPr/>
        </p:nvSpPr>
        <p:spPr>
          <a:xfrm>
            <a:off x="9272016" y="4178808"/>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KPIs conformité en direct</a:t>
            </a:r>
          </a:p>
        </p:txBody>
      </p:sp>
      <p:sp>
        <p:nvSpPr>
          <p:cNvPr id="41" name="Right Arrow 40"/>
          <p:cNvSpPr/>
          <p:nvPr/>
        </p:nvSpPr>
        <p:spPr>
          <a:xfrm>
            <a:off x="8778240" y="5093208"/>
            <a:ext cx="237744" cy="329184"/>
          </a:xfrm>
          <a:prstGeom prst="right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2" name="Rounded Rectangle 41"/>
          <p:cNvSpPr/>
          <p:nvPr/>
        </p:nvSpPr>
        <p:spPr>
          <a:xfrm>
            <a:off x="9089136" y="4837176"/>
            <a:ext cx="2542032"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3" name="TextBox 42"/>
          <p:cNvSpPr txBox="1"/>
          <p:nvPr/>
        </p:nvSpPr>
        <p:spPr>
          <a:xfrm>
            <a:off x="9272016" y="4928616"/>
            <a:ext cx="2194560" cy="274320"/>
          </a:xfrm>
          <a:prstGeom prst="rect">
            <a:avLst/>
          </a:prstGeom>
          <a:noFill/>
        </p:spPr>
        <p:txBody>
          <a:bodyPr wrap="square" anchor="t" lIns="0" rIns="0" tIns="0" bIns="0">
            <a:spAutoFit/>
          </a:bodyPr>
          <a:lstStyle/>
          <a:p>
            <a:pPr algn="l">
              <a:lnSpc>
                <a:spcPct val="100000"/>
              </a:lnSpc>
            </a:pPr>
            <a:r>
              <a:rPr sz="1100" b="1" i="0">
                <a:solidFill>
                  <a:srgbClr val="13251C"/>
                </a:solidFill>
                <a:latin typeface="Arial"/>
              </a:rPr>
              <a:t>Alertes précoces</a:t>
            </a:r>
          </a:p>
        </p:txBody>
      </p:sp>
      <p:sp>
        <p:nvSpPr>
          <p:cNvPr id="44" name="TextBox 43"/>
          <p:cNvSpPr txBox="1"/>
          <p:nvPr/>
        </p:nvSpPr>
        <p:spPr>
          <a:xfrm>
            <a:off x="9272016" y="5202936"/>
            <a:ext cx="2194560" cy="457200"/>
          </a:xfrm>
          <a:prstGeom prst="rect">
            <a:avLst/>
          </a:prstGeom>
          <a:noFill/>
        </p:spPr>
        <p:txBody>
          <a:bodyPr wrap="square" anchor="t" lIns="0" rIns="0" tIns="0" bIns="0">
            <a:spAutoFit/>
          </a:bodyPr>
          <a:lstStyle/>
          <a:p>
            <a:pPr algn="l">
              <a:lnSpc>
                <a:spcPct val="105000"/>
              </a:lnSpc>
            </a:pPr>
            <a:r>
              <a:rPr sz="850" b="0" i="0">
                <a:solidFill>
                  <a:srgbClr val="3D4A43"/>
                </a:solidFill>
                <a:latin typeface="Arial"/>
              </a:rPr>
              <a:t>SMS / e-mail, acquittement</a:t>
            </a:r>
          </a:p>
        </p:txBody>
      </p:sp>
      <p:sp>
        <p:nvSpPr>
          <p:cNvPr id="45" name="Rounded Rectangle 44"/>
          <p:cNvSpPr/>
          <p:nvPr/>
        </p:nvSpPr>
        <p:spPr>
          <a:xfrm>
            <a:off x="630936"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34 routes API</a:t>
            </a:r>
          </a:p>
        </p:txBody>
      </p:sp>
      <p:sp>
        <p:nvSpPr>
          <p:cNvPr id="46" name="Rounded Rectangle 45"/>
          <p:cNvSpPr/>
          <p:nvPr/>
        </p:nvSpPr>
        <p:spPr>
          <a:xfrm>
            <a:off x="2843784"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JWT + audit</a:t>
            </a:r>
          </a:p>
        </p:txBody>
      </p:sp>
      <p:sp>
        <p:nvSpPr>
          <p:cNvPr id="47" name="Rounded Rectangle 46"/>
          <p:cNvSpPr/>
          <p:nvPr/>
        </p:nvSpPr>
        <p:spPr>
          <a:xfrm>
            <a:off x="5056632"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PostGIS</a:t>
            </a:r>
          </a:p>
        </p:txBody>
      </p:sp>
      <p:sp>
        <p:nvSpPr>
          <p:cNvPr id="48" name="Rounded Rectangle 47"/>
          <p:cNvSpPr/>
          <p:nvPr/>
        </p:nvSpPr>
        <p:spPr>
          <a:xfrm>
            <a:off x="7269480"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100 % open source</a:t>
            </a:r>
          </a:p>
        </p:txBody>
      </p:sp>
      <p:sp>
        <p:nvSpPr>
          <p:cNvPr id="49" name="Rounded Rectangle 48"/>
          <p:cNvSpPr/>
          <p:nvPr/>
        </p:nvSpPr>
        <p:spPr>
          <a:xfrm>
            <a:off x="9482328" y="5943600"/>
            <a:ext cx="2084831" cy="384048"/>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50" b="0">
                <a:solidFill>
                  <a:srgbClr val="3D4A43"/>
                </a:solidFill>
                <a:latin typeface="Arial"/>
              </a:rPr>
              <a:t>Mock déterministe</a:t>
            </a:r>
          </a:p>
        </p:txBody>
      </p:sp>
      <p:sp>
        <p:nvSpPr>
          <p:cNvPr id="50" name="Rectangle 4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54" name="TextBox 5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07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380"/>
                                        <p:tgtEl>
                                          <p:spTgt spid="35"/>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380"/>
                                        <p:tgtEl>
                                          <p:spTgt spid="36"/>
                                        </p:tgtEl>
                                      </p:cBhvr>
                                    </p:animEffect>
                                  </p:childTnLst>
                                </p:cTn>
                              </p:par>
                              <p:par>
                                <p:cTn id="110" presetID="10" presetClass="entr" presetSubtype="0" fill="hold" grpId="0" nodeType="afterEffect">
                                  <p:stCondLst>
                                    <p:cond delay="13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380"/>
                                        <p:tgtEl>
                                          <p:spTgt spid="37"/>
                                        </p:tgtEl>
                                      </p:cBhvr>
                                    </p:animEffect>
                                  </p:childTnLst>
                                </p:cTn>
                              </p:par>
                              <p:par>
                                <p:cTn id="113" presetID="10" presetClass="entr" presetSubtype="0" fill="hold" grpId="0" nodeType="afterEffect">
                                  <p:stCondLst>
                                    <p:cond delay="13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380"/>
                                        <p:tgtEl>
                                          <p:spTgt spid="38"/>
                                        </p:tgtEl>
                                      </p:cBhvr>
                                    </p:animEffect>
                                  </p:childTnLst>
                                </p:cTn>
                              </p:par>
                              <p:par>
                                <p:cTn id="116" presetID="10" presetClass="entr" presetSubtype="0" fill="hold" grpId="0" nodeType="afterEffect">
                                  <p:stCondLst>
                                    <p:cond delay="13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380"/>
                                        <p:tgtEl>
                                          <p:spTgt spid="39"/>
                                        </p:tgtEl>
                                      </p:cBhvr>
                                    </p:animEffect>
                                  </p:childTnLst>
                                </p:cTn>
                              </p:par>
                              <p:par>
                                <p:cTn id="119" presetID="10" presetClass="entr" presetSubtype="0" fill="hold" grpId="0" nodeType="afterEffect">
                                  <p:stCondLst>
                                    <p:cond delay="13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380"/>
                                        <p:tgtEl>
                                          <p:spTgt spid="40"/>
                                        </p:tgtEl>
                                      </p:cBhvr>
                                    </p:animEffect>
                                  </p:childTnLst>
                                </p:cTn>
                              </p:par>
                              <p:par>
                                <p:cTn id="122" presetID="10" presetClass="entr" presetSubtype="0" fill="hold" grpId="0" nodeType="afterEffect">
                                  <p:stCondLst>
                                    <p:cond delay="130"/>
                                  </p:stCondLst>
                                  <p:childTnLst>
                                    <p:set>
                                      <p:cBhvr>
                                        <p:cTn id="123" dur="1" fill="hold">
                                          <p:stCondLst>
                                            <p:cond delay="0"/>
                                          </p:stCondLst>
                                        </p:cTn>
                                        <p:tgtEl>
                                          <p:spTgt spid="41"/>
                                        </p:tgtEl>
                                        <p:attrNameLst>
                                          <p:attrName>style.visibility</p:attrName>
                                        </p:attrNameLst>
                                      </p:cBhvr>
                                      <p:to>
                                        <p:strVal val="visible"/>
                                      </p:to>
                                    </p:set>
                                    <p:animEffect transition="in" filter="fade">
                                      <p:cBhvr>
                                        <p:cTn id="124" dur="380"/>
                                        <p:tgtEl>
                                          <p:spTgt spid="41"/>
                                        </p:tgtEl>
                                      </p:cBhvr>
                                    </p:animEffect>
                                  </p:childTnLst>
                                </p:cTn>
                              </p:par>
                              <p:par>
                                <p:cTn id="125" presetID="10" presetClass="entr" presetSubtype="0" fill="hold" grpId="0" nodeType="afterEffect">
                                  <p:stCondLst>
                                    <p:cond delay="130"/>
                                  </p:stCondLst>
                                  <p:childTnLst>
                                    <p:set>
                                      <p:cBhvr>
                                        <p:cTn id="126" dur="1" fill="hold">
                                          <p:stCondLst>
                                            <p:cond delay="0"/>
                                          </p:stCondLst>
                                        </p:cTn>
                                        <p:tgtEl>
                                          <p:spTgt spid="42"/>
                                        </p:tgtEl>
                                        <p:attrNameLst>
                                          <p:attrName>style.visibility</p:attrName>
                                        </p:attrNameLst>
                                      </p:cBhvr>
                                      <p:to>
                                        <p:strVal val="visible"/>
                                      </p:to>
                                    </p:set>
                                    <p:animEffect transition="in" filter="fade">
                                      <p:cBhvr>
                                        <p:cTn id="127" dur="380"/>
                                        <p:tgtEl>
                                          <p:spTgt spid="42"/>
                                        </p:tgtEl>
                                      </p:cBhvr>
                                    </p:animEffect>
                                  </p:childTnLst>
                                </p:cTn>
                              </p:par>
                              <p:par>
                                <p:cTn id="128" presetID="10" presetClass="entr" presetSubtype="0" fill="hold" grpId="0" nodeType="afterEffect">
                                  <p:stCondLst>
                                    <p:cond delay="13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380"/>
                                        <p:tgtEl>
                                          <p:spTgt spid="43"/>
                                        </p:tgtEl>
                                      </p:cBhvr>
                                    </p:animEffect>
                                  </p:childTnLst>
                                </p:cTn>
                              </p:par>
                              <p:par>
                                <p:cTn id="131" presetID="10" presetClass="entr" presetSubtype="0" fill="hold" grpId="0" nodeType="afterEffect">
                                  <p:stCondLst>
                                    <p:cond delay="130"/>
                                  </p:stCondLst>
                                  <p:childTnLst>
                                    <p:set>
                                      <p:cBhvr>
                                        <p:cTn id="132" dur="1" fill="hold">
                                          <p:stCondLst>
                                            <p:cond delay="0"/>
                                          </p:stCondLst>
                                        </p:cTn>
                                        <p:tgtEl>
                                          <p:spTgt spid="44"/>
                                        </p:tgtEl>
                                        <p:attrNameLst>
                                          <p:attrName>style.visibility</p:attrName>
                                        </p:attrNameLst>
                                      </p:cBhvr>
                                      <p:to>
                                        <p:strVal val="visible"/>
                                      </p:to>
                                    </p:set>
                                    <p:animEffect transition="in" filter="fade">
                                      <p:cBhvr>
                                        <p:cTn id="133" dur="380"/>
                                        <p:tgtEl>
                                          <p:spTgt spid="44"/>
                                        </p:tgtEl>
                                      </p:cBhvr>
                                    </p:animEffect>
                                  </p:childTnLst>
                                </p:cTn>
                              </p:par>
                              <p:par>
                                <p:cTn id="134" presetID="10" presetClass="entr" presetSubtype="0" fill="hold" grpId="0" nodeType="afterEffect">
                                  <p:stCondLst>
                                    <p:cond delay="130"/>
                                  </p:stCondLst>
                                  <p:childTnLst>
                                    <p:set>
                                      <p:cBhvr>
                                        <p:cTn id="135" dur="1" fill="hold">
                                          <p:stCondLst>
                                            <p:cond delay="0"/>
                                          </p:stCondLst>
                                        </p:cTn>
                                        <p:tgtEl>
                                          <p:spTgt spid="45"/>
                                        </p:tgtEl>
                                        <p:attrNameLst>
                                          <p:attrName>style.visibility</p:attrName>
                                        </p:attrNameLst>
                                      </p:cBhvr>
                                      <p:to>
                                        <p:strVal val="visible"/>
                                      </p:to>
                                    </p:set>
                                    <p:animEffect transition="in" filter="fade">
                                      <p:cBhvr>
                                        <p:cTn id="136" dur="380"/>
                                        <p:tgtEl>
                                          <p:spTgt spid="45"/>
                                        </p:tgtEl>
                                      </p:cBhvr>
                                    </p:animEffect>
                                  </p:childTnLst>
                                </p:cTn>
                              </p:par>
                              <p:par>
                                <p:cTn id="137" presetID="10" presetClass="entr" presetSubtype="0" fill="hold" grpId="0" nodeType="afterEffect">
                                  <p:stCondLst>
                                    <p:cond delay="13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380"/>
                                        <p:tgtEl>
                                          <p:spTgt spid="46"/>
                                        </p:tgtEl>
                                      </p:cBhvr>
                                    </p:animEffect>
                                  </p:childTnLst>
                                </p:cTn>
                              </p:par>
                              <p:par>
                                <p:cTn id="140" presetID="10" presetClass="entr" presetSubtype="0" fill="hold" grpId="0" nodeType="afterEffect">
                                  <p:stCondLst>
                                    <p:cond delay="130"/>
                                  </p:stCondLst>
                                  <p:childTnLst>
                                    <p:set>
                                      <p:cBhvr>
                                        <p:cTn id="141" dur="1" fill="hold">
                                          <p:stCondLst>
                                            <p:cond delay="0"/>
                                          </p:stCondLst>
                                        </p:cTn>
                                        <p:tgtEl>
                                          <p:spTgt spid="47"/>
                                        </p:tgtEl>
                                        <p:attrNameLst>
                                          <p:attrName>style.visibility</p:attrName>
                                        </p:attrNameLst>
                                      </p:cBhvr>
                                      <p:to>
                                        <p:strVal val="visible"/>
                                      </p:to>
                                    </p:set>
                                    <p:animEffect transition="in" filter="fade">
                                      <p:cBhvr>
                                        <p:cTn id="142" dur="380"/>
                                        <p:tgtEl>
                                          <p:spTgt spid="47"/>
                                        </p:tgtEl>
                                      </p:cBhvr>
                                    </p:animEffect>
                                  </p:childTnLst>
                                </p:cTn>
                              </p:par>
                              <p:par>
                                <p:cTn id="143" presetID="10" presetClass="entr" presetSubtype="0" fill="hold" grpId="0" nodeType="afterEffect">
                                  <p:stCondLst>
                                    <p:cond delay="130"/>
                                  </p:stCondLst>
                                  <p:childTnLst>
                                    <p:set>
                                      <p:cBhvr>
                                        <p:cTn id="144" dur="1" fill="hold">
                                          <p:stCondLst>
                                            <p:cond delay="0"/>
                                          </p:stCondLst>
                                        </p:cTn>
                                        <p:tgtEl>
                                          <p:spTgt spid="48"/>
                                        </p:tgtEl>
                                        <p:attrNameLst>
                                          <p:attrName>style.visibility</p:attrName>
                                        </p:attrNameLst>
                                      </p:cBhvr>
                                      <p:to>
                                        <p:strVal val="visible"/>
                                      </p:to>
                                    </p:set>
                                    <p:animEffect transition="in" filter="fade">
                                      <p:cBhvr>
                                        <p:cTn id="145" dur="380"/>
                                        <p:tgtEl>
                                          <p:spTgt spid="48"/>
                                        </p:tgtEl>
                                      </p:cBhvr>
                                    </p:animEffect>
                                  </p:childTnLst>
                                </p:cTn>
                              </p:par>
                              <p:par>
                                <p:cTn id="146" presetID="10" presetClass="entr" presetSubtype="0" fill="hold" grpId="0" nodeType="afterEffect">
                                  <p:stCondLst>
                                    <p:cond delay="130"/>
                                  </p:stCondLst>
                                  <p:childTnLst>
                                    <p:set>
                                      <p:cBhvr>
                                        <p:cTn id="147" dur="1" fill="hold">
                                          <p:stCondLst>
                                            <p:cond delay="0"/>
                                          </p:stCondLst>
                                        </p:cTn>
                                        <p:tgtEl>
                                          <p:spTgt spid="49"/>
                                        </p:tgtEl>
                                        <p:attrNameLst>
                                          <p:attrName>style.visibility</p:attrName>
                                        </p:attrNameLst>
                                      </p:cBhvr>
                                      <p:to>
                                        <p:strVal val="visible"/>
                                      </p:to>
                                    </p:set>
                                    <p:animEffect transition="in" filter="fade">
                                      <p:cBhvr>
                                        <p:cTn id="148" dur="380"/>
                                        <p:tgtEl>
                                          <p:spTgt spid="49"/>
                                        </p:tgtEl>
                                      </p:cBhvr>
                                    </p:animEffect>
                                  </p:childTnLst>
                                </p:cTn>
                              </p:par>
                              <p:par>
                                <p:cTn id="149" presetID="10" presetClass="entr" presetSubtype="0" fill="hold" grpId="0" nodeType="afterEffect">
                                  <p:stCondLst>
                                    <p:cond delay="130"/>
                                  </p:stCondLst>
                                  <p:childTnLst>
                                    <p:set>
                                      <p:cBhvr>
                                        <p:cTn id="150" dur="1" fill="hold">
                                          <p:stCondLst>
                                            <p:cond delay="0"/>
                                          </p:stCondLst>
                                        </p:cTn>
                                        <p:tgtEl>
                                          <p:spTgt spid="53"/>
                                        </p:tgtEl>
                                        <p:attrNameLst>
                                          <p:attrName>style.visibility</p:attrName>
                                        </p:attrNameLst>
                                      </p:cBhvr>
                                      <p:to>
                                        <p:strVal val="visible"/>
                                      </p:to>
                                    </p:set>
                                    <p:animEffect transition="in" filter="fade">
                                      <p:cBhvr>
                                        <p:cTn id="151" dur="380"/>
                                        <p:tgtEl>
                                          <p:spTgt spid="53"/>
                                        </p:tgtEl>
                                      </p:cBhvr>
                                    </p:animEffect>
                                  </p:childTnLst>
                                </p:cTn>
                              </p:par>
                              <p:par>
                                <p:cTn id="152" presetID="10" presetClass="entr" presetSubtype="0" fill="hold" grpId="0" nodeType="afterEffect">
                                  <p:stCondLst>
                                    <p:cond delay="130"/>
                                  </p:stCondLst>
                                  <p:childTnLst>
                                    <p:set>
                                      <p:cBhvr>
                                        <p:cTn id="153" dur="1" fill="hold">
                                          <p:stCondLst>
                                            <p:cond delay="0"/>
                                          </p:stCondLst>
                                        </p:cTn>
                                        <p:tgtEl>
                                          <p:spTgt spid="54"/>
                                        </p:tgtEl>
                                        <p:attrNameLst>
                                          <p:attrName>style.visibility</p:attrName>
                                        </p:attrNameLst>
                                      </p:cBhvr>
                                      <p:to>
                                        <p:strVal val="visible"/>
                                      </p:to>
                                    </p:set>
                                    <p:animEffect transition="in" filter="fade">
                                      <p:cBhvr>
                                        <p:cTn id="154" dur="38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03 · ANALYSE &amp; SCORING</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Un score EUDR explicable, facteur par facteur</a:t>
            </a:r>
          </a:p>
        </p:txBody>
      </p:sp>
      <p:sp>
        <p:nvSpPr>
          <p:cNvPr id="4" name="Rounded Rectangle 3"/>
          <p:cNvSpPr/>
          <p:nvPr/>
        </p:nvSpPr>
        <p:spPr>
          <a:xfrm>
            <a:off x="566928" y="1481328"/>
            <a:ext cx="6720840" cy="4323946"/>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0644" y="1495044"/>
            <a:ext cx="6693407" cy="329184"/>
          </a:xfrm>
          <a:prstGeom prst="rect">
            <a:avLst/>
          </a:prstGeom>
          <a:solidFill>
            <a:srgbClr val="F1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694944"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850392"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1005840" y="1604772"/>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1133856" y="1545336"/>
            <a:ext cx="6007607" cy="201168"/>
          </a:xfrm>
          <a:prstGeom prst="roundRect">
            <a:avLst>
              <a:gd name="adj" fmla="val 50000"/>
            </a:avLst>
          </a:prstGeom>
          <a:solidFill>
            <a:srgbClr val="FFFFFF"/>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00000"/>
              </a:lnSpc>
            </a:pPr>
            <a:r>
              <a:rPr sz="800" b="0">
                <a:solidFill>
                  <a:srgbClr val="6B7A70"/>
                </a:solidFill>
                <a:latin typeface="Arial"/>
              </a:rPr>
              <a:t>cacaosat.ci/parcelles/COOPCA-GUIGLO-0004</a:t>
            </a:r>
          </a:p>
        </p:txBody>
      </p:sp>
      <p:pic>
        <p:nvPicPr>
          <p:cNvPr id="10" name="Picture 9" descr="parcel-detail.jpg"/>
          <p:cNvPicPr>
            <a:picLocks noChangeAspect="1"/>
          </p:cNvPicPr>
          <p:nvPr/>
        </p:nvPicPr>
        <p:blipFill>
          <a:blip r:embed="rId2"/>
          <a:stretch>
            <a:fillRect/>
          </a:stretch>
        </p:blipFill>
        <p:spPr>
          <a:xfrm>
            <a:off x="585216" y="1828800"/>
            <a:ext cx="6684264" cy="3976474"/>
          </a:xfrm>
          <a:prstGeom prst="rect">
            <a:avLst/>
          </a:prstGeom>
          <a:effectLst>
            <a:outerShdw blurRad="54864" dist="18288" dir="5400000" rotWithShape="0">
              <a:srgbClr val="13251C">
                <a:alpha val="10000"/>
              </a:srgbClr>
            </a:outerShdw>
          </a:effectLst>
        </p:spPr>
      </p:pic>
      <p:sp>
        <p:nvSpPr>
          <p:cNvPr id="11" name="TextBox 10"/>
          <p:cNvSpPr txBox="1"/>
          <p:nvPr/>
        </p:nvSpPr>
        <p:spPr>
          <a:xfrm>
            <a:off x="566928" y="5915002"/>
            <a:ext cx="672084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Détail parcelle : carte satellite, jauge de score, facteurs, série NDVI</a:t>
            </a:r>
          </a:p>
        </p:txBody>
      </p:sp>
      <p:sp>
        <p:nvSpPr>
          <p:cNvPr id="12" name="TextBox 11"/>
          <p:cNvSpPr txBox="1"/>
          <p:nvPr/>
        </p:nvSpPr>
        <p:spPr>
          <a:xfrm>
            <a:off x="7635240" y="1572768"/>
            <a:ext cx="3977639"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Les 5 facteurs du score EUDR</a:t>
            </a:r>
          </a:p>
        </p:txBody>
      </p:sp>
      <p:sp>
        <p:nvSpPr>
          <p:cNvPr id="13" name="TextBox 12"/>
          <p:cNvSpPr txBox="1"/>
          <p:nvPr/>
        </p:nvSpPr>
        <p:spPr>
          <a:xfrm>
            <a:off x="7635240" y="2029968"/>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Déforestation post-2020</a:t>
            </a:r>
          </a:p>
        </p:txBody>
      </p:sp>
      <p:sp>
        <p:nvSpPr>
          <p:cNvPr id="14" name="TextBox 13"/>
          <p:cNvSpPr txBox="1"/>
          <p:nvPr/>
        </p:nvSpPr>
        <p:spPr>
          <a:xfrm>
            <a:off x="10744200" y="2011680"/>
            <a:ext cx="868680" cy="256032"/>
          </a:xfrm>
          <a:prstGeom prst="rect">
            <a:avLst/>
          </a:prstGeom>
          <a:noFill/>
        </p:spPr>
        <p:txBody>
          <a:bodyPr wrap="square" anchor="t" lIns="0" rIns="0" tIns="0" bIns="0">
            <a:spAutoFit/>
          </a:bodyPr>
          <a:lstStyle/>
          <a:p>
            <a:pPr algn="r">
              <a:lnSpc>
                <a:spcPct val="100000"/>
              </a:lnSpc>
            </a:pPr>
            <a:r>
              <a:rPr sz="1050" b="1" i="0">
                <a:solidFill>
                  <a:srgbClr val="FF7A00"/>
                </a:solidFill>
                <a:latin typeface="Arial"/>
              </a:rPr>
              <a:t>45 pts</a:t>
            </a:r>
          </a:p>
        </p:txBody>
      </p:sp>
      <p:sp>
        <p:nvSpPr>
          <p:cNvPr id="15" name="Rounded Rectangle 14"/>
          <p:cNvSpPr/>
          <p:nvPr/>
        </p:nvSpPr>
        <p:spPr>
          <a:xfrm>
            <a:off x="7635240" y="2304288"/>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Rounded Rectangle 15"/>
          <p:cNvSpPr/>
          <p:nvPr/>
        </p:nvSpPr>
        <p:spPr>
          <a:xfrm>
            <a:off x="7635240" y="2304288"/>
            <a:ext cx="3977639" cy="128016"/>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7635240" y="2606040"/>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Recouvrement aire protégée</a:t>
            </a:r>
          </a:p>
        </p:txBody>
      </p:sp>
      <p:sp>
        <p:nvSpPr>
          <p:cNvPr id="18" name="TextBox 17"/>
          <p:cNvSpPr txBox="1"/>
          <p:nvPr/>
        </p:nvSpPr>
        <p:spPr>
          <a:xfrm>
            <a:off x="10744200" y="2587752"/>
            <a:ext cx="868680" cy="256032"/>
          </a:xfrm>
          <a:prstGeom prst="rect">
            <a:avLst/>
          </a:prstGeom>
          <a:noFill/>
        </p:spPr>
        <p:txBody>
          <a:bodyPr wrap="square" anchor="t" lIns="0" rIns="0" tIns="0" bIns="0">
            <a:spAutoFit/>
          </a:bodyPr>
          <a:lstStyle/>
          <a:p>
            <a:pPr algn="r">
              <a:lnSpc>
                <a:spcPct val="100000"/>
              </a:lnSpc>
            </a:pPr>
            <a:r>
              <a:rPr sz="1050" b="1" i="0">
                <a:solidFill>
                  <a:srgbClr val="00A651"/>
                </a:solidFill>
                <a:latin typeface="Arial"/>
              </a:rPr>
              <a:t>20 pts</a:t>
            </a:r>
          </a:p>
        </p:txBody>
      </p:sp>
      <p:sp>
        <p:nvSpPr>
          <p:cNvPr id="19" name="Rounded Rectangle 18"/>
          <p:cNvSpPr/>
          <p:nvPr/>
        </p:nvSpPr>
        <p:spPr>
          <a:xfrm>
            <a:off x="7635240" y="2880360"/>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ounded Rectangle 19"/>
          <p:cNvSpPr/>
          <p:nvPr/>
        </p:nvSpPr>
        <p:spPr>
          <a:xfrm>
            <a:off x="7635240" y="2880360"/>
            <a:ext cx="1767840" cy="128016"/>
          </a:xfrm>
          <a:prstGeom prst="roundRect">
            <a:avLst>
              <a:gd name="adj" fmla="val 50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TextBox 20"/>
          <p:cNvSpPr txBox="1"/>
          <p:nvPr/>
        </p:nvSpPr>
        <p:spPr>
          <a:xfrm>
            <a:off x="7635240" y="3182112"/>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Tendance NDVI / dégradation</a:t>
            </a:r>
          </a:p>
        </p:txBody>
      </p:sp>
      <p:sp>
        <p:nvSpPr>
          <p:cNvPr id="22" name="TextBox 21"/>
          <p:cNvSpPr txBox="1"/>
          <p:nvPr/>
        </p:nvSpPr>
        <p:spPr>
          <a:xfrm>
            <a:off x="10744200" y="3163824"/>
            <a:ext cx="868680" cy="256032"/>
          </a:xfrm>
          <a:prstGeom prst="rect">
            <a:avLst/>
          </a:prstGeom>
          <a:noFill/>
        </p:spPr>
        <p:txBody>
          <a:bodyPr wrap="square" anchor="t" lIns="0" rIns="0" tIns="0" bIns="0">
            <a:spAutoFit/>
          </a:bodyPr>
          <a:lstStyle/>
          <a:p>
            <a:pPr algn="r">
              <a:lnSpc>
                <a:spcPct val="100000"/>
              </a:lnSpc>
            </a:pPr>
            <a:r>
              <a:rPr sz="1050" b="1" i="0">
                <a:solidFill>
                  <a:srgbClr val="00A651"/>
                </a:solidFill>
                <a:latin typeface="Arial"/>
              </a:rPr>
              <a:t>15 pts</a:t>
            </a:r>
          </a:p>
        </p:txBody>
      </p:sp>
      <p:sp>
        <p:nvSpPr>
          <p:cNvPr id="23" name="Rounded Rectangle 22"/>
          <p:cNvSpPr/>
          <p:nvPr/>
        </p:nvSpPr>
        <p:spPr>
          <a:xfrm>
            <a:off x="7635240" y="3456432"/>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Rounded Rectangle 23"/>
          <p:cNvSpPr/>
          <p:nvPr/>
        </p:nvSpPr>
        <p:spPr>
          <a:xfrm>
            <a:off x="7635240" y="3456432"/>
            <a:ext cx="1325880" cy="128016"/>
          </a:xfrm>
          <a:prstGeom prst="roundRect">
            <a:avLst>
              <a:gd name="adj" fmla="val 50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5" name="TextBox 24"/>
          <p:cNvSpPr txBox="1"/>
          <p:nvPr/>
        </p:nvSpPr>
        <p:spPr>
          <a:xfrm>
            <a:off x="7635240" y="3758184"/>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Complétude des données</a:t>
            </a:r>
          </a:p>
        </p:txBody>
      </p:sp>
      <p:sp>
        <p:nvSpPr>
          <p:cNvPr id="26" name="TextBox 25"/>
          <p:cNvSpPr txBox="1"/>
          <p:nvPr/>
        </p:nvSpPr>
        <p:spPr>
          <a:xfrm>
            <a:off x="10744200" y="3739896"/>
            <a:ext cx="868680" cy="256032"/>
          </a:xfrm>
          <a:prstGeom prst="rect">
            <a:avLst/>
          </a:prstGeom>
          <a:noFill/>
        </p:spPr>
        <p:txBody>
          <a:bodyPr wrap="square" anchor="t" lIns="0" rIns="0" tIns="0" bIns="0">
            <a:spAutoFit/>
          </a:bodyPr>
          <a:lstStyle/>
          <a:p>
            <a:pPr algn="r">
              <a:lnSpc>
                <a:spcPct val="100000"/>
              </a:lnSpc>
            </a:pPr>
            <a:r>
              <a:rPr sz="1050" b="1" i="0">
                <a:solidFill>
                  <a:srgbClr val="007A3D"/>
                </a:solidFill>
                <a:latin typeface="Arial"/>
              </a:rPr>
              <a:t>10 pts</a:t>
            </a:r>
          </a:p>
        </p:txBody>
      </p:sp>
      <p:sp>
        <p:nvSpPr>
          <p:cNvPr id="27" name="Rounded Rectangle 26"/>
          <p:cNvSpPr/>
          <p:nvPr/>
        </p:nvSpPr>
        <p:spPr>
          <a:xfrm>
            <a:off x="7635240" y="4032504"/>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ounded Rectangle 27"/>
          <p:cNvSpPr/>
          <p:nvPr/>
        </p:nvSpPr>
        <p:spPr>
          <a:xfrm>
            <a:off x="7635240" y="4032504"/>
            <a:ext cx="883920" cy="128016"/>
          </a:xfrm>
          <a:prstGeom prst="roundRect">
            <a:avLst>
              <a:gd name="adj" fmla="val 50000"/>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TextBox 28"/>
          <p:cNvSpPr txBox="1"/>
          <p:nvPr/>
        </p:nvSpPr>
        <p:spPr>
          <a:xfrm>
            <a:off x="7635240" y="4334256"/>
            <a:ext cx="3154679" cy="237744"/>
          </a:xfrm>
          <a:prstGeom prst="rect">
            <a:avLst/>
          </a:prstGeom>
          <a:noFill/>
        </p:spPr>
        <p:txBody>
          <a:bodyPr wrap="square" anchor="t" lIns="0" rIns="0" tIns="0" bIns="0">
            <a:spAutoFit/>
          </a:bodyPr>
          <a:lstStyle/>
          <a:p>
            <a:pPr algn="l">
              <a:lnSpc>
                <a:spcPct val="100000"/>
              </a:lnSpc>
            </a:pPr>
            <a:r>
              <a:rPr sz="1050" b="0" i="0">
                <a:solidFill>
                  <a:srgbClr val="13251C"/>
                </a:solidFill>
                <a:latin typeface="Arial"/>
              </a:rPr>
              <a:t>Qualité du relevé GPS</a:t>
            </a:r>
          </a:p>
        </p:txBody>
      </p:sp>
      <p:sp>
        <p:nvSpPr>
          <p:cNvPr id="30" name="TextBox 29"/>
          <p:cNvSpPr txBox="1"/>
          <p:nvPr/>
        </p:nvSpPr>
        <p:spPr>
          <a:xfrm>
            <a:off x="10744200" y="4315968"/>
            <a:ext cx="868680" cy="256032"/>
          </a:xfrm>
          <a:prstGeom prst="rect">
            <a:avLst/>
          </a:prstGeom>
          <a:noFill/>
        </p:spPr>
        <p:txBody>
          <a:bodyPr wrap="square" anchor="t" lIns="0" rIns="0" tIns="0" bIns="0">
            <a:spAutoFit/>
          </a:bodyPr>
          <a:lstStyle/>
          <a:p>
            <a:pPr algn="r">
              <a:lnSpc>
                <a:spcPct val="100000"/>
              </a:lnSpc>
            </a:pPr>
            <a:r>
              <a:rPr sz="1050" b="1" i="0">
                <a:solidFill>
                  <a:srgbClr val="007A3D"/>
                </a:solidFill>
                <a:latin typeface="Arial"/>
              </a:rPr>
              <a:t>10 pts</a:t>
            </a:r>
          </a:p>
        </p:txBody>
      </p:sp>
      <p:sp>
        <p:nvSpPr>
          <p:cNvPr id="31" name="Rounded Rectangle 30"/>
          <p:cNvSpPr/>
          <p:nvPr/>
        </p:nvSpPr>
        <p:spPr>
          <a:xfrm>
            <a:off x="7635240" y="4608576"/>
            <a:ext cx="3977639" cy="128016"/>
          </a:xfrm>
          <a:prstGeom prst="roundRect">
            <a:avLst>
              <a:gd name="adj" fmla="val 50000"/>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ounded Rectangle 31"/>
          <p:cNvSpPr/>
          <p:nvPr/>
        </p:nvSpPr>
        <p:spPr>
          <a:xfrm>
            <a:off x="7635240" y="4608576"/>
            <a:ext cx="883920" cy="128016"/>
          </a:xfrm>
          <a:prstGeom prst="roundRect">
            <a:avLst>
              <a:gd name="adj" fmla="val 50000"/>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ounded Rectangle 32"/>
          <p:cNvSpPr/>
          <p:nvPr/>
        </p:nvSpPr>
        <p:spPr>
          <a:xfrm>
            <a:off x="7635240" y="5029200"/>
            <a:ext cx="2103120" cy="457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00" b="1">
                <a:solidFill>
                  <a:srgbClr val="FFFFFF"/>
                </a:solidFill>
                <a:latin typeface="Arial"/>
              </a:rPr>
              <a:t>Score total / 100</a:t>
            </a:r>
          </a:p>
        </p:txBody>
      </p:sp>
      <p:sp>
        <p:nvSpPr>
          <p:cNvPr id="34" name="Rounded Rectangle 33"/>
          <p:cNvSpPr/>
          <p:nvPr/>
        </p:nvSpPr>
        <p:spPr>
          <a:xfrm>
            <a:off x="7635240" y="5614416"/>
            <a:ext cx="3977639" cy="713232"/>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46304" rIns="73152" tIns="36576" bIns="36576"/>
          <a:lstStyle/>
          <a:p>
            <a:pPr algn="l">
              <a:lnSpc>
                <a:spcPct val="110000"/>
              </a:lnSpc>
            </a:pPr>
            <a:r>
              <a:rPr sz="1050" b="1">
                <a:solidFill>
                  <a:srgbClr val="007A3D"/>
                </a:solidFill>
                <a:latin typeface="Arial"/>
              </a:rPr>
              <a:t>Chaque point est justifié : le score n'est pas une boîte noire.</a:t>
            </a:r>
          </a:p>
        </p:txBody>
      </p:sp>
      <p:sp>
        <p:nvSpPr>
          <p:cNvPr id="35" name="Rectangle 3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39" name="TextBox 3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08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380"/>
                                        <p:tgtEl>
                                          <p:spTgt spid="38"/>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38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04 · DASHBOARD WEB</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tableau de bord de la coopérative</a:t>
            </a:r>
          </a:p>
        </p:txBody>
      </p:sp>
      <p:sp>
        <p:nvSpPr>
          <p:cNvPr id="4" name="Rounded Rectangle 3"/>
          <p:cNvSpPr/>
          <p:nvPr/>
        </p:nvSpPr>
        <p:spPr>
          <a:xfrm>
            <a:off x="566928" y="1444752"/>
            <a:ext cx="6903720" cy="4654322"/>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0644" y="1458468"/>
            <a:ext cx="6876288" cy="329184"/>
          </a:xfrm>
          <a:prstGeom prst="rect">
            <a:avLst/>
          </a:prstGeom>
          <a:solidFill>
            <a:srgbClr val="F1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Oval 5"/>
          <p:cNvSpPr/>
          <p:nvPr/>
        </p:nvSpPr>
        <p:spPr>
          <a:xfrm>
            <a:off x="694944" y="1568196"/>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Oval 6"/>
          <p:cNvSpPr/>
          <p:nvPr/>
        </p:nvSpPr>
        <p:spPr>
          <a:xfrm>
            <a:off x="850392" y="1568196"/>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val 7"/>
          <p:cNvSpPr/>
          <p:nvPr/>
        </p:nvSpPr>
        <p:spPr>
          <a:xfrm>
            <a:off x="1005840" y="1568196"/>
            <a:ext cx="82296" cy="82296"/>
          </a:xfrm>
          <a:prstGeom prst="ellipse">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ounded Rectangle 8"/>
          <p:cNvSpPr/>
          <p:nvPr/>
        </p:nvSpPr>
        <p:spPr>
          <a:xfrm>
            <a:off x="1133856" y="1508760"/>
            <a:ext cx="6190488" cy="201168"/>
          </a:xfrm>
          <a:prstGeom prst="roundRect">
            <a:avLst>
              <a:gd name="adj" fmla="val 50000"/>
            </a:avLst>
          </a:prstGeom>
          <a:solidFill>
            <a:srgbClr val="FFFFFF"/>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00000"/>
              </a:lnSpc>
            </a:pPr>
            <a:r>
              <a:rPr sz="800" b="0">
                <a:solidFill>
                  <a:srgbClr val="6B7A70"/>
                </a:solidFill>
                <a:latin typeface="Arial"/>
              </a:rPr>
              <a:t>cacaosat.ci — tableau de bord coopérative</a:t>
            </a:r>
          </a:p>
        </p:txBody>
      </p:sp>
      <p:pic>
        <p:nvPicPr>
          <p:cNvPr id="10" name="Picture 9" descr="dashboard.jpg"/>
          <p:cNvPicPr>
            <a:picLocks noChangeAspect="1"/>
          </p:cNvPicPr>
          <p:nvPr/>
        </p:nvPicPr>
        <p:blipFill>
          <a:blip r:embed="rId2"/>
          <a:stretch>
            <a:fillRect/>
          </a:stretch>
        </p:blipFill>
        <p:spPr>
          <a:xfrm>
            <a:off x="585216" y="1792224"/>
            <a:ext cx="6867144" cy="4306850"/>
          </a:xfrm>
          <a:prstGeom prst="rect">
            <a:avLst/>
          </a:prstGeom>
          <a:effectLst>
            <a:outerShdw blurRad="54864" dist="18288" dir="5400000" rotWithShape="0">
              <a:srgbClr val="13251C">
                <a:alpha val="10000"/>
              </a:srgbClr>
            </a:outerShdw>
          </a:effectLst>
        </p:spPr>
      </p:pic>
      <p:sp>
        <p:nvSpPr>
          <p:cNvPr id="11" name="TextBox 10"/>
          <p:cNvSpPr txBox="1"/>
          <p:nvPr/>
        </p:nvSpPr>
        <p:spPr>
          <a:xfrm>
            <a:off x="566928" y="6190514"/>
            <a:ext cx="6903720" cy="274320"/>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Carte satellite Esri, statuts par couleur, alertes acquittables en un clic</a:t>
            </a:r>
          </a:p>
        </p:txBody>
      </p:sp>
      <p:sp>
        <p:nvSpPr>
          <p:cNvPr id="12" name="Rounded Rectangle 11"/>
          <p:cNvSpPr/>
          <p:nvPr/>
        </p:nvSpPr>
        <p:spPr>
          <a:xfrm>
            <a:off x="7863840" y="1572768"/>
            <a:ext cx="3749039"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Rectangle 12"/>
          <p:cNvSpPr/>
          <p:nvPr/>
        </p:nvSpPr>
        <p:spPr>
          <a:xfrm>
            <a:off x="8083296" y="1792224"/>
            <a:ext cx="329184"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TextBox 13"/>
          <p:cNvSpPr txBox="1"/>
          <p:nvPr/>
        </p:nvSpPr>
        <p:spPr>
          <a:xfrm>
            <a:off x="8083296" y="1883664"/>
            <a:ext cx="3337559" cy="457200"/>
          </a:xfrm>
          <a:prstGeom prst="rect">
            <a:avLst/>
          </a:prstGeom>
          <a:noFill/>
        </p:spPr>
        <p:txBody>
          <a:bodyPr wrap="square" anchor="t" lIns="0" rIns="0" tIns="0" bIns="0">
            <a:spAutoFit/>
          </a:bodyPr>
          <a:lstStyle/>
          <a:p>
            <a:pPr algn="l">
              <a:lnSpc>
                <a:spcPct val="100000"/>
              </a:lnSpc>
            </a:pPr>
            <a:r>
              <a:rPr sz="2200" b="1" i="0">
                <a:solidFill>
                  <a:srgbClr val="00A651"/>
                </a:solidFill>
                <a:latin typeface="Arial"/>
              </a:rPr>
              <a:t>21</a:t>
            </a:r>
          </a:p>
        </p:txBody>
      </p:sp>
      <p:sp>
        <p:nvSpPr>
          <p:cNvPr id="15" name="TextBox 14"/>
          <p:cNvSpPr txBox="1"/>
          <p:nvPr/>
        </p:nvSpPr>
        <p:spPr>
          <a:xfrm>
            <a:off x="8083296" y="2322576"/>
            <a:ext cx="3337559"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parcelles suivies dans la démo</a:t>
            </a:r>
          </a:p>
        </p:txBody>
      </p:sp>
      <p:sp>
        <p:nvSpPr>
          <p:cNvPr id="16" name="Rounded Rectangle 15"/>
          <p:cNvSpPr/>
          <p:nvPr/>
        </p:nvSpPr>
        <p:spPr>
          <a:xfrm>
            <a:off x="7863840" y="2807208"/>
            <a:ext cx="3749039"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Rectangle 16"/>
          <p:cNvSpPr/>
          <p:nvPr/>
        </p:nvSpPr>
        <p:spPr>
          <a:xfrm>
            <a:off x="8083296" y="3026664"/>
            <a:ext cx="329184"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8083296" y="3118104"/>
            <a:ext cx="3337559" cy="457200"/>
          </a:xfrm>
          <a:prstGeom prst="rect">
            <a:avLst/>
          </a:prstGeom>
          <a:noFill/>
        </p:spPr>
        <p:txBody>
          <a:bodyPr wrap="square" anchor="t" lIns="0" rIns="0" tIns="0" bIns="0">
            <a:spAutoFit/>
          </a:bodyPr>
          <a:lstStyle/>
          <a:p>
            <a:pPr algn="l">
              <a:lnSpc>
                <a:spcPct val="100000"/>
              </a:lnSpc>
            </a:pPr>
            <a:r>
              <a:rPr sz="2200" b="1" i="0">
                <a:solidFill>
                  <a:srgbClr val="FF7A00"/>
                </a:solidFill>
                <a:latin typeface="Arial"/>
              </a:rPr>
              <a:t>72 ha</a:t>
            </a:r>
          </a:p>
        </p:txBody>
      </p:sp>
      <p:sp>
        <p:nvSpPr>
          <p:cNvPr id="19" name="TextBox 18"/>
          <p:cNvSpPr txBox="1"/>
          <p:nvPr/>
        </p:nvSpPr>
        <p:spPr>
          <a:xfrm>
            <a:off x="8083296" y="3557016"/>
            <a:ext cx="3337559"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de surface analysée en continu</a:t>
            </a:r>
          </a:p>
        </p:txBody>
      </p:sp>
      <p:sp>
        <p:nvSpPr>
          <p:cNvPr id="20" name="Rounded Rectangle 19"/>
          <p:cNvSpPr/>
          <p:nvPr/>
        </p:nvSpPr>
        <p:spPr>
          <a:xfrm>
            <a:off x="7863840" y="4041648"/>
            <a:ext cx="3749039" cy="1078992"/>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Rectangle 20"/>
          <p:cNvSpPr/>
          <p:nvPr/>
        </p:nvSpPr>
        <p:spPr>
          <a:xfrm>
            <a:off x="8083296" y="4261104"/>
            <a:ext cx="329184"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TextBox 21"/>
          <p:cNvSpPr txBox="1"/>
          <p:nvPr/>
        </p:nvSpPr>
        <p:spPr>
          <a:xfrm>
            <a:off x="8083296" y="4352544"/>
            <a:ext cx="3337559" cy="457200"/>
          </a:xfrm>
          <a:prstGeom prst="rect">
            <a:avLst/>
          </a:prstGeom>
          <a:noFill/>
        </p:spPr>
        <p:txBody>
          <a:bodyPr wrap="square" anchor="t" lIns="0" rIns="0" tIns="0" bIns="0">
            <a:spAutoFit/>
          </a:bodyPr>
          <a:lstStyle/>
          <a:p>
            <a:pPr algn="l">
              <a:lnSpc>
                <a:spcPct val="100000"/>
              </a:lnSpc>
            </a:pPr>
            <a:r>
              <a:rPr sz="2200" b="1" i="0">
                <a:solidFill>
                  <a:srgbClr val="007A3D"/>
                </a:solidFill>
                <a:latin typeface="Arial"/>
              </a:rPr>
              <a:t>100 %</a:t>
            </a:r>
          </a:p>
        </p:txBody>
      </p:sp>
      <p:sp>
        <p:nvSpPr>
          <p:cNvPr id="23" name="TextBox 22"/>
          <p:cNvSpPr txBox="1"/>
          <p:nvPr/>
        </p:nvSpPr>
        <p:spPr>
          <a:xfrm>
            <a:off x="8083296" y="4791456"/>
            <a:ext cx="3337559"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de couverture d'analyse satellite</a:t>
            </a:r>
          </a:p>
        </p:txBody>
      </p:sp>
      <p:sp>
        <p:nvSpPr>
          <p:cNvPr id="24" name="Rounded Rectangle 23"/>
          <p:cNvSpPr/>
          <p:nvPr/>
        </p:nvSpPr>
        <p:spPr>
          <a:xfrm>
            <a:off x="7863840" y="5349240"/>
            <a:ext cx="3749039" cy="77724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46304" rIns="73152" tIns="36576" bIns="36576"/>
          <a:lstStyle/>
          <a:p>
            <a:pPr algn="l">
              <a:lnSpc>
                <a:spcPct val="115000"/>
              </a:lnSpc>
              <a:spcAft>
                <a:spcPts val="300"/>
              </a:spcAft>
            </a:pPr>
            <a:r>
              <a:rPr sz="1050" b="1">
                <a:solidFill>
                  <a:srgbClr val="13251C"/>
                </a:solidFill>
                <a:latin typeface="Arial"/>
              </a:rPr>
              <a:t>Un outil de niveau national,</a:t>
            </a:r>
          </a:p>
          <a:p>
            <a:pPr algn="l">
              <a:lnSpc>
                <a:spcPct val="115000"/>
              </a:lnSpc>
              <a:spcAft>
                <a:spcPts val="300"/>
              </a:spcAft>
            </a:pPr>
            <a:r>
              <a:rPr sz="1050" b="1">
                <a:solidFill>
                  <a:srgbClr val="13251C"/>
                </a:solidFill>
                <a:latin typeface="Arial"/>
              </a:rPr>
              <a:t>entre les mains d'une coopérative.</a:t>
            </a:r>
          </a:p>
        </p:txBody>
      </p:sp>
      <p:sp>
        <p:nvSpPr>
          <p:cNvPr id="25" name="Rectangle 2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9" name="TextBox 2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09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380"/>
                                        <p:tgtEl>
                                          <p:spTgt spid="28"/>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38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SOLUTION 05 · PREUVE &amp; VIGILANCE</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Le certificat, en un clic — et l'alerte qui veille</a:t>
            </a:r>
          </a:p>
        </p:txBody>
      </p:sp>
      <p:sp>
        <p:nvSpPr>
          <p:cNvPr id="4" name="Rounded Rectangle 3"/>
          <p:cNvSpPr/>
          <p:nvPr/>
        </p:nvSpPr>
        <p:spPr>
          <a:xfrm>
            <a:off x="566928" y="1481328"/>
            <a:ext cx="4709160" cy="4709160"/>
          </a:xfrm>
          <a:prstGeom prst="roundRect">
            <a:avLst>
              <a:gd name="adj" fmla="val 4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ectangle 4"/>
          <p:cNvSpPr/>
          <p:nvPr/>
        </p:nvSpPr>
        <p:spPr>
          <a:xfrm>
            <a:off x="585216" y="1499616"/>
            <a:ext cx="4672584" cy="9144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Rectangle 5"/>
          <p:cNvSpPr/>
          <p:nvPr/>
        </p:nvSpPr>
        <p:spPr>
          <a:xfrm>
            <a:off x="2154936" y="1499616"/>
            <a:ext cx="1533144" cy="91440"/>
          </a:xfrm>
          <a:prstGeom prst="rect">
            <a:avLst/>
          </a:prstGeom>
          <a:solidFill>
            <a:srgbClr val="EC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ectangle 6"/>
          <p:cNvSpPr/>
          <p:nvPr/>
        </p:nvSpPr>
        <p:spPr>
          <a:xfrm>
            <a:off x="3724656" y="1499616"/>
            <a:ext cx="1533144"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886968" y="1792224"/>
            <a:ext cx="4069080" cy="237744"/>
          </a:xfrm>
          <a:prstGeom prst="rect">
            <a:avLst/>
          </a:prstGeom>
          <a:noFill/>
        </p:spPr>
        <p:txBody>
          <a:bodyPr wrap="square" anchor="t" lIns="0" rIns="0" tIns="0" bIns="0">
            <a:spAutoFit/>
          </a:bodyPr>
          <a:lstStyle/>
          <a:p>
            <a:pPr algn="l">
              <a:lnSpc>
                <a:spcPct val="100000"/>
              </a:lnSpc>
            </a:pPr>
            <a:r>
              <a:rPr sz="850" b="1" i="0" spc="120">
                <a:solidFill>
                  <a:srgbClr val="007A3D"/>
                </a:solidFill>
                <a:latin typeface="Arial"/>
              </a:rPr>
              <a:t>RAPPORT OFFICIEL DE CONFORMITÉ</a:t>
            </a:r>
          </a:p>
        </p:txBody>
      </p:sp>
      <p:sp>
        <p:nvSpPr>
          <p:cNvPr id="9" name="TextBox 8"/>
          <p:cNvSpPr txBox="1"/>
          <p:nvPr/>
        </p:nvSpPr>
        <p:spPr>
          <a:xfrm>
            <a:off x="886968" y="2048256"/>
            <a:ext cx="3520440" cy="566928"/>
          </a:xfrm>
          <a:prstGeom prst="rect">
            <a:avLst/>
          </a:prstGeom>
          <a:noFill/>
        </p:spPr>
        <p:txBody>
          <a:bodyPr wrap="square" anchor="t" lIns="0" rIns="0" tIns="0" bIns="0">
            <a:spAutoFit/>
          </a:bodyPr>
          <a:lstStyle/>
          <a:p>
            <a:pPr algn="l">
              <a:lnSpc>
                <a:spcPct val="100000"/>
              </a:lnSpc>
            </a:pPr>
            <a:r>
              <a:rPr sz="1600" b="1" i="0">
                <a:solidFill>
                  <a:srgbClr val="13251C"/>
                </a:solidFill>
                <a:latin typeface="Arial"/>
              </a:rPr>
              <a:t>Certificat de conformité EUDR</a:t>
            </a:r>
          </a:p>
        </p:txBody>
      </p:sp>
      <p:sp>
        <p:nvSpPr>
          <p:cNvPr id="10" name="TextBox 9"/>
          <p:cNvSpPr txBox="1"/>
          <p:nvPr/>
        </p:nvSpPr>
        <p:spPr>
          <a:xfrm>
            <a:off x="886968" y="2560320"/>
            <a:ext cx="4069080" cy="256032"/>
          </a:xfrm>
          <a:prstGeom prst="rect">
            <a:avLst/>
          </a:prstGeom>
          <a:noFill/>
        </p:spPr>
        <p:txBody>
          <a:bodyPr wrap="square" anchor="t" lIns="0" rIns="0" tIns="0" bIns="0">
            <a:spAutoFit/>
          </a:bodyPr>
          <a:lstStyle/>
          <a:p>
            <a:pPr algn="l">
              <a:lnSpc>
                <a:spcPct val="100000"/>
              </a:lnSpc>
            </a:pPr>
            <a:r>
              <a:rPr sz="950" b="0" i="0">
                <a:solidFill>
                  <a:srgbClr val="6B7A70"/>
                </a:solidFill>
                <a:latin typeface="Arial"/>
              </a:rPr>
              <a:t>Coopérative COOPCA-GUIGLO · 21 parcelles · 72 ha</a:t>
            </a:r>
          </a:p>
        </p:txBody>
      </p:sp>
      <p:sp>
        <p:nvSpPr>
          <p:cNvPr id="11" name="Rectangle 10"/>
          <p:cNvSpPr/>
          <p:nvPr/>
        </p:nvSpPr>
        <p:spPr>
          <a:xfrm>
            <a:off x="886968" y="2898648"/>
            <a:ext cx="4069080" cy="14630"/>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val 11"/>
          <p:cNvSpPr/>
          <p:nvPr/>
        </p:nvSpPr>
        <p:spPr>
          <a:xfrm>
            <a:off x="914400" y="31272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TextBox 12"/>
          <p:cNvSpPr txBox="1"/>
          <p:nvPr/>
        </p:nvSpPr>
        <p:spPr>
          <a:xfrm>
            <a:off x="1133856" y="30632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Synthèse : 12 conformes · 4 à vérifier · 5 non conformes</a:t>
            </a:r>
          </a:p>
        </p:txBody>
      </p:sp>
      <p:sp>
        <p:nvSpPr>
          <p:cNvPr id="14" name="Oval 13"/>
          <p:cNvSpPr/>
          <p:nvPr/>
        </p:nvSpPr>
        <p:spPr>
          <a:xfrm>
            <a:off x="914400" y="35844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1133856" y="35204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Carte des parcelles avec périmètres GPS</a:t>
            </a:r>
          </a:p>
        </p:txBody>
      </p:sp>
      <p:sp>
        <p:nvSpPr>
          <p:cNvPr id="16" name="Oval 15"/>
          <p:cNvSpPr/>
          <p:nvPr/>
        </p:nvSpPr>
        <p:spPr>
          <a:xfrm>
            <a:off x="914400" y="4041648"/>
            <a:ext cx="109728" cy="1097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1133856" y="3977640"/>
            <a:ext cx="3703320" cy="36576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Méthodologie satellite et sources citées</a:t>
            </a:r>
          </a:p>
        </p:txBody>
      </p:sp>
      <p:sp>
        <p:nvSpPr>
          <p:cNvPr id="18" name="Donut 17"/>
          <p:cNvSpPr/>
          <p:nvPr/>
        </p:nvSpPr>
        <p:spPr>
          <a:xfrm>
            <a:off x="4105656" y="1956816"/>
            <a:ext cx="841248" cy="841248"/>
          </a:xfrm>
          <a:prstGeom prst="donut">
            <a:avLst>
              <a:gd name="adj" fmla="val 18000"/>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Oval 18"/>
          <p:cNvSpPr/>
          <p:nvPr/>
        </p:nvSpPr>
        <p:spPr>
          <a:xfrm>
            <a:off x="4242816" y="20939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TextBox 19"/>
          <p:cNvSpPr txBox="1"/>
          <p:nvPr/>
        </p:nvSpPr>
        <p:spPr>
          <a:xfrm>
            <a:off x="4242816" y="2176272"/>
            <a:ext cx="566928" cy="411480"/>
          </a:xfrm>
          <a:prstGeom prst="rect">
            <a:avLst/>
          </a:prstGeom>
          <a:noFill/>
        </p:spPr>
        <p:txBody>
          <a:bodyPr wrap="square" anchor="ctr" lIns="0" rIns="0" tIns="0" bIns="0">
            <a:spAutoFit/>
          </a:bodyPr>
          <a:lstStyle/>
          <a:p>
            <a:pPr algn="ctr">
              <a:lnSpc>
                <a:spcPct val="100000"/>
              </a:lnSpc>
            </a:pPr>
            <a:r>
              <a:rPr sz="2000" b="1" i="0">
                <a:solidFill>
                  <a:srgbClr val="007A3D"/>
                </a:solidFill>
                <a:latin typeface="Arial"/>
              </a:rPr>
              <a:t>✓</a:t>
            </a:r>
          </a:p>
        </p:txBody>
      </p:sp>
      <p:sp>
        <p:nvSpPr>
          <p:cNvPr id="21" name="Rounded Rectangle 20"/>
          <p:cNvSpPr/>
          <p:nvPr/>
        </p:nvSpPr>
        <p:spPr>
          <a:xfrm>
            <a:off x="886968" y="4636008"/>
            <a:ext cx="2377440" cy="329184"/>
          </a:xfrm>
          <a:prstGeom prst="roundRect">
            <a:avLst>
              <a:gd name="adj" fmla="val 50000"/>
            </a:avLst>
          </a:prstGeom>
          <a:solidFill>
            <a:srgbClr val="1325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850" b="1">
                <a:solidFill>
                  <a:srgbClr val="FFFFFF"/>
                </a:solidFill>
                <a:latin typeface="Arial"/>
              </a:rPr>
              <a:t>SHA-256 · anti-falsification</a:t>
            </a:r>
          </a:p>
        </p:txBody>
      </p:sp>
      <p:sp>
        <p:nvSpPr>
          <p:cNvPr id="22" name="TextBox 21"/>
          <p:cNvSpPr txBox="1"/>
          <p:nvPr/>
        </p:nvSpPr>
        <p:spPr>
          <a:xfrm>
            <a:off x="886968" y="5184648"/>
            <a:ext cx="4069080" cy="502920"/>
          </a:xfrm>
          <a:prstGeom prst="rect">
            <a:avLst/>
          </a:prstGeom>
          <a:noFill/>
        </p:spPr>
        <p:txBody>
          <a:bodyPr wrap="square" anchor="t" lIns="0" rIns="0" tIns="0" bIns="0">
            <a:spAutoFit/>
          </a:bodyPr>
          <a:lstStyle/>
          <a:p>
            <a:pPr algn="l">
              <a:lnSpc>
                <a:spcPct val="115000"/>
              </a:lnSpc>
            </a:pPr>
            <a:r>
              <a:rPr sz="950" b="0" i="0">
                <a:solidFill>
                  <a:srgbClr val="6B7A70"/>
                </a:solidFill>
                <a:latin typeface="Arial"/>
              </a:rPr>
              <a:t>Généré en quelques minutes — export PDF + GeoJSON au gabarit des exportateurs.</a:t>
            </a:r>
          </a:p>
        </p:txBody>
      </p:sp>
      <p:sp>
        <p:nvSpPr>
          <p:cNvPr id="23" name="TextBox 22"/>
          <p:cNvSpPr txBox="1"/>
          <p:nvPr/>
        </p:nvSpPr>
        <p:spPr>
          <a:xfrm>
            <a:off x="886968" y="5705856"/>
            <a:ext cx="4069080" cy="274320"/>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Préambule légal · tableau par producteur · audit trail</a:t>
            </a:r>
          </a:p>
        </p:txBody>
      </p:sp>
      <p:sp>
        <p:nvSpPr>
          <p:cNvPr id="24" name="TextBox 23"/>
          <p:cNvSpPr txBox="1"/>
          <p:nvPr/>
        </p:nvSpPr>
        <p:spPr>
          <a:xfrm>
            <a:off x="5715000" y="1572768"/>
            <a:ext cx="5897880" cy="32004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Le système continue de veiller</a:t>
            </a:r>
          </a:p>
        </p:txBody>
      </p:sp>
      <p:sp>
        <p:nvSpPr>
          <p:cNvPr id="25" name="Rounded Rectangle 24"/>
          <p:cNvSpPr/>
          <p:nvPr/>
        </p:nvSpPr>
        <p:spPr>
          <a:xfrm>
            <a:off x="5715000" y="2029968"/>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6" name="Oval 25"/>
          <p:cNvSpPr/>
          <p:nvPr/>
        </p:nvSpPr>
        <p:spPr>
          <a:xfrm>
            <a:off x="5897880" y="2185416"/>
            <a:ext cx="566928" cy="566928"/>
          </a:xfrm>
          <a:prstGeom prst="ellipse">
            <a:avLst/>
          </a:prstGeom>
          <a:solidFill>
            <a:srgbClr val="FFE7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Rounded Rectangle 26"/>
          <p:cNvSpPr/>
          <p:nvPr/>
        </p:nvSpPr>
        <p:spPr>
          <a:xfrm>
            <a:off x="6119896" y="2407432"/>
            <a:ext cx="122895" cy="122895"/>
          </a:xfrm>
          <a:prstGeom prst="roundRect">
            <a:avLst>
              <a:gd name="adj" fmla="val 25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ectangle 27"/>
          <p:cNvSpPr/>
          <p:nvPr/>
        </p:nvSpPr>
        <p:spPr>
          <a:xfrm>
            <a:off x="5981639" y="2426634"/>
            <a:ext cx="115214" cy="8449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6265834" y="2426634"/>
            <a:ext cx="115214" cy="84490"/>
          </a:xfrm>
          <a:prstGeom prst="rect">
            <a:avLst/>
          </a:prstGeom>
          <a:solidFill>
            <a:srgbClr val="C4650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Oval 29"/>
          <p:cNvSpPr/>
          <p:nvPr/>
        </p:nvSpPr>
        <p:spPr>
          <a:xfrm>
            <a:off x="6158301" y="2545689"/>
            <a:ext cx="46085" cy="4608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TextBox 30"/>
          <p:cNvSpPr txBox="1"/>
          <p:nvPr/>
        </p:nvSpPr>
        <p:spPr>
          <a:xfrm>
            <a:off x="6675120" y="2157984"/>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Passage satellite</a:t>
            </a:r>
          </a:p>
        </p:txBody>
      </p:sp>
      <p:sp>
        <p:nvSpPr>
          <p:cNvPr id="32" name="TextBox 31"/>
          <p:cNvSpPr txBox="1"/>
          <p:nvPr/>
        </p:nvSpPr>
        <p:spPr>
          <a:xfrm>
            <a:off x="6675120" y="2441448"/>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chaque nouvelle image Sentinel-2 est analysée</a:t>
            </a:r>
          </a:p>
        </p:txBody>
      </p:sp>
      <p:sp>
        <p:nvSpPr>
          <p:cNvPr id="33" name="Down Arrow 32"/>
          <p:cNvSpPr/>
          <p:nvPr/>
        </p:nvSpPr>
        <p:spPr>
          <a:xfrm>
            <a:off x="6062472" y="2916936"/>
            <a:ext cx="164592" cy="128016"/>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ounded Rectangle 33"/>
          <p:cNvSpPr/>
          <p:nvPr/>
        </p:nvSpPr>
        <p:spPr>
          <a:xfrm>
            <a:off x="5715000" y="3054096"/>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Oval 34"/>
          <p:cNvSpPr/>
          <p:nvPr/>
        </p:nvSpPr>
        <p:spPr>
          <a:xfrm>
            <a:off x="5897880" y="3209544"/>
            <a:ext cx="566928" cy="566928"/>
          </a:xfrm>
          <a:prstGeom prst="ellipse">
            <a:avLst/>
          </a:prstGeom>
          <a:solidFill>
            <a:srgbClr val="F8D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6" name="Isosceles Triangle 35"/>
          <p:cNvSpPr/>
          <p:nvPr/>
        </p:nvSpPr>
        <p:spPr>
          <a:xfrm>
            <a:off x="6050767" y="3362431"/>
            <a:ext cx="261152" cy="238109"/>
          </a:xfrm>
          <a:prstGeom prst="triangle">
            <a:avLst/>
          </a:prstGeom>
          <a:solidFill>
            <a:srgbClr val="D948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7" name="TextBox 36"/>
          <p:cNvSpPr txBox="1"/>
          <p:nvPr/>
        </p:nvSpPr>
        <p:spPr>
          <a:xfrm>
            <a:off x="6104534" y="3446922"/>
            <a:ext cx="153619" cy="115214"/>
          </a:xfrm>
          <a:prstGeom prst="rect">
            <a:avLst/>
          </a:prstGeom>
          <a:noFill/>
        </p:spPr>
        <p:txBody>
          <a:bodyPr wrap="square" anchor="ctr" lIns="0" rIns="0" tIns="0" bIns="0">
            <a:spAutoFit/>
          </a:bodyPr>
          <a:lstStyle/>
          <a:p>
            <a:pPr algn="ctr">
              <a:lnSpc>
                <a:spcPct val="100000"/>
              </a:lnSpc>
            </a:pPr>
            <a:r>
              <a:rPr sz="672" b="1" i="0">
                <a:solidFill>
                  <a:srgbClr val="FFFFFF"/>
                </a:solidFill>
                <a:latin typeface="Arial"/>
              </a:rPr>
              <a:t>!</a:t>
            </a:r>
          </a:p>
        </p:txBody>
      </p:sp>
      <p:sp>
        <p:nvSpPr>
          <p:cNvPr id="38" name="TextBox 37"/>
          <p:cNvSpPr txBox="1"/>
          <p:nvPr/>
        </p:nvSpPr>
        <p:spPr>
          <a:xfrm>
            <a:off x="6675120" y="3182112"/>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Détection</a:t>
            </a:r>
          </a:p>
        </p:txBody>
      </p:sp>
      <p:sp>
        <p:nvSpPr>
          <p:cNvPr id="39" name="TextBox 38"/>
          <p:cNvSpPr txBox="1"/>
          <p:nvPr/>
        </p:nvSpPr>
        <p:spPr>
          <a:xfrm>
            <a:off x="6675120" y="3465576"/>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perte de couvert ou empiètement d'aire protégée</a:t>
            </a:r>
          </a:p>
        </p:txBody>
      </p:sp>
      <p:sp>
        <p:nvSpPr>
          <p:cNvPr id="40" name="Down Arrow 39"/>
          <p:cNvSpPr/>
          <p:nvPr/>
        </p:nvSpPr>
        <p:spPr>
          <a:xfrm>
            <a:off x="6062472" y="3941064"/>
            <a:ext cx="164592" cy="128016"/>
          </a:xfrm>
          <a:prstGeom prst="downArrow">
            <a:avLst/>
          </a:prstGeom>
          <a:solidFill>
            <a:srgbClr val="C9CE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1" name="Rounded Rectangle 40"/>
          <p:cNvSpPr/>
          <p:nvPr/>
        </p:nvSpPr>
        <p:spPr>
          <a:xfrm>
            <a:off x="5715000" y="4078224"/>
            <a:ext cx="5897880" cy="877824"/>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2" name="Oval 41"/>
          <p:cNvSpPr/>
          <p:nvPr/>
        </p:nvSpPr>
        <p:spPr>
          <a:xfrm>
            <a:off x="5897880" y="4233672"/>
            <a:ext cx="566928" cy="566928"/>
          </a:xfrm>
          <a:prstGeom prst="ellipse">
            <a:avLst/>
          </a:prstGeom>
          <a:solidFill>
            <a:srgbClr val="D1EF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3" name="Oval 42"/>
          <p:cNvSpPr/>
          <p:nvPr/>
        </p:nvSpPr>
        <p:spPr>
          <a:xfrm>
            <a:off x="6066129" y="4401921"/>
            <a:ext cx="230428" cy="230428"/>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4" name="TextBox 43"/>
          <p:cNvSpPr txBox="1"/>
          <p:nvPr/>
        </p:nvSpPr>
        <p:spPr>
          <a:xfrm>
            <a:off x="6066129" y="4424964"/>
            <a:ext cx="230428" cy="192024"/>
          </a:xfrm>
          <a:prstGeom prst="rect">
            <a:avLst/>
          </a:prstGeom>
          <a:noFill/>
        </p:spPr>
        <p:txBody>
          <a:bodyPr wrap="square" anchor="ctr" lIns="0" rIns="0" tIns="0" bIns="0">
            <a:spAutoFit/>
          </a:bodyPr>
          <a:lstStyle/>
          <a:p>
            <a:pPr algn="ctr">
              <a:lnSpc>
                <a:spcPct val="100000"/>
              </a:lnSpc>
            </a:pPr>
            <a:r>
              <a:rPr sz="756" b="1" i="0">
                <a:solidFill>
                  <a:srgbClr val="FFFFFF"/>
                </a:solidFill>
                <a:latin typeface="Arial"/>
              </a:rPr>
              <a:t>✓</a:t>
            </a:r>
          </a:p>
        </p:txBody>
      </p:sp>
      <p:sp>
        <p:nvSpPr>
          <p:cNvPr id="45" name="TextBox 44"/>
          <p:cNvSpPr txBox="1"/>
          <p:nvPr/>
        </p:nvSpPr>
        <p:spPr>
          <a:xfrm>
            <a:off x="6675120" y="4206240"/>
            <a:ext cx="4709160" cy="274320"/>
          </a:xfrm>
          <a:prstGeom prst="rect">
            <a:avLst/>
          </a:prstGeom>
          <a:noFill/>
        </p:spPr>
        <p:txBody>
          <a:bodyPr wrap="square" anchor="t" lIns="0" rIns="0" tIns="0" bIns="0">
            <a:spAutoFit/>
          </a:bodyPr>
          <a:lstStyle/>
          <a:p>
            <a:pPr algn="l">
              <a:lnSpc>
                <a:spcPct val="100000"/>
              </a:lnSpc>
            </a:pPr>
            <a:r>
              <a:rPr sz="1150" b="1" i="0">
                <a:solidFill>
                  <a:srgbClr val="13251C"/>
                </a:solidFill>
                <a:latin typeface="Arial"/>
              </a:rPr>
              <a:t>Alerte coopérative</a:t>
            </a:r>
          </a:p>
        </p:txBody>
      </p:sp>
      <p:sp>
        <p:nvSpPr>
          <p:cNvPr id="46" name="TextBox 45"/>
          <p:cNvSpPr txBox="1"/>
          <p:nvPr/>
        </p:nvSpPr>
        <p:spPr>
          <a:xfrm>
            <a:off x="6675120" y="4489704"/>
            <a:ext cx="4709160" cy="365760"/>
          </a:xfrm>
          <a:prstGeom prst="rect">
            <a:avLst/>
          </a:prstGeom>
          <a:noFill/>
        </p:spPr>
        <p:txBody>
          <a:bodyPr wrap="square" anchor="t" lIns="0" rIns="0" tIns="0" bIns="0">
            <a:spAutoFit/>
          </a:bodyPr>
          <a:lstStyle/>
          <a:p>
            <a:pPr algn="l">
              <a:lnSpc>
                <a:spcPct val="100000"/>
              </a:lnSpc>
            </a:pPr>
            <a:r>
              <a:rPr sz="1000" b="0" i="0">
                <a:solidFill>
                  <a:srgbClr val="3D4A43"/>
                </a:solidFill>
                <a:latin typeface="Arial"/>
              </a:rPr>
              <a:t>notification + acquittement tracé dans l'audit</a:t>
            </a:r>
          </a:p>
        </p:txBody>
      </p:sp>
      <p:sp>
        <p:nvSpPr>
          <p:cNvPr id="47" name="Rounded Rectangle 46"/>
          <p:cNvSpPr/>
          <p:nvPr/>
        </p:nvSpPr>
        <p:spPr>
          <a:xfrm>
            <a:off x="5715000" y="5230368"/>
            <a:ext cx="5897880" cy="960120"/>
          </a:xfrm>
          <a:prstGeom prst="roundRect">
            <a:avLst>
              <a:gd name="adj" fmla="val 8500"/>
            </a:avLst>
          </a:prstGeom>
          <a:solidFill>
            <a:srgbClr val="FFF1E1"/>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8" name="TextBox 47"/>
          <p:cNvSpPr txBox="1"/>
          <p:nvPr/>
        </p:nvSpPr>
        <p:spPr>
          <a:xfrm>
            <a:off x="6035040" y="5413248"/>
            <a:ext cx="5349240" cy="365760"/>
          </a:xfrm>
          <a:prstGeom prst="rect">
            <a:avLst/>
          </a:prstGeom>
          <a:noFill/>
        </p:spPr>
        <p:txBody>
          <a:bodyPr wrap="square" anchor="t" lIns="0" rIns="0" tIns="0" bIns="0">
            <a:spAutoFit/>
          </a:bodyPr>
          <a:lstStyle/>
          <a:p>
            <a:pPr algn="l">
              <a:lnSpc>
                <a:spcPct val="100000"/>
              </a:lnSpc>
            </a:pPr>
            <a:r>
              <a:rPr sz="1400" b="1" i="0">
                <a:solidFill>
                  <a:srgbClr val="13251C"/>
                </a:solidFill>
                <a:latin typeface="Arial"/>
              </a:rPr>
              <a:t>Des semaines de paperasse → </a:t>
            </a:r>
            <a:r>
              <a:rPr sz="1400" b="1" i="0">
                <a:solidFill>
                  <a:srgbClr val="D95E00"/>
                </a:solidFill>
                <a:latin typeface="Arial"/>
              </a:rPr>
              <a:t>quelques minutes.</a:t>
            </a:r>
          </a:p>
        </p:txBody>
      </p:sp>
      <p:sp>
        <p:nvSpPr>
          <p:cNvPr id="49" name="TextBox 48"/>
          <p:cNvSpPr txBox="1"/>
          <p:nvPr/>
        </p:nvSpPr>
        <p:spPr>
          <a:xfrm>
            <a:off x="6035040" y="5797296"/>
            <a:ext cx="5349240" cy="274320"/>
          </a:xfrm>
          <a:prstGeom prst="rect">
            <a:avLst/>
          </a:prstGeom>
          <a:noFill/>
        </p:spPr>
        <p:txBody>
          <a:bodyPr wrap="square" anchor="t" lIns="0" rIns="0" tIns="0" bIns="0">
            <a:spAutoFit/>
          </a:bodyPr>
          <a:lstStyle/>
          <a:p>
            <a:pPr algn="l">
              <a:lnSpc>
                <a:spcPct val="100000"/>
              </a:lnSpc>
            </a:pPr>
            <a:r>
              <a:rPr sz="950" b="0" i="0">
                <a:solidFill>
                  <a:srgbClr val="3D4A43"/>
                </a:solidFill>
                <a:latin typeface="Arial"/>
              </a:rPr>
              <a:t>Délai de production du dossier de conformité complet.</a:t>
            </a:r>
          </a:p>
        </p:txBody>
      </p:sp>
      <p:sp>
        <p:nvSpPr>
          <p:cNvPr id="50" name="Rectangle 49"/>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54" name="TextBox 53"/>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10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380"/>
                                        <p:tgtEl>
                                          <p:spTgt spid="35"/>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380"/>
                                        <p:tgtEl>
                                          <p:spTgt spid="36"/>
                                        </p:tgtEl>
                                      </p:cBhvr>
                                    </p:animEffect>
                                  </p:childTnLst>
                                </p:cTn>
                              </p:par>
                              <p:par>
                                <p:cTn id="110" presetID="10" presetClass="entr" presetSubtype="0" fill="hold" grpId="0" nodeType="afterEffect">
                                  <p:stCondLst>
                                    <p:cond delay="13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380"/>
                                        <p:tgtEl>
                                          <p:spTgt spid="37"/>
                                        </p:tgtEl>
                                      </p:cBhvr>
                                    </p:animEffect>
                                  </p:childTnLst>
                                </p:cTn>
                              </p:par>
                              <p:par>
                                <p:cTn id="113" presetID="10" presetClass="entr" presetSubtype="0" fill="hold" grpId="0" nodeType="afterEffect">
                                  <p:stCondLst>
                                    <p:cond delay="13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380"/>
                                        <p:tgtEl>
                                          <p:spTgt spid="38"/>
                                        </p:tgtEl>
                                      </p:cBhvr>
                                    </p:animEffect>
                                  </p:childTnLst>
                                </p:cTn>
                              </p:par>
                              <p:par>
                                <p:cTn id="116" presetID="10" presetClass="entr" presetSubtype="0" fill="hold" grpId="0" nodeType="afterEffect">
                                  <p:stCondLst>
                                    <p:cond delay="13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380"/>
                                        <p:tgtEl>
                                          <p:spTgt spid="39"/>
                                        </p:tgtEl>
                                      </p:cBhvr>
                                    </p:animEffect>
                                  </p:childTnLst>
                                </p:cTn>
                              </p:par>
                              <p:par>
                                <p:cTn id="119" presetID="10" presetClass="entr" presetSubtype="0" fill="hold" grpId="0" nodeType="afterEffect">
                                  <p:stCondLst>
                                    <p:cond delay="13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380"/>
                                        <p:tgtEl>
                                          <p:spTgt spid="40"/>
                                        </p:tgtEl>
                                      </p:cBhvr>
                                    </p:animEffect>
                                  </p:childTnLst>
                                </p:cTn>
                              </p:par>
                              <p:par>
                                <p:cTn id="122" presetID="10" presetClass="entr" presetSubtype="0" fill="hold" grpId="0" nodeType="afterEffect">
                                  <p:stCondLst>
                                    <p:cond delay="130"/>
                                  </p:stCondLst>
                                  <p:childTnLst>
                                    <p:set>
                                      <p:cBhvr>
                                        <p:cTn id="123" dur="1" fill="hold">
                                          <p:stCondLst>
                                            <p:cond delay="0"/>
                                          </p:stCondLst>
                                        </p:cTn>
                                        <p:tgtEl>
                                          <p:spTgt spid="41"/>
                                        </p:tgtEl>
                                        <p:attrNameLst>
                                          <p:attrName>style.visibility</p:attrName>
                                        </p:attrNameLst>
                                      </p:cBhvr>
                                      <p:to>
                                        <p:strVal val="visible"/>
                                      </p:to>
                                    </p:set>
                                    <p:animEffect transition="in" filter="fade">
                                      <p:cBhvr>
                                        <p:cTn id="124" dur="380"/>
                                        <p:tgtEl>
                                          <p:spTgt spid="41"/>
                                        </p:tgtEl>
                                      </p:cBhvr>
                                    </p:animEffect>
                                  </p:childTnLst>
                                </p:cTn>
                              </p:par>
                              <p:par>
                                <p:cTn id="125" presetID="10" presetClass="entr" presetSubtype="0" fill="hold" grpId="0" nodeType="afterEffect">
                                  <p:stCondLst>
                                    <p:cond delay="130"/>
                                  </p:stCondLst>
                                  <p:childTnLst>
                                    <p:set>
                                      <p:cBhvr>
                                        <p:cTn id="126" dur="1" fill="hold">
                                          <p:stCondLst>
                                            <p:cond delay="0"/>
                                          </p:stCondLst>
                                        </p:cTn>
                                        <p:tgtEl>
                                          <p:spTgt spid="42"/>
                                        </p:tgtEl>
                                        <p:attrNameLst>
                                          <p:attrName>style.visibility</p:attrName>
                                        </p:attrNameLst>
                                      </p:cBhvr>
                                      <p:to>
                                        <p:strVal val="visible"/>
                                      </p:to>
                                    </p:set>
                                    <p:animEffect transition="in" filter="fade">
                                      <p:cBhvr>
                                        <p:cTn id="127" dur="380"/>
                                        <p:tgtEl>
                                          <p:spTgt spid="42"/>
                                        </p:tgtEl>
                                      </p:cBhvr>
                                    </p:animEffect>
                                  </p:childTnLst>
                                </p:cTn>
                              </p:par>
                              <p:par>
                                <p:cTn id="128" presetID="10" presetClass="entr" presetSubtype="0" fill="hold" grpId="0" nodeType="afterEffect">
                                  <p:stCondLst>
                                    <p:cond delay="13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380"/>
                                        <p:tgtEl>
                                          <p:spTgt spid="43"/>
                                        </p:tgtEl>
                                      </p:cBhvr>
                                    </p:animEffect>
                                  </p:childTnLst>
                                </p:cTn>
                              </p:par>
                              <p:par>
                                <p:cTn id="131" presetID="10" presetClass="entr" presetSubtype="0" fill="hold" grpId="0" nodeType="afterEffect">
                                  <p:stCondLst>
                                    <p:cond delay="130"/>
                                  </p:stCondLst>
                                  <p:childTnLst>
                                    <p:set>
                                      <p:cBhvr>
                                        <p:cTn id="132" dur="1" fill="hold">
                                          <p:stCondLst>
                                            <p:cond delay="0"/>
                                          </p:stCondLst>
                                        </p:cTn>
                                        <p:tgtEl>
                                          <p:spTgt spid="44"/>
                                        </p:tgtEl>
                                        <p:attrNameLst>
                                          <p:attrName>style.visibility</p:attrName>
                                        </p:attrNameLst>
                                      </p:cBhvr>
                                      <p:to>
                                        <p:strVal val="visible"/>
                                      </p:to>
                                    </p:set>
                                    <p:animEffect transition="in" filter="fade">
                                      <p:cBhvr>
                                        <p:cTn id="133" dur="380"/>
                                        <p:tgtEl>
                                          <p:spTgt spid="44"/>
                                        </p:tgtEl>
                                      </p:cBhvr>
                                    </p:animEffect>
                                  </p:childTnLst>
                                </p:cTn>
                              </p:par>
                              <p:par>
                                <p:cTn id="134" presetID="10" presetClass="entr" presetSubtype="0" fill="hold" grpId="0" nodeType="afterEffect">
                                  <p:stCondLst>
                                    <p:cond delay="130"/>
                                  </p:stCondLst>
                                  <p:childTnLst>
                                    <p:set>
                                      <p:cBhvr>
                                        <p:cTn id="135" dur="1" fill="hold">
                                          <p:stCondLst>
                                            <p:cond delay="0"/>
                                          </p:stCondLst>
                                        </p:cTn>
                                        <p:tgtEl>
                                          <p:spTgt spid="45"/>
                                        </p:tgtEl>
                                        <p:attrNameLst>
                                          <p:attrName>style.visibility</p:attrName>
                                        </p:attrNameLst>
                                      </p:cBhvr>
                                      <p:to>
                                        <p:strVal val="visible"/>
                                      </p:to>
                                    </p:set>
                                    <p:animEffect transition="in" filter="fade">
                                      <p:cBhvr>
                                        <p:cTn id="136" dur="380"/>
                                        <p:tgtEl>
                                          <p:spTgt spid="45"/>
                                        </p:tgtEl>
                                      </p:cBhvr>
                                    </p:animEffect>
                                  </p:childTnLst>
                                </p:cTn>
                              </p:par>
                              <p:par>
                                <p:cTn id="137" presetID="10" presetClass="entr" presetSubtype="0" fill="hold" grpId="0" nodeType="afterEffect">
                                  <p:stCondLst>
                                    <p:cond delay="13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380"/>
                                        <p:tgtEl>
                                          <p:spTgt spid="46"/>
                                        </p:tgtEl>
                                      </p:cBhvr>
                                    </p:animEffect>
                                  </p:childTnLst>
                                </p:cTn>
                              </p:par>
                              <p:par>
                                <p:cTn id="140" presetID="10" presetClass="entr" presetSubtype="0" fill="hold" grpId="0" nodeType="afterEffect">
                                  <p:stCondLst>
                                    <p:cond delay="130"/>
                                  </p:stCondLst>
                                  <p:childTnLst>
                                    <p:set>
                                      <p:cBhvr>
                                        <p:cTn id="141" dur="1" fill="hold">
                                          <p:stCondLst>
                                            <p:cond delay="0"/>
                                          </p:stCondLst>
                                        </p:cTn>
                                        <p:tgtEl>
                                          <p:spTgt spid="47"/>
                                        </p:tgtEl>
                                        <p:attrNameLst>
                                          <p:attrName>style.visibility</p:attrName>
                                        </p:attrNameLst>
                                      </p:cBhvr>
                                      <p:to>
                                        <p:strVal val="visible"/>
                                      </p:to>
                                    </p:set>
                                    <p:animEffect transition="in" filter="fade">
                                      <p:cBhvr>
                                        <p:cTn id="142" dur="380"/>
                                        <p:tgtEl>
                                          <p:spTgt spid="47"/>
                                        </p:tgtEl>
                                      </p:cBhvr>
                                    </p:animEffect>
                                  </p:childTnLst>
                                </p:cTn>
                              </p:par>
                              <p:par>
                                <p:cTn id="143" presetID="10" presetClass="entr" presetSubtype="0" fill="hold" grpId="0" nodeType="afterEffect">
                                  <p:stCondLst>
                                    <p:cond delay="130"/>
                                  </p:stCondLst>
                                  <p:childTnLst>
                                    <p:set>
                                      <p:cBhvr>
                                        <p:cTn id="144" dur="1" fill="hold">
                                          <p:stCondLst>
                                            <p:cond delay="0"/>
                                          </p:stCondLst>
                                        </p:cTn>
                                        <p:tgtEl>
                                          <p:spTgt spid="48"/>
                                        </p:tgtEl>
                                        <p:attrNameLst>
                                          <p:attrName>style.visibility</p:attrName>
                                        </p:attrNameLst>
                                      </p:cBhvr>
                                      <p:to>
                                        <p:strVal val="visible"/>
                                      </p:to>
                                    </p:set>
                                    <p:animEffect transition="in" filter="fade">
                                      <p:cBhvr>
                                        <p:cTn id="145" dur="380"/>
                                        <p:tgtEl>
                                          <p:spTgt spid="48"/>
                                        </p:tgtEl>
                                      </p:cBhvr>
                                    </p:animEffect>
                                  </p:childTnLst>
                                </p:cTn>
                              </p:par>
                              <p:par>
                                <p:cTn id="146" presetID="10" presetClass="entr" presetSubtype="0" fill="hold" grpId="0" nodeType="afterEffect">
                                  <p:stCondLst>
                                    <p:cond delay="130"/>
                                  </p:stCondLst>
                                  <p:childTnLst>
                                    <p:set>
                                      <p:cBhvr>
                                        <p:cTn id="147" dur="1" fill="hold">
                                          <p:stCondLst>
                                            <p:cond delay="0"/>
                                          </p:stCondLst>
                                        </p:cTn>
                                        <p:tgtEl>
                                          <p:spTgt spid="49"/>
                                        </p:tgtEl>
                                        <p:attrNameLst>
                                          <p:attrName>style.visibility</p:attrName>
                                        </p:attrNameLst>
                                      </p:cBhvr>
                                      <p:to>
                                        <p:strVal val="visible"/>
                                      </p:to>
                                    </p:set>
                                    <p:animEffect transition="in" filter="fade">
                                      <p:cBhvr>
                                        <p:cTn id="148" dur="380"/>
                                        <p:tgtEl>
                                          <p:spTgt spid="49"/>
                                        </p:tgtEl>
                                      </p:cBhvr>
                                    </p:animEffect>
                                  </p:childTnLst>
                                </p:cTn>
                              </p:par>
                              <p:par>
                                <p:cTn id="149" presetID="10" presetClass="entr" presetSubtype="0" fill="hold" grpId="0" nodeType="afterEffect">
                                  <p:stCondLst>
                                    <p:cond delay="130"/>
                                  </p:stCondLst>
                                  <p:childTnLst>
                                    <p:set>
                                      <p:cBhvr>
                                        <p:cTn id="150" dur="1" fill="hold">
                                          <p:stCondLst>
                                            <p:cond delay="0"/>
                                          </p:stCondLst>
                                        </p:cTn>
                                        <p:tgtEl>
                                          <p:spTgt spid="53"/>
                                        </p:tgtEl>
                                        <p:attrNameLst>
                                          <p:attrName>style.visibility</p:attrName>
                                        </p:attrNameLst>
                                      </p:cBhvr>
                                      <p:to>
                                        <p:strVal val="visible"/>
                                      </p:to>
                                    </p:set>
                                    <p:animEffect transition="in" filter="fade">
                                      <p:cBhvr>
                                        <p:cTn id="151" dur="380"/>
                                        <p:tgtEl>
                                          <p:spTgt spid="53"/>
                                        </p:tgtEl>
                                      </p:cBhvr>
                                    </p:animEffect>
                                  </p:childTnLst>
                                </p:cTn>
                              </p:par>
                              <p:par>
                                <p:cTn id="152" presetID="10" presetClass="entr" presetSubtype="0" fill="hold" grpId="0" nodeType="afterEffect">
                                  <p:stCondLst>
                                    <p:cond delay="130"/>
                                  </p:stCondLst>
                                  <p:childTnLst>
                                    <p:set>
                                      <p:cBhvr>
                                        <p:cTn id="153" dur="1" fill="hold">
                                          <p:stCondLst>
                                            <p:cond delay="0"/>
                                          </p:stCondLst>
                                        </p:cTn>
                                        <p:tgtEl>
                                          <p:spTgt spid="54"/>
                                        </p:tgtEl>
                                        <p:attrNameLst>
                                          <p:attrName>style.visibility</p:attrName>
                                        </p:attrNameLst>
                                      </p:cBhvr>
                                      <p:to>
                                        <p:strVal val="visible"/>
                                      </p:to>
                                    </p:set>
                                    <p:animEffect transition="in" filter="fade">
                                      <p:cBhvr>
                                        <p:cTn id="154" dur="38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IMPACT</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Quatre plans d'impact, un seul outil</a:t>
            </a:r>
          </a:p>
        </p:txBody>
      </p:sp>
      <p:sp>
        <p:nvSpPr>
          <p:cNvPr id="4" name="Rounded Rectangle 3"/>
          <p:cNvSpPr/>
          <p:nvPr/>
        </p:nvSpPr>
        <p:spPr>
          <a:xfrm>
            <a:off x="566928" y="1627632"/>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Oval 4"/>
          <p:cNvSpPr/>
          <p:nvPr/>
        </p:nvSpPr>
        <p:spPr>
          <a:xfrm>
            <a:off x="859536" y="1956816"/>
            <a:ext cx="960120" cy="96012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6" name="Donut 5"/>
          <p:cNvSpPr/>
          <p:nvPr/>
        </p:nvSpPr>
        <p:spPr>
          <a:xfrm>
            <a:off x="1111361" y="2208641"/>
            <a:ext cx="456468" cy="456468"/>
          </a:xfrm>
          <a:prstGeom prst="donut">
            <a:avLst>
              <a:gd name="adj" fmla="val 22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TextBox 6"/>
          <p:cNvSpPr txBox="1"/>
          <p:nvPr/>
        </p:nvSpPr>
        <p:spPr>
          <a:xfrm>
            <a:off x="1111361" y="2301361"/>
            <a:ext cx="456468" cy="285292"/>
          </a:xfrm>
          <a:prstGeom prst="rect">
            <a:avLst/>
          </a:prstGeom>
          <a:noFill/>
        </p:spPr>
        <p:txBody>
          <a:bodyPr wrap="square" anchor="ctr" lIns="0" rIns="0" tIns="0" bIns="0">
            <a:spAutoFit/>
          </a:bodyPr>
          <a:lstStyle/>
          <a:p>
            <a:pPr algn="ctr">
              <a:lnSpc>
                <a:spcPct val="100000"/>
              </a:lnSpc>
            </a:pPr>
            <a:r>
              <a:rPr sz="1716" b="1" i="0">
                <a:solidFill>
                  <a:srgbClr val="13251C"/>
                </a:solidFill>
                <a:latin typeface="Arial"/>
              </a:rPr>
              <a:t>€</a:t>
            </a:r>
          </a:p>
        </p:txBody>
      </p:sp>
      <p:sp>
        <p:nvSpPr>
          <p:cNvPr id="8" name="TextBox 7"/>
          <p:cNvSpPr txBox="1"/>
          <p:nvPr/>
        </p:nvSpPr>
        <p:spPr>
          <a:xfrm>
            <a:off x="2084831" y="2011680"/>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Économique</a:t>
            </a:r>
          </a:p>
        </p:txBody>
      </p:sp>
      <p:sp>
        <p:nvSpPr>
          <p:cNvPr id="9" name="TextBox 8"/>
          <p:cNvSpPr txBox="1"/>
          <p:nvPr/>
        </p:nvSpPr>
        <p:spPr>
          <a:xfrm>
            <a:off x="2084831" y="2432304"/>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Accès au marché UE sécurisé — délai et coût de conformité réduits.</a:t>
            </a:r>
          </a:p>
        </p:txBody>
      </p:sp>
      <p:sp>
        <p:nvSpPr>
          <p:cNvPr id="10" name="Rounded Rectangle 9"/>
          <p:cNvSpPr/>
          <p:nvPr/>
        </p:nvSpPr>
        <p:spPr>
          <a:xfrm>
            <a:off x="6236208" y="1627632"/>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Oval 10"/>
          <p:cNvSpPr/>
          <p:nvPr/>
        </p:nvSpPr>
        <p:spPr>
          <a:xfrm>
            <a:off x="6528816" y="1956816"/>
            <a:ext cx="960120" cy="96012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val 11"/>
          <p:cNvSpPr/>
          <p:nvPr/>
        </p:nvSpPr>
        <p:spPr>
          <a:xfrm>
            <a:off x="6759244"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Oval 12"/>
          <p:cNvSpPr/>
          <p:nvPr/>
        </p:nvSpPr>
        <p:spPr>
          <a:xfrm>
            <a:off x="6730715"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Oval 13"/>
          <p:cNvSpPr/>
          <p:nvPr/>
        </p:nvSpPr>
        <p:spPr>
          <a:xfrm>
            <a:off x="6944685"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Oval 14"/>
          <p:cNvSpPr/>
          <p:nvPr/>
        </p:nvSpPr>
        <p:spPr>
          <a:xfrm>
            <a:off x="6916155"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val 15"/>
          <p:cNvSpPr/>
          <p:nvPr/>
        </p:nvSpPr>
        <p:spPr>
          <a:xfrm>
            <a:off x="7130125" y="2222906"/>
            <a:ext cx="128381" cy="128381"/>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Oval 16"/>
          <p:cNvSpPr/>
          <p:nvPr/>
        </p:nvSpPr>
        <p:spPr>
          <a:xfrm>
            <a:off x="7101596" y="2394082"/>
            <a:ext cx="185440" cy="256763"/>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7754112" y="2011680"/>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Social</a:t>
            </a:r>
          </a:p>
        </p:txBody>
      </p:sp>
      <p:sp>
        <p:nvSpPr>
          <p:cNvPr id="19" name="TextBox 18"/>
          <p:cNvSpPr txBox="1"/>
          <p:nvPr/>
        </p:nvSpPr>
        <p:spPr>
          <a:xfrm>
            <a:off x="7754112" y="2432304"/>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Un outil direct pour les petites coopératives, sans intermédiaire coûteux.</a:t>
            </a:r>
          </a:p>
        </p:txBody>
      </p:sp>
      <p:sp>
        <p:nvSpPr>
          <p:cNvPr id="20" name="Rounded Rectangle 19"/>
          <p:cNvSpPr/>
          <p:nvPr/>
        </p:nvSpPr>
        <p:spPr>
          <a:xfrm>
            <a:off x="566928" y="4133087"/>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Oval 20"/>
          <p:cNvSpPr/>
          <p:nvPr/>
        </p:nvSpPr>
        <p:spPr>
          <a:xfrm>
            <a:off x="859536" y="4462272"/>
            <a:ext cx="960120" cy="96012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2" name="Isosceles Triangle 21"/>
          <p:cNvSpPr/>
          <p:nvPr/>
        </p:nvSpPr>
        <p:spPr>
          <a:xfrm>
            <a:off x="1125626" y="4642774"/>
            <a:ext cx="427939" cy="442203"/>
          </a:xfrm>
          <a:prstGeom prst="triangle">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3" name="Rounded Rectangle 22"/>
          <p:cNvSpPr/>
          <p:nvPr/>
        </p:nvSpPr>
        <p:spPr>
          <a:xfrm>
            <a:off x="1300368" y="5042184"/>
            <a:ext cx="78455" cy="213969"/>
          </a:xfrm>
          <a:prstGeom prst="roundRect">
            <a:avLst>
              <a:gd name="adj" fmla="val 30000"/>
            </a:avLst>
          </a:prstGeom>
          <a:solidFill>
            <a:srgbClr val="0660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TextBox 23"/>
          <p:cNvSpPr txBox="1"/>
          <p:nvPr/>
        </p:nvSpPr>
        <p:spPr>
          <a:xfrm>
            <a:off x="2084831" y="4517136"/>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Environnemental</a:t>
            </a:r>
          </a:p>
        </p:txBody>
      </p:sp>
      <p:sp>
        <p:nvSpPr>
          <p:cNvPr id="25" name="TextBox 24"/>
          <p:cNvSpPr txBox="1"/>
          <p:nvPr/>
        </p:nvSpPr>
        <p:spPr>
          <a:xfrm>
            <a:off x="2084831" y="4937759"/>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Suivi continu du couvert forestier autour des zones de production.</a:t>
            </a:r>
          </a:p>
        </p:txBody>
      </p:sp>
      <p:sp>
        <p:nvSpPr>
          <p:cNvPr id="26" name="Rounded Rectangle 25"/>
          <p:cNvSpPr/>
          <p:nvPr/>
        </p:nvSpPr>
        <p:spPr>
          <a:xfrm>
            <a:off x="6236208" y="4133087"/>
            <a:ext cx="5394960" cy="2212848"/>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7" name="Oval 26"/>
          <p:cNvSpPr/>
          <p:nvPr/>
        </p:nvSpPr>
        <p:spPr>
          <a:xfrm>
            <a:off x="6528816" y="4462272"/>
            <a:ext cx="960120" cy="96012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Rectangle 27"/>
          <p:cNvSpPr/>
          <p:nvPr/>
        </p:nvSpPr>
        <p:spPr>
          <a:xfrm>
            <a:off x="6809171" y="4685568"/>
            <a:ext cx="399409" cy="513527"/>
          </a:xfrm>
          <a:prstGeom prst="rect">
            <a:avLst/>
          </a:prstGeom>
          <a:solidFill>
            <a:srgbClr val="D9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9" name="Rectangle 28"/>
          <p:cNvSpPr/>
          <p:nvPr/>
        </p:nvSpPr>
        <p:spPr>
          <a:xfrm>
            <a:off x="6873361"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0" name="Rectangle 29"/>
          <p:cNvSpPr/>
          <p:nvPr/>
        </p:nvSpPr>
        <p:spPr>
          <a:xfrm>
            <a:off x="6873361"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1" name="Rectangle 30"/>
          <p:cNvSpPr/>
          <p:nvPr/>
        </p:nvSpPr>
        <p:spPr>
          <a:xfrm>
            <a:off x="6980346"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2" name="Rectangle 31"/>
          <p:cNvSpPr/>
          <p:nvPr/>
        </p:nvSpPr>
        <p:spPr>
          <a:xfrm>
            <a:off x="6980346"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3" name="Rectangle 32"/>
          <p:cNvSpPr/>
          <p:nvPr/>
        </p:nvSpPr>
        <p:spPr>
          <a:xfrm>
            <a:off x="7087331" y="4756891"/>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4" name="Rectangle 33"/>
          <p:cNvSpPr/>
          <p:nvPr/>
        </p:nvSpPr>
        <p:spPr>
          <a:xfrm>
            <a:off x="7087331" y="4899538"/>
            <a:ext cx="57058" cy="7132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5" name="TextBox 34"/>
          <p:cNvSpPr txBox="1"/>
          <p:nvPr/>
        </p:nvSpPr>
        <p:spPr>
          <a:xfrm>
            <a:off x="7754112" y="4517136"/>
            <a:ext cx="3566160" cy="365760"/>
          </a:xfrm>
          <a:prstGeom prst="rect">
            <a:avLst/>
          </a:prstGeom>
          <a:noFill/>
        </p:spPr>
        <p:txBody>
          <a:bodyPr wrap="square" anchor="t" lIns="0" rIns="0" tIns="0" bIns="0">
            <a:spAutoFit/>
          </a:bodyPr>
          <a:lstStyle/>
          <a:p>
            <a:pPr algn="l">
              <a:lnSpc>
                <a:spcPct val="100000"/>
              </a:lnSpc>
            </a:pPr>
            <a:r>
              <a:rPr sz="1550" b="1" i="0">
                <a:solidFill>
                  <a:srgbClr val="13251C"/>
                </a:solidFill>
                <a:latin typeface="Arial"/>
              </a:rPr>
              <a:t>Institutionnel</a:t>
            </a:r>
          </a:p>
        </p:txBody>
      </p:sp>
      <p:sp>
        <p:nvSpPr>
          <p:cNvPr id="36" name="TextBox 35"/>
          <p:cNvSpPr txBox="1"/>
          <p:nvPr/>
        </p:nvSpPr>
        <p:spPr>
          <a:xfrm>
            <a:off x="7754112" y="4937759"/>
            <a:ext cx="3566160" cy="1188720"/>
          </a:xfrm>
          <a:prstGeom prst="rect">
            <a:avLst/>
          </a:prstGeom>
          <a:noFill/>
        </p:spPr>
        <p:txBody>
          <a:bodyPr wrap="square" anchor="t" lIns="0" rIns="0" tIns="0" bIns="0">
            <a:spAutoFit/>
          </a:bodyPr>
          <a:lstStyle/>
          <a:p>
            <a:pPr algn="l">
              <a:lnSpc>
                <a:spcPct val="125000"/>
              </a:lnSpc>
            </a:pPr>
            <a:r>
              <a:rPr sz="1100" b="0" i="0">
                <a:solidFill>
                  <a:srgbClr val="3D4A43"/>
                </a:solidFill>
                <a:latin typeface="Arial"/>
              </a:rPr>
              <a:t>Une base nationale consolidée pour le Conseil du Café-Cacao.</a:t>
            </a:r>
          </a:p>
        </p:txBody>
      </p:sp>
      <p:sp>
        <p:nvSpPr>
          <p:cNvPr id="37" name="Rectangle 36"/>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41" name="TextBox 40"/>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11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380"/>
                                        <p:tgtEl>
                                          <p:spTgt spid="25"/>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80"/>
                                        <p:tgtEl>
                                          <p:spTgt spid="26"/>
                                        </p:tgtEl>
                                      </p:cBhvr>
                                    </p:animEffect>
                                  </p:childTnLst>
                                </p:cTn>
                              </p:par>
                              <p:par>
                                <p:cTn id="80" presetID="10" presetClass="entr" presetSubtype="0" fill="hold" grpId="0" nodeType="afterEffect">
                                  <p:stCondLst>
                                    <p:cond delay="13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80"/>
                                        <p:tgtEl>
                                          <p:spTgt spid="27"/>
                                        </p:tgtEl>
                                      </p:cBhvr>
                                    </p:animEffect>
                                  </p:childTnLst>
                                </p:cTn>
                              </p:par>
                              <p:par>
                                <p:cTn id="83" presetID="10" presetClass="entr" presetSubtype="0" fill="hold" grpId="0" nodeType="afterEffect">
                                  <p:stCondLst>
                                    <p:cond delay="13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380"/>
                                        <p:tgtEl>
                                          <p:spTgt spid="28"/>
                                        </p:tgtEl>
                                      </p:cBhvr>
                                    </p:animEffect>
                                  </p:childTnLst>
                                </p:cTn>
                              </p:par>
                              <p:par>
                                <p:cTn id="86" presetID="10" presetClass="entr" presetSubtype="0" fill="hold" grpId="0" nodeType="afterEffect">
                                  <p:stCondLst>
                                    <p:cond delay="13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380"/>
                                        <p:tgtEl>
                                          <p:spTgt spid="29"/>
                                        </p:tgtEl>
                                      </p:cBhvr>
                                    </p:animEffect>
                                  </p:childTnLst>
                                </p:cTn>
                              </p:par>
                              <p:par>
                                <p:cTn id="89" presetID="10" presetClass="entr" presetSubtype="0" fill="hold" grpId="0" nodeType="afterEffect">
                                  <p:stCondLst>
                                    <p:cond delay="13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380"/>
                                        <p:tgtEl>
                                          <p:spTgt spid="30"/>
                                        </p:tgtEl>
                                      </p:cBhvr>
                                    </p:animEffect>
                                  </p:childTnLst>
                                </p:cTn>
                              </p:par>
                              <p:par>
                                <p:cTn id="92" presetID="10" presetClass="entr" presetSubtype="0" fill="hold" grpId="0" nodeType="afterEffect">
                                  <p:stCondLst>
                                    <p:cond delay="13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380"/>
                                        <p:tgtEl>
                                          <p:spTgt spid="31"/>
                                        </p:tgtEl>
                                      </p:cBhvr>
                                    </p:animEffect>
                                  </p:childTnLst>
                                </p:cTn>
                              </p:par>
                              <p:par>
                                <p:cTn id="95" presetID="10" presetClass="entr" presetSubtype="0" fill="hold" grpId="0" nodeType="afterEffect">
                                  <p:stCondLst>
                                    <p:cond delay="13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380"/>
                                        <p:tgtEl>
                                          <p:spTgt spid="32"/>
                                        </p:tgtEl>
                                      </p:cBhvr>
                                    </p:animEffect>
                                  </p:childTnLst>
                                </p:cTn>
                              </p:par>
                              <p:par>
                                <p:cTn id="98" presetID="10" presetClass="entr" presetSubtype="0" fill="hold" grpId="0" nodeType="afterEffect">
                                  <p:stCondLst>
                                    <p:cond delay="13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80"/>
                                        <p:tgtEl>
                                          <p:spTgt spid="33"/>
                                        </p:tgtEl>
                                      </p:cBhvr>
                                    </p:animEffect>
                                  </p:childTnLst>
                                </p:cTn>
                              </p:par>
                              <p:par>
                                <p:cTn id="101" presetID="10" presetClass="entr" presetSubtype="0" fill="hold" grpId="0" nodeType="afterEffect">
                                  <p:stCondLst>
                                    <p:cond delay="1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380"/>
                                        <p:tgtEl>
                                          <p:spTgt spid="34"/>
                                        </p:tgtEl>
                                      </p:cBhvr>
                                    </p:animEffect>
                                  </p:childTnLst>
                                </p:cTn>
                              </p:par>
                              <p:par>
                                <p:cTn id="104" presetID="10" presetClass="entr" presetSubtype="0" fill="hold" grpId="0" nodeType="afterEffect">
                                  <p:stCondLst>
                                    <p:cond delay="13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380"/>
                                        <p:tgtEl>
                                          <p:spTgt spid="35"/>
                                        </p:tgtEl>
                                      </p:cBhvr>
                                    </p:animEffect>
                                  </p:childTnLst>
                                </p:cTn>
                              </p:par>
                              <p:par>
                                <p:cTn id="107" presetID="10" presetClass="entr" presetSubtype="0" fill="hold" grpId="0" nodeType="afterEffect">
                                  <p:stCondLst>
                                    <p:cond delay="13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380"/>
                                        <p:tgtEl>
                                          <p:spTgt spid="36"/>
                                        </p:tgtEl>
                                      </p:cBhvr>
                                    </p:animEffect>
                                  </p:childTnLst>
                                </p:cTn>
                              </p:par>
                              <p:par>
                                <p:cTn id="110" presetID="10" presetClass="entr" presetSubtype="0" fill="hold" grpId="0" nodeType="afterEffect">
                                  <p:stCondLst>
                                    <p:cond delay="13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380"/>
                                        <p:tgtEl>
                                          <p:spTgt spid="40"/>
                                        </p:tgtEl>
                                      </p:cBhvr>
                                    </p:animEffect>
                                  </p:childTnLst>
                                </p:cTn>
                              </p:par>
                              <p:par>
                                <p:cTn id="113" presetID="10" presetClass="entr" presetSubtype="0" fill="hold" grpId="0" nodeType="afterEffect">
                                  <p:stCondLst>
                                    <p:cond delay="13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38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CRÉDIBILITÉ</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Sous le capot : prêt pour la production</a:t>
            </a:r>
          </a:p>
        </p:txBody>
      </p:sp>
      <p:sp>
        <p:nvSpPr>
          <p:cNvPr id="4" name="Rounded Rectangle 3"/>
          <p:cNvSpPr/>
          <p:nvPr/>
        </p:nvSpPr>
        <p:spPr>
          <a:xfrm>
            <a:off x="566928" y="1572768"/>
            <a:ext cx="5852160" cy="30632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TextBox 4"/>
          <p:cNvSpPr txBox="1"/>
          <p:nvPr/>
        </p:nvSpPr>
        <p:spPr>
          <a:xfrm>
            <a:off x="841248" y="1755648"/>
            <a:ext cx="5303520" cy="274320"/>
          </a:xfrm>
          <a:prstGeom prst="rect">
            <a:avLst/>
          </a:prstGeom>
          <a:noFill/>
        </p:spPr>
        <p:txBody>
          <a:bodyPr wrap="square" anchor="t" lIns="0" rIns="0" tIns="0" bIns="0">
            <a:spAutoFit/>
          </a:bodyPr>
          <a:lstStyle/>
          <a:p>
            <a:pPr algn="l">
              <a:lnSpc>
                <a:spcPct val="100000"/>
              </a:lnSpc>
            </a:pPr>
            <a:r>
              <a:rPr sz="1250" b="1" i="0">
                <a:solidFill>
                  <a:srgbClr val="13251C"/>
                </a:solidFill>
                <a:latin typeface="Arial"/>
              </a:rPr>
              <a:t>Temps de production du dossier de conformité</a:t>
            </a:r>
          </a:p>
        </p:txBody>
      </p:sp>
      <p:pic>
        <p:nvPicPr>
          <p:cNvPr id="6" name="Picture 5" descr="delai.png"/>
          <p:cNvPicPr>
            <a:picLocks noChangeAspect="1"/>
          </p:cNvPicPr>
          <p:nvPr/>
        </p:nvPicPr>
        <p:blipFill>
          <a:blip r:embed="rId2"/>
          <a:stretch>
            <a:fillRect/>
          </a:stretch>
        </p:blipFill>
        <p:spPr>
          <a:xfrm>
            <a:off x="731520" y="2121408"/>
            <a:ext cx="5486400" cy="2338466"/>
          </a:xfrm>
          <a:prstGeom prst="rect">
            <a:avLst/>
          </a:prstGeom>
        </p:spPr>
      </p:pic>
      <p:sp>
        <p:nvSpPr>
          <p:cNvPr id="7" name="Rounded Rectangle 6"/>
          <p:cNvSpPr/>
          <p:nvPr/>
        </p:nvSpPr>
        <p:spPr>
          <a:xfrm>
            <a:off x="566928" y="4892040"/>
            <a:ext cx="5852160" cy="1280160"/>
          </a:xfrm>
          <a:prstGeom prst="roundRect">
            <a:avLst>
              <a:gd name="adj" fmla="val 8500"/>
            </a:avLst>
          </a:prstGeom>
          <a:solidFill>
            <a:srgbClr val="E2F4E9"/>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868680" y="5084064"/>
            <a:ext cx="5394960" cy="365760"/>
          </a:xfrm>
          <a:prstGeom prst="rect">
            <a:avLst/>
          </a:prstGeom>
          <a:noFill/>
        </p:spPr>
        <p:txBody>
          <a:bodyPr wrap="square" anchor="t" lIns="0" rIns="0" tIns="0" bIns="0">
            <a:spAutoFit/>
          </a:bodyPr>
          <a:lstStyle/>
          <a:p>
            <a:pPr algn="l">
              <a:lnSpc>
                <a:spcPct val="100000"/>
              </a:lnSpc>
            </a:pPr>
            <a:r>
              <a:rPr sz="1200" b="1" i="0">
                <a:solidFill>
                  <a:srgbClr val="007A3D"/>
                </a:solidFill>
                <a:latin typeface="Arial"/>
              </a:rPr>
              <a:t>Mock déterministe des services satellite</a:t>
            </a:r>
          </a:p>
        </p:txBody>
      </p:sp>
      <p:sp>
        <p:nvSpPr>
          <p:cNvPr id="9" name="TextBox 8"/>
          <p:cNvSpPr txBox="1"/>
          <p:nvPr/>
        </p:nvSpPr>
        <p:spPr>
          <a:xfrm>
            <a:off x="868680" y="5440680"/>
            <a:ext cx="5394960" cy="594360"/>
          </a:xfrm>
          <a:prstGeom prst="rect">
            <a:avLst/>
          </a:prstGeom>
          <a:noFill/>
        </p:spPr>
        <p:txBody>
          <a:bodyPr wrap="square" anchor="t" lIns="0" rIns="0" tIns="0" bIns="0">
            <a:spAutoFit/>
          </a:bodyPr>
          <a:lstStyle/>
          <a:p>
            <a:pPr algn="l">
              <a:lnSpc>
                <a:spcPct val="115000"/>
              </a:lnSpc>
            </a:pPr>
            <a:r>
              <a:rPr sz="1000" b="0" i="0">
                <a:solidFill>
                  <a:srgbClr val="3D4A43"/>
                </a:solidFill>
                <a:latin typeface="Arial"/>
              </a:rPr>
              <a:t>Démo reproductible ; l'architecture est prête à brancher les flux réels sans changement de contrat.</a:t>
            </a:r>
          </a:p>
        </p:txBody>
      </p:sp>
      <p:sp>
        <p:nvSpPr>
          <p:cNvPr id="10" name="TextBox 9"/>
          <p:cNvSpPr txBox="1"/>
          <p:nvPr/>
        </p:nvSpPr>
        <p:spPr>
          <a:xfrm>
            <a:off x="6766560" y="1627632"/>
            <a:ext cx="4846320" cy="292608"/>
          </a:xfrm>
          <a:prstGeom prst="rect">
            <a:avLst/>
          </a:prstGeom>
          <a:noFill/>
        </p:spPr>
        <p:txBody>
          <a:bodyPr wrap="square" anchor="t" lIns="0" rIns="0" tIns="0" bIns="0">
            <a:spAutoFit/>
          </a:bodyPr>
          <a:lstStyle/>
          <a:p>
            <a:pPr algn="l">
              <a:lnSpc>
                <a:spcPct val="100000"/>
              </a:lnSpc>
            </a:pPr>
            <a:r>
              <a:rPr sz="1000" b="1" i="0" spc="110">
                <a:solidFill>
                  <a:srgbClr val="007A3D"/>
                </a:solidFill>
                <a:latin typeface="Arial"/>
              </a:rPr>
              <a:t>UNE STACK LIBRE, TESTÉE, DÉPLOYABLE</a:t>
            </a:r>
          </a:p>
        </p:txBody>
      </p:sp>
      <p:sp>
        <p:nvSpPr>
          <p:cNvPr id="11" name="Rounded Rectangle 10"/>
          <p:cNvSpPr/>
          <p:nvPr/>
        </p:nvSpPr>
        <p:spPr>
          <a:xfrm>
            <a:off x="6766560" y="2011680"/>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Flask 3 + PostGIS</a:t>
            </a:r>
          </a:p>
        </p:txBody>
      </p:sp>
      <p:sp>
        <p:nvSpPr>
          <p:cNvPr id="12" name="Rounded Rectangle 11"/>
          <p:cNvSpPr/>
          <p:nvPr/>
        </p:nvSpPr>
        <p:spPr>
          <a:xfrm>
            <a:off x="9326880" y="2011680"/>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React 18 + Vite</a:t>
            </a:r>
          </a:p>
        </p:txBody>
      </p:sp>
      <p:sp>
        <p:nvSpPr>
          <p:cNvPr id="13" name="Rounded Rectangle 12"/>
          <p:cNvSpPr/>
          <p:nvPr/>
        </p:nvSpPr>
        <p:spPr>
          <a:xfrm>
            <a:off x="6766560" y="2615184"/>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Flutter hors-ligne</a:t>
            </a:r>
          </a:p>
        </p:txBody>
      </p:sp>
      <p:sp>
        <p:nvSpPr>
          <p:cNvPr id="14" name="Rounded Rectangle 13"/>
          <p:cNvSpPr/>
          <p:nvPr/>
        </p:nvSpPr>
        <p:spPr>
          <a:xfrm>
            <a:off x="9326880" y="2615184"/>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Docker Compose</a:t>
            </a:r>
          </a:p>
        </p:txBody>
      </p:sp>
      <p:sp>
        <p:nvSpPr>
          <p:cNvPr id="15" name="Rounded Rectangle 14"/>
          <p:cNvSpPr/>
          <p:nvPr/>
        </p:nvSpPr>
        <p:spPr>
          <a:xfrm>
            <a:off x="6766560" y="3218688"/>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GitHub Actions CI</a:t>
            </a:r>
          </a:p>
        </p:txBody>
      </p:sp>
      <p:sp>
        <p:nvSpPr>
          <p:cNvPr id="16" name="Rounded Rectangle 15"/>
          <p:cNvSpPr/>
          <p:nvPr/>
        </p:nvSpPr>
        <p:spPr>
          <a:xfrm>
            <a:off x="9326880" y="3218688"/>
            <a:ext cx="2395728" cy="457200"/>
          </a:xfrm>
          <a:prstGeom prst="roundRect">
            <a:avLst>
              <a:gd name="adj" fmla="val 50000"/>
            </a:avLst>
          </a:prstGeom>
          <a:solidFill>
            <a:srgbClr val="F7F9F7"/>
          </a:solidFill>
          <a:ln w="9525">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50" b="0">
                <a:solidFill>
                  <a:srgbClr val="13251C"/>
                </a:solidFill>
                <a:latin typeface="Arial"/>
              </a:rPr>
              <a:t>ReportLab (PDF)</a:t>
            </a:r>
          </a:p>
        </p:txBody>
      </p:sp>
      <p:sp>
        <p:nvSpPr>
          <p:cNvPr id="17" name="Rounded Rectangle 16"/>
          <p:cNvSpPr/>
          <p:nvPr/>
        </p:nvSpPr>
        <p:spPr>
          <a:xfrm>
            <a:off x="6766560" y="3977639"/>
            <a:ext cx="4846320"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76 tests backend · 84 % de couverture</a:t>
            </a:r>
          </a:p>
        </p:txBody>
      </p:sp>
      <p:sp>
        <p:nvSpPr>
          <p:cNvPr id="18" name="Rounded Rectangle 17"/>
          <p:cNvSpPr/>
          <p:nvPr/>
        </p:nvSpPr>
        <p:spPr>
          <a:xfrm>
            <a:off x="6766560" y="4544568"/>
            <a:ext cx="4846320" cy="457200"/>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007A3D"/>
                </a:solidFill>
                <a:latin typeface="Arial"/>
              </a:rPr>
              <a:t>Smoke e2e 10/10 · CI verte sur 3 composants</a:t>
            </a:r>
          </a:p>
        </p:txBody>
      </p:sp>
      <p:sp>
        <p:nvSpPr>
          <p:cNvPr id="19" name="Rounded Rectangle 18"/>
          <p:cNvSpPr/>
          <p:nvPr/>
        </p:nvSpPr>
        <p:spPr>
          <a:xfrm>
            <a:off x="6766560" y="5111496"/>
            <a:ext cx="4846320" cy="457200"/>
          </a:xfrm>
          <a:prstGeom prst="roundRect">
            <a:avLst>
              <a:gd name="adj" fmla="val 50000"/>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000" b="1">
                <a:solidFill>
                  <a:srgbClr val="D95E00"/>
                </a:solidFill>
                <a:latin typeface="Arial"/>
              </a:rPr>
              <a:t>34 routes API · JWT + journal d'audit</a:t>
            </a:r>
          </a:p>
        </p:txBody>
      </p:sp>
      <p:sp>
        <p:nvSpPr>
          <p:cNvPr id="20" name="Rounded Rectangle 19"/>
          <p:cNvSpPr/>
          <p:nvPr/>
        </p:nvSpPr>
        <p:spPr>
          <a:xfrm>
            <a:off x="6766560" y="5806440"/>
            <a:ext cx="4846320" cy="658368"/>
          </a:xfrm>
          <a:prstGeom prst="roundRect">
            <a:avLst>
              <a:gd name="adj" fmla="val 16000"/>
            </a:avLst>
          </a:prstGeom>
          <a:solidFill>
            <a:srgbClr val="13251C"/>
          </a:solidFill>
          <a:ln>
            <a:no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150" b="1">
                <a:solidFill>
                  <a:srgbClr val="FFFFFF"/>
                </a:solidFill>
                <a:latin typeface="Arial"/>
              </a:rPr>
              <a:t>Déployable en une commande :  </a:t>
            </a:r>
            <a:r>
              <a:rPr sz="1150" b="1">
                <a:solidFill>
                  <a:srgbClr val="7BD9A2"/>
                </a:solidFill>
                <a:latin typeface="Arial"/>
              </a:rPr>
              <a:t>docker compose up</a:t>
            </a:r>
          </a:p>
        </p:txBody>
      </p:sp>
      <p:sp>
        <p:nvSpPr>
          <p:cNvPr id="21" name="Rectangle 20"/>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5" name="TextBox 24"/>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12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380"/>
                                        <p:tgtEl>
                                          <p:spTgt spid="24"/>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38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85216" y="310896"/>
            <a:ext cx="10515600" cy="274320"/>
          </a:xfrm>
          <a:prstGeom prst="rect">
            <a:avLst/>
          </a:prstGeom>
          <a:noFill/>
        </p:spPr>
        <p:txBody>
          <a:bodyPr wrap="square" anchor="t" lIns="0" rIns="0" tIns="0" bIns="0">
            <a:spAutoFit/>
          </a:bodyPr>
          <a:lstStyle/>
          <a:p>
            <a:pPr algn="l">
              <a:lnSpc>
                <a:spcPct val="100000"/>
              </a:lnSpc>
            </a:pPr>
            <a:r>
              <a:rPr sz="1000" b="1" i="0" spc="160">
                <a:solidFill>
                  <a:srgbClr val="007A3D"/>
                </a:solidFill>
                <a:latin typeface="Arial"/>
              </a:rPr>
              <a:t>AU-DELÀ DU HACKATHON</a:t>
            </a:r>
          </a:p>
        </p:txBody>
      </p:sp>
      <p:sp>
        <p:nvSpPr>
          <p:cNvPr id="3" name="TextBox 2"/>
          <p:cNvSpPr txBox="1"/>
          <p:nvPr/>
        </p:nvSpPr>
        <p:spPr>
          <a:xfrm>
            <a:off x="566928" y="566928"/>
            <a:ext cx="11064240" cy="685800"/>
          </a:xfrm>
          <a:prstGeom prst="rect">
            <a:avLst/>
          </a:prstGeom>
          <a:noFill/>
        </p:spPr>
        <p:txBody>
          <a:bodyPr wrap="square" anchor="t" lIns="0" rIns="0" tIns="0" bIns="0">
            <a:spAutoFit/>
          </a:bodyPr>
          <a:lstStyle/>
          <a:p>
            <a:pPr algn="l">
              <a:lnSpc>
                <a:spcPct val="100000"/>
              </a:lnSpc>
            </a:pPr>
            <a:r>
              <a:rPr sz="2600" b="1" i="0">
                <a:solidFill>
                  <a:srgbClr val="13251C"/>
                </a:solidFill>
                <a:latin typeface="Arial"/>
              </a:rPr>
              <a:t>Du pilote à l'échelle nationale</a:t>
            </a:r>
          </a:p>
        </p:txBody>
      </p:sp>
      <p:sp>
        <p:nvSpPr>
          <p:cNvPr id="4" name="Rectangle 3"/>
          <p:cNvSpPr/>
          <p:nvPr/>
        </p:nvSpPr>
        <p:spPr>
          <a:xfrm>
            <a:off x="868680" y="2331720"/>
            <a:ext cx="10469880" cy="32004"/>
          </a:xfrm>
          <a:prstGeom prst="rect">
            <a:avLst/>
          </a:prstGeom>
          <a:solidFill>
            <a:srgbClr val="E3E8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5" name="Rounded Rectangle 4"/>
          <p:cNvSpPr/>
          <p:nvPr/>
        </p:nvSpPr>
        <p:spPr>
          <a:xfrm>
            <a:off x="566928" y="1627632"/>
            <a:ext cx="2377440" cy="402336"/>
          </a:xfrm>
          <a:prstGeom prst="roundRect">
            <a:avLst>
              <a:gd name="adj" fmla="val 50000"/>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900" b="1">
                <a:solidFill>
                  <a:srgbClr val="007A3D"/>
                </a:solidFill>
                <a:latin typeface="Arial"/>
              </a:rPr>
              <a:t>Sept. 2026 · Ivoire Spacehack</a:t>
            </a:r>
          </a:p>
        </p:txBody>
      </p:sp>
      <p:sp>
        <p:nvSpPr>
          <p:cNvPr id="6" name="Oval 5"/>
          <p:cNvSpPr/>
          <p:nvPr/>
        </p:nvSpPr>
        <p:spPr>
          <a:xfrm>
            <a:off x="2180844" y="2244851"/>
            <a:ext cx="201168" cy="201168"/>
          </a:xfrm>
          <a:prstGeom prst="ellipse">
            <a:avLst/>
          </a:prstGeom>
          <a:solidFill>
            <a:srgbClr val="FF7A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7" name="Rounded Rectangle 6"/>
          <p:cNvSpPr/>
          <p:nvPr/>
        </p:nvSpPr>
        <p:spPr>
          <a:xfrm>
            <a:off x="566928"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804672" y="2962656"/>
            <a:ext cx="365760"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804672"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FF7A00"/>
                </a:solidFill>
                <a:latin typeface="Arial"/>
              </a:rPr>
              <a:t>FIN 2026</a:t>
            </a:r>
          </a:p>
        </p:txBody>
      </p:sp>
      <p:sp>
        <p:nvSpPr>
          <p:cNvPr id="10" name="TextBox 9"/>
          <p:cNvSpPr txBox="1"/>
          <p:nvPr/>
        </p:nvSpPr>
        <p:spPr>
          <a:xfrm>
            <a:off x="804672"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Pilote terrain</a:t>
            </a:r>
          </a:p>
        </p:txBody>
      </p:sp>
      <p:sp>
        <p:nvSpPr>
          <p:cNvPr id="11" name="TextBox 10"/>
          <p:cNvSpPr txBox="1"/>
          <p:nvPr/>
        </p:nvSpPr>
        <p:spPr>
          <a:xfrm>
            <a:off x="804672"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Une coopérative volontaire de la région du Cavally : relevés réels, feedback des agents, premières analyses satellite en production.</a:t>
            </a:r>
          </a:p>
        </p:txBody>
      </p:sp>
      <p:sp>
        <p:nvSpPr>
          <p:cNvPr id="12" name="Oval 11"/>
          <p:cNvSpPr/>
          <p:nvPr/>
        </p:nvSpPr>
        <p:spPr>
          <a:xfrm>
            <a:off x="5993892" y="2244851"/>
            <a:ext cx="201168" cy="201168"/>
          </a:xfrm>
          <a:prstGeom prst="ellipse">
            <a:avLst/>
          </a:prstGeom>
          <a:solidFill>
            <a:srgbClr val="00A651"/>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Rounded Rectangle 12"/>
          <p:cNvSpPr/>
          <p:nvPr/>
        </p:nvSpPr>
        <p:spPr>
          <a:xfrm>
            <a:off x="4379976"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Rectangle 13"/>
          <p:cNvSpPr/>
          <p:nvPr/>
        </p:nvSpPr>
        <p:spPr>
          <a:xfrm>
            <a:off x="4617720" y="2962656"/>
            <a:ext cx="365760"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4617720"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00A651"/>
                </a:solidFill>
                <a:latin typeface="Arial"/>
              </a:rPr>
              <a:t>2027</a:t>
            </a:r>
          </a:p>
        </p:txBody>
      </p:sp>
      <p:sp>
        <p:nvSpPr>
          <p:cNvPr id="16" name="TextBox 15"/>
          <p:cNvSpPr txBox="1"/>
          <p:nvPr/>
        </p:nvSpPr>
        <p:spPr>
          <a:xfrm>
            <a:off x="4617720"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Partenariat institutionnel</a:t>
            </a:r>
          </a:p>
        </p:txBody>
      </p:sp>
      <p:sp>
        <p:nvSpPr>
          <p:cNvPr id="17" name="TextBox 16"/>
          <p:cNvSpPr txBox="1"/>
          <p:nvPr/>
        </p:nvSpPr>
        <p:spPr>
          <a:xfrm>
            <a:off x="4617720"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Validation avec le Conseil du Café-Cacao en conditions réelles ; interconnexion avec les exportateurs.</a:t>
            </a:r>
          </a:p>
        </p:txBody>
      </p:sp>
      <p:sp>
        <p:nvSpPr>
          <p:cNvPr id="18" name="Oval 17"/>
          <p:cNvSpPr/>
          <p:nvPr/>
        </p:nvSpPr>
        <p:spPr>
          <a:xfrm>
            <a:off x="9806940" y="2244851"/>
            <a:ext cx="201168" cy="201168"/>
          </a:xfrm>
          <a:prstGeom prst="ellipse">
            <a:avLst/>
          </a:prstGeom>
          <a:solidFill>
            <a:srgbClr val="007A3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9" name="Rounded Rectangle 18"/>
          <p:cNvSpPr/>
          <p:nvPr/>
        </p:nvSpPr>
        <p:spPr>
          <a:xfrm>
            <a:off x="8193024" y="2743200"/>
            <a:ext cx="3429000" cy="2377440"/>
          </a:xfrm>
          <a:prstGeom prst="roundRect">
            <a:avLst>
              <a:gd name="adj" fmla="val 8500"/>
            </a:avLst>
          </a:prstGeom>
          <a:solidFill>
            <a:srgbClr val="FFFFFF"/>
          </a:solidFill>
          <a:ln w="9525">
            <a:solidFill>
              <a:srgbClr val="E3E8E4"/>
            </a:solidFill>
          </a:ln>
          <a:effectLst/>
          <a:effectLst>
            <a:outerShdw blurRad="91440" dist="41148" dir="5400000" rotWithShape="0">
              <a:srgbClr val="13251C">
                <a:alpha val="17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Rectangle 19"/>
          <p:cNvSpPr/>
          <p:nvPr/>
        </p:nvSpPr>
        <p:spPr>
          <a:xfrm>
            <a:off x="8430768" y="2962656"/>
            <a:ext cx="365760" cy="54864"/>
          </a:xfrm>
          <a:prstGeom prst="rect">
            <a:avLst/>
          </a:prstGeom>
          <a:solidFill>
            <a:srgbClr val="007A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TextBox 20"/>
          <p:cNvSpPr txBox="1"/>
          <p:nvPr/>
        </p:nvSpPr>
        <p:spPr>
          <a:xfrm>
            <a:off x="8430768" y="3108960"/>
            <a:ext cx="2971800" cy="274320"/>
          </a:xfrm>
          <a:prstGeom prst="rect">
            <a:avLst/>
          </a:prstGeom>
          <a:noFill/>
        </p:spPr>
        <p:txBody>
          <a:bodyPr wrap="square" anchor="t" lIns="0" rIns="0" tIns="0" bIns="0">
            <a:spAutoFit/>
          </a:bodyPr>
          <a:lstStyle/>
          <a:p>
            <a:pPr algn="l">
              <a:lnSpc>
                <a:spcPct val="100000"/>
              </a:lnSpc>
            </a:pPr>
            <a:r>
              <a:rPr sz="1050" b="1" i="0" spc="110">
                <a:solidFill>
                  <a:srgbClr val="007A3D"/>
                </a:solidFill>
                <a:latin typeface="Arial"/>
              </a:rPr>
              <a:t>2028+</a:t>
            </a:r>
          </a:p>
        </p:txBody>
      </p:sp>
      <p:sp>
        <p:nvSpPr>
          <p:cNvPr id="22" name="TextBox 21"/>
          <p:cNvSpPr txBox="1"/>
          <p:nvPr/>
        </p:nvSpPr>
        <p:spPr>
          <a:xfrm>
            <a:off x="8430768" y="3401568"/>
            <a:ext cx="2971800" cy="365760"/>
          </a:xfrm>
          <a:prstGeom prst="rect">
            <a:avLst/>
          </a:prstGeom>
          <a:noFill/>
        </p:spPr>
        <p:txBody>
          <a:bodyPr wrap="square" anchor="t" lIns="0" rIns="0" tIns="0" bIns="0">
            <a:spAutoFit/>
          </a:bodyPr>
          <a:lstStyle/>
          <a:p>
            <a:pPr algn="l">
              <a:lnSpc>
                <a:spcPct val="100000"/>
              </a:lnSpc>
            </a:pPr>
            <a:r>
              <a:rPr sz="1450" b="1" i="0">
                <a:solidFill>
                  <a:srgbClr val="13251C"/>
                </a:solidFill>
                <a:latin typeface="Arial"/>
              </a:rPr>
              <a:t>Échelle nationale</a:t>
            </a:r>
          </a:p>
        </p:txBody>
      </p:sp>
      <p:sp>
        <p:nvSpPr>
          <p:cNvPr id="23" name="TextBox 22"/>
          <p:cNvSpPr txBox="1"/>
          <p:nvPr/>
        </p:nvSpPr>
        <p:spPr>
          <a:xfrm>
            <a:off x="8430768" y="3840480"/>
            <a:ext cx="2971800" cy="1143000"/>
          </a:xfrm>
          <a:prstGeom prst="rect">
            <a:avLst/>
          </a:prstGeom>
          <a:noFill/>
        </p:spPr>
        <p:txBody>
          <a:bodyPr wrap="square" anchor="t" lIns="0" rIns="0" tIns="0" bIns="0">
            <a:spAutoFit/>
          </a:bodyPr>
          <a:lstStyle/>
          <a:p>
            <a:pPr algn="l">
              <a:lnSpc>
                <a:spcPct val="120000"/>
              </a:lnSpc>
            </a:pPr>
            <a:r>
              <a:rPr sz="1000" b="0" i="0">
                <a:solidFill>
                  <a:srgbClr val="3D4A43"/>
                </a:solidFill>
                <a:latin typeface="Arial"/>
              </a:rPr>
              <a:t>Déploiement progressif sur les principales zones de production ; base nationale de conformité.</a:t>
            </a:r>
          </a:p>
        </p:txBody>
      </p:sp>
      <p:sp>
        <p:nvSpPr>
          <p:cNvPr id="24" name="Rounded Rectangle 23"/>
          <p:cNvSpPr/>
          <p:nvPr/>
        </p:nvSpPr>
        <p:spPr>
          <a:xfrm>
            <a:off x="566928" y="5486400"/>
            <a:ext cx="11064240" cy="713232"/>
          </a:xfrm>
          <a:prstGeom prst="roundRect">
            <a:avLst>
              <a:gd name="adj" fmla="val 8500"/>
            </a:avLst>
          </a:prstGeom>
          <a:solidFill>
            <a:srgbClr val="F7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0000"/>
              </a:lnSpc>
            </a:pPr>
            <a:r>
              <a:rPr sz="1200" b="1">
                <a:solidFill>
                  <a:srgbClr val="13251C"/>
                </a:solidFill>
                <a:latin typeface="Arial"/>
              </a:rPr>
              <a:t>Objectif : faire de la conformité EUDR un avantage pour la filière ivoirienne, pas une barrière.</a:t>
            </a:r>
          </a:p>
        </p:txBody>
      </p:sp>
      <p:sp>
        <p:nvSpPr>
          <p:cNvPr id="25" name="Rectangle 24"/>
          <p:cNvSpPr/>
          <p:nvPr/>
        </p:nvSpPr>
        <p:spPr>
          <a:xfrm>
            <a:off x="566928" y="6583680"/>
            <a:ext cx="274320" cy="5943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6968" y="6583680"/>
            <a:ext cx="274320" cy="5943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7008" y="6583680"/>
            <a:ext cx="274320" cy="5943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2" y="6492240"/>
            <a:ext cx="8229600" cy="256032"/>
          </a:xfrm>
          <a:prstGeom prst="rect">
            <a:avLst/>
          </a:prstGeom>
          <a:noFill/>
        </p:spPr>
        <p:txBody>
          <a:bodyPr wrap="square" anchor="t" lIns="0" rIns="0" tIns="0" bIns="0">
            <a:spAutoFit/>
          </a:bodyPr>
          <a:lstStyle/>
          <a:p>
            <a:pPr algn="l">
              <a:lnSpc>
                <a:spcPct val="100000"/>
              </a:lnSpc>
            </a:pPr>
            <a:r>
              <a:rPr sz="850" b="0" i="0">
                <a:solidFill>
                  <a:srgbClr val="6B7A70"/>
                </a:solidFill>
                <a:latin typeface="Arial"/>
              </a:rPr>
              <a:t>CacaoSat · Ivoire Spacehack 2026 — Abidjan</a:t>
            </a:r>
          </a:p>
        </p:txBody>
      </p:sp>
      <p:sp>
        <p:nvSpPr>
          <p:cNvPr id="29" name="TextBox 28"/>
          <p:cNvSpPr txBox="1"/>
          <p:nvPr/>
        </p:nvSpPr>
        <p:spPr>
          <a:xfrm>
            <a:off x="10881360" y="6492240"/>
            <a:ext cx="777240" cy="256032"/>
          </a:xfrm>
          <a:prstGeom prst="rect">
            <a:avLst/>
          </a:prstGeom>
          <a:noFill/>
        </p:spPr>
        <p:txBody>
          <a:bodyPr wrap="square" anchor="t" lIns="0" rIns="0" tIns="0" bIns="0">
            <a:spAutoFit/>
          </a:bodyPr>
          <a:lstStyle/>
          <a:p>
            <a:pPr algn="r">
              <a:lnSpc>
                <a:spcPct val="100000"/>
              </a:lnSpc>
            </a:pPr>
            <a:r>
              <a:rPr sz="850" b="1" i="0">
                <a:solidFill>
                  <a:srgbClr val="6B7A70"/>
                </a:solidFill>
                <a:latin typeface="Arial"/>
              </a:rPr>
              <a:t>13 / 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par>
                                <p:cTn id="35" presetID="10" presetClass="entr" presetSubtype="0" fill="hold" grpId="0" nodeType="afterEffect">
                                  <p:stCondLst>
                                    <p:cond delay="1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80"/>
                                        <p:tgtEl>
                                          <p:spTgt spid="12"/>
                                        </p:tgtEl>
                                      </p:cBhvr>
                                    </p:animEffect>
                                  </p:childTnLst>
                                </p:cTn>
                              </p:par>
                              <p:par>
                                <p:cTn id="38" presetID="10" presetClass="entr" presetSubtype="0" fill="hold" grpId="0" nodeType="afterEffect">
                                  <p:stCondLst>
                                    <p:cond delay="13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80"/>
                                        <p:tgtEl>
                                          <p:spTgt spid="13"/>
                                        </p:tgtEl>
                                      </p:cBhvr>
                                    </p:animEffect>
                                  </p:childTnLst>
                                </p:cTn>
                              </p:par>
                              <p:par>
                                <p:cTn id="41" presetID="10" presetClass="entr" presetSubtype="0" fill="hold" grpId="0" nodeType="afterEffect">
                                  <p:stCondLst>
                                    <p:cond delay="13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80"/>
                                        <p:tgtEl>
                                          <p:spTgt spid="14"/>
                                        </p:tgtEl>
                                      </p:cBhvr>
                                    </p:animEffect>
                                  </p:childTnLst>
                                </p:cTn>
                              </p:par>
                              <p:par>
                                <p:cTn id="44" presetID="10" presetClass="entr" presetSubtype="0" fill="hold" grpId="0" nodeType="afterEffect">
                                  <p:stCondLst>
                                    <p:cond delay="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380"/>
                                        <p:tgtEl>
                                          <p:spTgt spid="15"/>
                                        </p:tgtEl>
                                      </p:cBhvr>
                                    </p:animEffect>
                                  </p:childTnLst>
                                </p:cTn>
                              </p:par>
                              <p:par>
                                <p:cTn id="47" presetID="10" presetClass="entr" presetSubtype="0" fill="hold" grpId="0" nodeType="afterEffect">
                                  <p:stCondLst>
                                    <p:cond delay="13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380"/>
                                        <p:tgtEl>
                                          <p:spTgt spid="16"/>
                                        </p:tgtEl>
                                      </p:cBhvr>
                                    </p:animEffect>
                                  </p:childTnLst>
                                </p:cTn>
                              </p:par>
                              <p:par>
                                <p:cTn id="50" presetID="10" presetClass="entr" presetSubtype="0" fill="hold" grpId="0" nodeType="afterEffect">
                                  <p:stCondLst>
                                    <p:cond delay="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380"/>
                                        <p:tgtEl>
                                          <p:spTgt spid="17"/>
                                        </p:tgtEl>
                                      </p:cBhvr>
                                    </p:animEffect>
                                  </p:childTnLst>
                                </p:cTn>
                              </p:par>
                              <p:par>
                                <p:cTn id="53" presetID="10" presetClass="entr" presetSubtype="0" fill="hold" grpId="0" nodeType="afterEffect">
                                  <p:stCondLst>
                                    <p:cond delay="13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80"/>
                                        <p:tgtEl>
                                          <p:spTgt spid="18"/>
                                        </p:tgtEl>
                                      </p:cBhvr>
                                    </p:animEffect>
                                  </p:childTnLst>
                                </p:cTn>
                              </p:par>
                              <p:par>
                                <p:cTn id="56" presetID="10" presetClass="entr" presetSubtype="0" fill="hold" grpId="0" nodeType="afterEffect">
                                  <p:stCondLst>
                                    <p:cond delay="1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380"/>
                                        <p:tgtEl>
                                          <p:spTgt spid="19"/>
                                        </p:tgtEl>
                                      </p:cBhvr>
                                    </p:animEffect>
                                  </p:childTnLst>
                                </p:cTn>
                              </p:par>
                              <p:par>
                                <p:cTn id="59" presetID="10" presetClass="entr" presetSubtype="0" fill="hold" grpId="0" nodeType="afterEffect">
                                  <p:stCondLst>
                                    <p:cond delay="1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380"/>
                                        <p:tgtEl>
                                          <p:spTgt spid="20"/>
                                        </p:tgtEl>
                                      </p:cBhvr>
                                    </p:animEffect>
                                  </p:childTnLst>
                                </p:cTn>
                              </p:par>
                              <p:par>
                                <p:cTn id="62" presetID="10" presetClass="entr" presetSubtype="0" fill="hold" grpId="0" nodeType="afterEffect">
                                  <p:stCondLst>
                                    <p:cond delay="1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380"/>
                                        <p:tgtEl>
                                          <p:spTgt spid="21"/>
                                        </p:tgtEl>
                                      </p:cBhvr>
                                    </p:animEffect>
                                  </p:childTnLst>
                                </p:cTn>
                              </p:par>
                              <p:par>
                                <p:cTn id="65" presetID="10" presetClass="entr" presetSubtype="0" fill="hold" grpId="0" nodeType="afterEffect">
                                  <p:stCondLst>
                                    <p:cond delay="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80"/>
                                        <p:tgtEl>
                                          <p:spTgt spid="22"/>
                                        </p:tgtEl>
                                      </p:cBhvr>
                                    </p:animEffect>
                                  </p:childTnLst>
                                </p:cTn>
                              </p:par>
                              <p:par>
                                <p:cTn id="68" presetID="10" presetClass="entr" presetSubtype="0" fill="hold" grpId="0" nodeType="afterEffect">
                                  <p:stCondLst>
                                    <p:cond delay="13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80"/>
                                        <p:tgtEl>
                                          <p:spTgt spid="23"/>
                                        </p:tgtEl>
                                      </p:cBhvr>
                                    </p:animEffect>
                                  </p:childTnLst>
                                </p:cTn>
                              </p:par>
                              <p:par>
                                <p:cTn id="71" presetID="10" presetClass="entr" presetSubtype="0" fill="hold" grpId="0" nodeType="afterEffect">
                                  <p:stCondLst>
                                    <p:cond delay="13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380"/>
                                        <p:tgtEl>
                                          <p:spTgt spid="24"/>
                                        </p:tgtEl>
                                      </p:cBhvr>
                                    </p:animEffect>
                                  </p:childTnLst>
                                </p:cTn>
                              </p:par>
                              <p:par>
                                <p:cTn id="74" presetID="10" presetClass="entr" presetSubtype="0" fill="hold" grpId="0" nodeType="afterEffect">
                                  <p:stCondLst>
                                    <p:cond delay="13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380"/>
                                        <p:tgtEl>
                                          <p:spTgt spid="28"/>
                                        </p:tgtEl>
                                      </p:cBhvr>
                                    </p:animEffect>
                                  </p:childTnLst>
                                </p:cTn>
                              </p:par>
                              <p:par>
                                <p:cTn id="77" presetID="10" presetClass="entr" presetSubtype="0" fill="hold" grpId="0" nodeType="afterEffect">
                                  <p:stCondLst>
                                    <p:cond delay="13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38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188720" y="-1371600"/>
            <a:ext cx="3291840" cy="3291840"/>
          </a:xfrm>
          <a:prstGeom prst="ellipse">
            <a:avLst/>
          </a:prstGeom>
          <a:solidFill>
            <a:srgbClr val="FF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Oval 2"/>
          <p:cNvSpPr/>
          <p:nvPr/>
        </p:nvSpPr>
        <p:spPr>
          <a:xfrm>
            <a:off x="10332720" y="5120640"/>
            <a:ext cx="2377440" cy="2377440"/>
          </a:xfrm>
          <a:prstGeom prst="ellipse">
            <a:avLst/>
          </a:prstGeom>
          <a:solidFill>
            <a:srgbClr val="E2F4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pic>
        <p:nvPicPr>
          <p:cNvPr id="4" name="Picture 3" descr="logo-cacaosat.png"/>
          <p:cNvPicPr>
            <a:picLocks noChangeAspect="1"/>
          </p:cNvPicPr>
          <p:nvPr/>
        </p:nvPicPr>
        <p:blipFill>
          <a:blip r:embed="rId2"/>
          <a:stretch>
            <a:fillRect/>
          </a:stretch>
        </p:blipFill>
        <p:spPr>
          <a:xfrm>
            <a:off x="5367528" y="685800"/>
            <a:ext cx="1463040" cy="1463040"/>
          </a:xfrm>
          <a:prstGeom prst="rect">
            <a:avLst/>
          </a:prstGeom>
        </p:spPr>
      </p:pic>
      <p:sp>
        <p:nvSpPr>
          <p:cNvPr id="5" name="TextBox 4"/>
          <p:cNvSpPr txBox="1"/>
          <p:nvPr/>
        </p:nvSpPr>
        <p:spPr>
          <a:xfrm>
            <a:off x="1097280" y="2606040"/>
            <a:ext cx="9994392" cy="1051560"/>
          </a:xfrm>
          <a:prstGeom prst="rect">
            <a:avLst/>
          </a:prstGeom>
          <a:noFill/>
        </p:spPr>
        <p:txBody>
          <a:bodyPr wrap="square" anchor="t" lIns="0" rIns="0" tIns="0" bIns="0">
            <a:spAutoFit/>
          </a:bodyPr>
          <a:lstStyle/>
          <a:p>
            <a:pPr algn="ctr">
              <a:lnSpc>
                <a:spcPct val="105000"/>
              </a:lnSpc>
            </a:pPr>
            <a:r>
              <a:rPr sz="3000" b="1" i="0">
                <a:solidFill>
                  <a:srgbClr val="13251C"/>
                </a:solidFill>
                <a:latin typeface="Arial"/>
              </a:rPr>
              <a:t>Le spatial, entre les mains de la jeunesse ivoirienne.</a:t>
            </a:r>
          </a:p>
        </p:txBody>
      </p:sp>
      <p:sp>
        <p:nvSpPr>
          <p:cNvPr id="6" name="TextBox 5"/>
          <p:cNvSpPr txBox="1"/>
          <p:nvPr/>
        </p:nvSpPr>
        <p:spPr>
          <a:xfrm>
            <a:off x="2011680" y="3749039"/>
            <a:ext cx="8165592" cy="594360"/>
          </a:xfrm>
          <a:prstGeom prst="rect">
            <a:avLst/>
          </a:prstGeom>
          <a:noFill/>
        </p:spPr>
        <p:txBody>
          <a:bodyPr wrap="square" anchor="t" lIns="0" rIns="0" tIns="0" bIns="0">
            <a:spAutoFit/>
          </a:bodyPr>
          <a:lstStyle/>
          <a:p>
            <a:pPr algn="ctr">
              <a:lnSpc>
                <a:spcPct val="115000"/>
              </a:lnSpc>
            </a:pPr>
            <a:r>
              <a:rPr sz="1350" b="0" i="0">
                <a:solidFill>
                  <a:srgbClr val="3D4A43"/>
                </a:solidFill>
                <a:latin typeface="Arial"/>
              </a:rPr>
              <a:t>CacaoSat répond à une exigence déjà en vigueur, qui touche des millions de foyers.</a:t>
            </a:r>
          </a:p>
        </p:txBody>
      </p:sp>
      <p:sp>
        <p:nvSpPr>
          <p:cNvPr id="7" name="Rectangle 6"/>
          <p:cNvSpPr/>
          <p:nvPr/>
        </p:nvSpPr>
        <p:spPr>
          <a:xfrm>
            <a:off x="5367528" y="4553712"/>
            <a:ext cx="713232" cy="5486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Rectangle 7"/>
          <p:cNvSpPr/>
          <p:nvPr/>
        </p:nvSpPr>
        <p:spPr>
          <a:xfrm>
            <a:off x="6080760" y="4553712"/>
            <a:ext cx="713232" cy="54864"/>
          </a:xfrm>
          <a:prstGeom prst="rect">
            <a:avLst/>
          </a:prstGeom>
          <a:solidFill>
            <a:srgbClr val="ECEF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Rectangle 8"/>
          <p:cNvSpPr/>
          <p:nvPr/>
        </p:nvSpPr>
        <p:spPr>
          <a:xfrm>
            <a:off x="6793992" y="4553712"/>
            <a:ext cx="713232" cy="54864"/>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0" name="TextBox 9"/>
          <p:cNvSpPr txBox="1"/>
          <p:nvPr/>
        </p:nvSpPr>
        <p:spPr>
          <a:xfrm>
            <a:off x="1097280" y="4892040"/>
            <a:ext cx="9994392" cy="320040"/>
          </a:xfrm>
          <a:prstGeom prst="rect">
            <a:avLst/>
          </a:prstGeom>
          <a:noFill/>
        </p:spPr>
        <p:txBody>
          <a:bodyPr wrap="square" anchor="t" lIns="0" rIns="0" tIns="0" bIns="0">
            <a:spAutoFit/>
          </a:bodyPr>
          <a:lstStyle/>
          <a:p>
            <a:pPr algn="ctr">
              <a:lnSpc>
                <a:spcPct val="100000"/>
              </a:lnSpc>
            </a:pPr>
            <a:r>
              <a:rPr sz="1300" b="1" i="0">
                <a:solidFill>
                  <a:srgbClr val="007A3D"/>
                </a:solidFill>
                <a:latin typeface="Arial"/>
              </a:rPr>
              <a:t>github.com/daniel10027/CacaoSat</a:t>
            </a:r>
          </a:p>
        </p:txBody>
      </p:sp>
      <p:sp>
        <p:nvSpPr>
          <p:cNvPr id="11" name="TextBox 10"/>
          <p:cNvSpPr txBox="1"/>
          <p:nvPr/>
        </p:nvSpPr>
        <p:spPr>
          <a:xfrm>
            <a:off x="1097280" y="5285232"/>
            <a:ext cx="9994392" cy="274320"/>
          </a:xfrm>
          <a:prstGeom prst="rect">
            <a:avLst/>
          </a:prstGeom>
          <a:noFill/>
        </p:spPr>
        <p:txBody>
          <a:bodyPr wrap="square" anchor="t" lIns="0" rIns="0" tIns="0" bIns="0">
            <a:spAutoFit/>
          </a:bodyPr>
          <a:lstStyle/>
          <a:p>
            <a:pPr algn="ctr">
              <a:lnSpc>
                <a:spcPct val="100000"/>
              </a:lnSpc>
            </a:pPr>
            <a:r>
              <a:rPr sz="1050" b="0" i="0">
                <a:solidFill>
                  <a:srgbClr val="6B7A70"/>
                </a:solidFill>
                <a:latin typeface="Arial"/>
              </a:rPr>
              <a:t>Akandji Timothé · Elie Konan · Daniel Guedegbe — Ivoire Spacehack 2026</a:t>
            </a:r>
          </a:p>
        </p:txBody>
      </p:sp>
      <p:sp>
        <p:nvSpPr>
          <p:cNvPr id="12" name="Rectangle 11"/>
          <p:cNvSpPr/>
          <p:nvPr/>
        </p:nvSpPr>
        <p:spPr>
          <a:xfrm>
            <a:off x="0" y="6775704"/>
            <a:ext cx="4063898" cy="82296"/>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63898" y="6775704"/>
            <a:ext cx="4063898" cy="82296"/>
          </a:xfrm>
          <a:prstGeom prst="rect">
            <a:avLst/>
          </a:prstGeom>
          <a:solidFill>
            <a:srgbClr val="ECEFEA"/>
          </a:solidFill>
          <a:ln w="6350">
            <a:solidFill>
              <a:srgbClr val="E3E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7796" y="6775704"/>
            <a:ext cx="4063898" cy="82296"/>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80"/>
                                        <p:tgtEl>
                                          <p:spTgt spid="2"/>
                                        </p:tgtEl>
                                      </p:cBhvr>
                                    </p:animEffect>
                                  </p:childTnLst>
                                </p:cTn>
                              </p:par>
                              <p:par>
                                <p:cTn id="8" presetID="10" presetClass="entr" presetSubtype="0" fill="hold" grpId="0" nodeType="afterEffect">
                                  <p:stCondLst>
                                    <p:cond delay="13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80"/>
                                        <p:tgtEl>
                                          <p:spTgt spid="3"/>
                                        </p:tgtEl>
                                      </p:cBhvr>
                                    </p:animEffect>
                                  </p:childTnLst>
                                </p:cTn>
                              </p:par>
                              <p:par>
                                <p:cTn id="11" presetID="10" presetClass="entr" presetSubtype="0" fill="hold" grpId="0" nodeType="afterEffect">
                                  <p:stCondLst>
                                    <p:cond delay="13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80"/>
                                        <p:tgtEl>
                                          <p:spTgt spid="4"/>
                                        </p:tgtEl>
                                      </p:cBhvr>
                                    </p:animEffect>
                                  </p:childTnLst>
                                </p:cTn>
                              </p:par>
                              <p:par>
                                <p:cTn id="14" presetID="10" presetClass="entr" presetSubtype="0" fill="hold" grpId="0" nodeType="afterEffect">
                                  <p:stCondLst>
                                    <p:cond delay="13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80"/>
                                        <p:tgtEl>
                                          <p:spTgt spid="5"/>
                                        </p:tgtEl>
                                      </p:cBhvr>
                                    </p:animEffect>
                                  </p:childTnLst>
                                </p:cTn>
                              </p:par>
                              <p:par>
                                <p:cTn id="17" presetID="10" presetClass="entr" presetSubtype="0" fill="hold" grpId="0" nodeType="afterEffect">
                                  <p:stCondLst>
                                    <p:cond delay="13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80"/>
                                        <p:tgtEl>
                                          <p:spTgt spid="6"/>
                                        </p:tgtEl>
                                      </p:cBhvr>
                                    </p:animEffect>
                                  </p:childTnLst>
                                </p:cTn>
                              </p:par>
                              <p:par>
                                <p:cTn id="20" presetID="10" presetClass="entr" presetSubtype="0" fill="hold" grpId="0" nodeType="afterEffect">
                                  <p:stCondLst>
                                    <p:cond delay="13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80"/>
                                        <p:tgtEl>
                                          <p:spTgt spid="7"/>
                                        </p:tgtEl>
                                      </p:cBhvr>
                                    </p:animEffect>
                                  </p:childTnLst>
                                </p:cTn>
                              </p:par>
                              <p:par>
                                <p:cTn id="23" presetID="10" presetClass="entr" presetSubtype="0" fill="hold" grpId="0" nodeType="afterEffect">
                                  <p:stCondLst>
                                    <p:cond delay="13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380"/>
                                        <p:tgtEl>
                                          <p:spTgt spid="8"/>
                                        </p:tgtEl>
                                      </p:cBhvr>
                                    </p:animEffect>
                                  </p:childTnLst>
                                </p:cTn>
                              </p:par>
                              <p:par>
                                <p:cTn id="26" presetID="10" presetClass="entr" presetSubtype="0" fill="hold" grpId="0" nodeType="afterEffect">
                                  <p:stCondLst>
                                    <p:cond delay="13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80"/>
                                        <p:tgtEl>
                                          <p:spTgt spid="9"/>
                                        </p:tgtEl>
                                      </p:cBhvr>
                                    </p:animEffect>
                                  </p:childTnLst>
                                </p:cTn>
                              </p:par>
                              <p:par>
                                <p:cTn id="29" presetID="10" presetClass="entr" presetSubtype="0" fill="hold" grpId="0" nodeType="afterEffect">
                                  <p:stCondLst>
                                    <p:cond delay="13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80"/>
                                        <p:tgtEl>
                                          <p:spTgt spid="10"/>
                                        </p:tgtEl>
                                      </p:cBhvr>
                                    </p:animEffect>
                                  </p:childTnLst>
                                </p:cTn>
                              </p:par>
                              <p:par>
                                <p:cTn id="32" presetID="10" presetClass="entr" presetSubtype="0" fill="hold" grpId="0" nodeType="afterEffect">
                                  <p:stCondLst>
                                    <p:cond delay="1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8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CacaoSat — Pitch Ivoire Spacehack 2026</dc:title>
  <dc:subject>Traçabilité géospatiale du cacao ivoirien (EUDR)</dc:subject>
  <dc:creator>Équipe CacaoSat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